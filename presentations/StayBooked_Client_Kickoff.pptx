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Testing &amp; calibration</c:v>
                </c:pt>
              </c:strCache>
            </c:strRef>
          </c:tx>
          <c:spPr>
            <a:solidFill>
              <a:srgbClr val="D2703C"/>
            </a:solidFill>
            <a:effectLst/>
          </c:spPr>
          <c:invertIfNegative val="0"/>
          <c:dLbls>
            <c:numFmt formatCode="#,##0"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showLeaderLines val="0"/>
          </c:dLbls>
          <c:cat>
            <c:multiLvlStrRef>
              <c:f>Sheet1!$A$2:$A$7</c:f>
              <c:multiLvlStrCache>
                <c:ptCount val="6"/>
                <c:lvl>
                  <c:pt idx="0">
                    <c:v>Month 1</c:v>
                  </c:pt>
                  <c:pt idx="1">
                    <c:v>Month 2</c:v>
                  </c:pt>
                  <c:pt idx="2">
                    <c:v>Month 3</c:v>
                  </c:pt>
                  <c:pt idx="3">
                    <c:v>Month 4</c:v>
                  </c:pt>
                  <c:pt idx="4">
                    <c:v>Month 5</c:v>
                  </c:pt>
                  <c:pt idx="5">
                    <c:v>Month 6</c:v>
                  </c:pt>
                </c:lvl>
              </c:multiLvlStrCache>
            </c:multiLvlStrRef>
          </c:cat>
          <c:val>
            <c:numRef>
              <c:f>Sheet1!$B$2:$B$7</c:f>
              <c:numCache>
                <c:formatCode>General</c:formatCode>
                <c:ptCount val="6"/>
                <c:pt idx="0">
                  <c:v>1</c:v>
                </c:pt>
                <c:pt idx="1">
                  <c:v>1.5</c:v>
                </c:pt>
                <c:pt idx="2">
                  <c:v>0</c:v>
                </c:pt>
                <c:pt idx="3">
                  <c:v>0</c:v>
                </c:pt>
                <c:pt idx="4">
                  <c:v>0</c:v>
                </c:pt>
                <c:pt idx="5">
                  <c:v>0</c:v>
                </c:pt>
              </c:numCache>
            </c:numRef>
          </c:val>
        </c:ser>
        <c:ser>
          <c:idx val="1"/>
          <c:order val="1"/>
          <c:tx>
            <c:strRef>
              <c:f>Sheet1!$C$1</c:f>
              <c:strCache>
                <c:ptCount val="1"/>
                <c:pt idx="0">
                  <c:v>Scaling what works</c:v>
                </c:pt>
              </c:strCache>
            </c:strRef>
          </c:tx>
          <c:spPr>
            <a:solidFill>
              <a:srgbClr val="00A093"/>
            </a:solidFill>
            <a:effectLst/>
          </c:spPr>
          <c:invertIfNegative val="0"/>
          <c:dLbls>
            <c:numFmt formatCode="#,##0"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showLeaderLines val="0"/>
          </c:dLbls>
          <c:cat>
            <c:multiLvlStrRef>
              <c:f>Sheet1!$A$2:$A$7</c:f>
              <c:multiLvlStrCache>
                <c:ptCount val="6"/>
                <c:lvl>
                  <c:pt idx="0">
                    <c:v>Month 1</c:v>
                  </c:pt>
                  <c:pt idx="1">
                    <c:v>Month 2</c:v>
                  </c:pt>
                  <c:pt idx="2">
                    <c:v>Month 3</c:v>
                  </c:pt>
                  <c:pt idx="3">
                    <c:v>Month 4</c:v>
                  </c:pt>
                  <c:pt idx="4">
                    <c:v>Month 5</c:v>
                  </c:pt>
                  <c:pt idx="5">
                    <c:v>Month 6</c:v>
                  </c:pt>
                </c:lvl>
              </c:multiLvlStrCache>
            </c:multiLvlStrRef>
          </c:cat>
          <c:val>
            <c:numRef>
              <c:f>Sheet1!$C$2:$C$7</c:f>
              <c:numCache>
                <c:formatCode>General</c:formatCode>
                <c:ptCount val="6"/>
                <c:pt idx="0">
                  <c:v>0</c:v>
                </c:pt>
                <c:pt idx="1">
                  <c:v>0</c:v>
                </c:pt>
                <c:pt idx="2">
                  <c:v>2.6</c:v>
                </c:pt>
                <c:pt idx="3">
                  <c:v>3.8</c:v>
                </c:pt>
                <c:pt idx="4">
                  <c:v>4.9</c:v>
                </c:pt>
                <c:pt idx="5">
                  <c:v>5.8</c:v>
                </c:pt>
              </c:numCache>
            </c:numRef>
          </c:val>
        </c:ser>
        <c:dLbls>
          <c:numFmt formatCode="#,##0"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showLeaderLines val="0"/>
        </c:dLbls>
        <c:gapWidth val="9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6E6656"/>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6E6656"/>
                </a:solidFill>
                <a:latin typeface="Calibri"/>
              </a:defRPr>
            </a:pPr>
            <a:endParaRPr lang="en-US"/>
          </a:p>
        </c:txPr>
        <c:crossAx val="2094734554"/>
        <c:crosses val="autoZero"/>
        <c:crossBetween val="between"/>
      </c:valAx>
      <c:spPr>
        <a:solidFill>
          <a:srgbClr val="FBFAF6"/>
        </a:solidFill>
        <a:ln w="12700" cap="flat">
          <a:solidFill>
            <a:srgbClr val="FBFAF6"/>
          </a:solidFill>
        </a:ln>
        <a:effectLst/>
      </c:spPr>
    </c:plotArea>
    <c:legend>
      <c:legendPos val="b"/>
      <c:overlay val="0"/>
      <c:txPr>
        <a:bodyPr/>
        <a:lstStyle/>
        <a:p>
          <a:pPr>
            <a:defRPr sz="1150">
              <a:solidFill>
                <a:srgbClr val="3A3A3A"/>
              </a:solidFill>
              <a:latin typeface="Calibri"/>
              <a:cs typeface="Calibri"/>
            </a:defRPr>
          </a:pPr>
          <a:endParaRPr lang="en-US"/>
        </a:p>
      </c:txPr>
    </c:legend>
    <c:plotVisOnly val="1"/>
    <c:dispBlanksAs val="span"/>
  </c:chart>
  <c:spPr>
    <a:solidFill>
      <a:srgbClr val="FBFAF6"/>
    </a:solidFill>
    <a:ln w="12700" cap="flat">
      <a:solidFill>
        <a:srgbClr val="FBFAF6"/>
      </a:solid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Cumulative investment</c:v>
                </c:pt>
              </c:strCache>
            </c:strRef>
          </c:tx>
          <c:spPr>
            <a:solidFill>
              <a:srgbClr val="D2703C"/>
            </a:solidFill>
            <a:effectLst/>
          </c:spPr>
          <c:invertIfNegative val="0"/>
          <c:dLbls>
            <c:numFmt formatCode="&quot;$&quot;#,##0" sourceLinked="0"/>
            <c:txPr>
              <a:bodyPr/>
              <a:lstStyle/>
              <a:p>
                <a:pPr>
                  <a:defRPr b="1" i="0" strike="noStrike" sz="1300" u="none">
                    <a:solidFill>
                      <a:srgbClr val="3A3A3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After month 1</c:v>
                  </c:pt>
                  <c:pt idx="1">
                    <c:v>After month 2</c:v>
                  </c:pt>
                  <c:pt idx="2">
                    <c:v>After month 3</c:v>
                  </c:pt>
                </c:lvl>
              </c:multiLvlStrCache>
            </c:multiLvlStrRef>
          </c:cat>
          <c:val>
            <c:numRef>
              <c:f>Sheet1!$B$2:$B$4</c:f>
              <c:numCache>
                <c:formatCode>General</c:formatCode>
                <c:ptCount val="3"/>
                <c:pt idx="0">
                  <c:v>3500</c:v>
                </c:pt>
                <c:pt idx="1">
                  <c:v>7000</c:v>
                </c:pt>
                <c:pt idx="2">
                  <c:v>10500</c:v>
                </c:pt>
              </c:numCache>
            </c:numRef>
          </c:val>
        </c:ser>
        <c:dLbls>
          <c:numFmt formatCode="&quot;$&quot;#,##0" sourceLinked="0"/>
          <c:txPr>
            <a:bodyPr/>
            <a:lstStyle/>
            <a:p>
              <a:pPr>
                <a:defRPr b="1" i="0" strike="noStrike" sz="1300" u="none">
                  <a:solidFill>
                    <a:srgbClr val="3A3A3A"/>
                  </a:solidFill>
                  <a:latin typeface="Calibri"/>
                </a:defRPr>
              </a:pPr>
            </a:p>
          </c:txPr>
          <c:showLegendKey val="0"/>
          <c:showVal val="1"/>
          <c:showCatName val="0"/>
          <c:showSerName val="0"/>
          <c:showPercent val="0"/>
          <c:showBubbleSize val="0"/>
          <c:showLeaderLines val="0"/>
        </c:dLbls>
        <c:gapWidth val="13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6E6656"/>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6E6656"/>
                </a:solidFill>
                <a:latin typeface="Calibri"/>
              </a:defRPr>
            </a:pPr>
            <a:endParaRPr lang="en-US"/>
          </a:p>
        </c:txPr>
        <c:crossAx val="2094734554"/>
        <c:crosses val="autoZero"/>
        <c:crossBetween val="between"/>
      </c:valAx>
      <c:spPr>
        <a:solidFill>
          <a:srgbClr val="FBFAF6"/>
        </a:solidFill>
        <a:ln w="12700" cap="flat">
          <a:solidFill>
            <a:srgbClr val="FBFAF6"/>
          </a:solidFill>
        </a:ln>
        <a:effectLst/>
      </c:spPr>
    </c:plotArea>
    <c:plotVisOnly val="1"/>
    <c:dispBlanksAs val="span"/>
  </c:chart>
  <c:spPr>
    <a:solidFill>
      <a:srgbClr val="FBFAF6"/>
    </a:solidFill>
    <a:ln w="12700" cap="flat">
      <a:solidFill>
        <a:srgbClr val="FBFAF6"/>
      </a:solid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warm and short. Frame the running order out loud: we start with the numbers and the guarantee, then how we work together week to week, then the compliance paperwork. Fill in the practice name and date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order out loud and why: money first because it is what they care about most, operations second so they can picture the week-to-week, compliance last so it lands as reassurance rather than a hurdle. Write the presenter names into the LED BY blanks before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promise of what is coming — do not explain any single number in depth here, just let them see the whole shape of the deal at once. If they interrupt with a question about one of them, tell them which section covers it and keep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section they are really here for, so lead with it while attention is highest. Be direct about numbers and be honest about the ramp — credibility here buys patience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structure precisely: 15 qualified leads guaranteed across the first 90 days only. There is no month-by-month checkpoint — do not let them leave thinking it is 5 a month. If 15 isn't hit by day 90, the retainer pauses until it is. Ad spend is not refundable. After the first 90 days and once the 15-lead threshold is hit, there is no ongoing monthly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all five out loud and pause. This is the single most common place expectations break down later. In the service area, matches accepted insurance or private pay, full form completed with real contact info, actively seeking care, and has responded to at least one AI follow-up call or text. Invite them to push back now if any of the five sounds wrong for their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client responsibilities that protect the guarantee: fast approvals, no pausing campaigns, timely follow-up. Then say the last line plainly and do not soften it — the guarantee covers lead delivery, not conversion into booked patients. Saying it now is what makes it survivable in month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out loud that the chart is the shape, not a promise of specific numbers. It is genuine trial and error at the start — it can take a few weeks or even a couple of months to find the winning combination for that specific area. Once the right formula is found using AI analytics, pixel data, and testing, we make more of what works and results usually take off. Months three through six is typically where the bigger numbers show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campaigns are custom-built and tested per practice, not copy-pasted. Just because something worked for a past client doesn't mean it gets reused as-is. Every client's campaign is treated as its own project, built and tested specifically for their area and their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$1,500 a month as the real ad spend baseline — that is the number to anchor on. $2,000+ is the ideal tier and worth mentioning as where results accelerate. $1,000 exists only as a last-resort minimum if the client truly needs it; do not raise it and do not dwell on anything below $1,500. Point at the bar: the left block never touches Stay Booked — the client connects their own card to Facebook or Google and is billed by the platform directly. Emphasize the no startup fee.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makes the guarantee feel concrete. Three months at $3,500 is $10,500 all in, and the guarantee is 15 qualified leads, so $700 is the most a guaranteed lead can cost — and only if we deliver exactly 15. Be careful not to promise a cost per booked patient; this is cost per qualified lead as defined earlier. Close the slide by locking the billing start date, the invoicing method, and the go-live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plan if leads underperform: adjust targeting, swap creative, test new offers. The point of this slide is reassurance — there is an active process, not just waiting and hoping. Tie it forward to the weekly meeting, which is the next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Shift tone here — the first section was numbers, this one is the working relationship. Ask more than you tell: much of this section is questions for the practice about their intake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 the weekly meeting and get a day and time on the calendar before leaving this slide. Confirm the communication channel for questions between meetings — client's choice, but recommend text as the default. Assign a single point of contact on both sides: Jordan Vo and Jordan Niles are the points of contact on our end. Get a name from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handoff: leads get an automatic AI call and text follow-up within 5 minutes of coming in, then the client's staff picks up the relationship from there. Then stop talking and ask the three questions — their current booking or intake process, how fast staff can follow up, and how they want leads delivered. Write the answers down; they change how we configure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Gauge interest in a testimonial or case study once results come in — ask, don't push. Then ask about past bad experiences with other agencies so those mistakes aren't repeated. This second question usually produces the most useful information in the whole meeting. Let them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last. By now they trust the numbers and the process, so this section lands as reassurance rather than a hurdle. Slow down and be precise — this is a psychiatric practice and the bar is higher.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what insurance the practice accepts and their service area. Then explain how both feed into what counts as a qualifying lead — link it back to the five criteria from part one. Get the carrier list and the service-area boundary confirmed in writing; do not build campaigns off a verbal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what can and cannot be asked on lead forms: forms only collect what's needed, like name and phone number. No questions about symptoms, sicknesses, or treatments. Every form includes a link to the Privacy Policy and a permission checkbox for calls or texts, including AI contact. Then explain how patient data is handled end to end: no patient lists or health info are ever uploaded into Facebook or Google ads. Signed permission records are kept and never deleted, and if someone opts out, contact stops immediately and permanently. Reconfirm HIPAA handling expectations out loud, since this is a psychiatric practice — say the words and let them respond.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Business Associate Agreement and what it covers. Be clear: no work begins on any leads until the BAA is signed. Stay Booked also keeps its own signed BAAs with every tool that touches patient info, like GoHighLevel. Then confirm the client has reviewed and signed the Terms of Service. Handle any questions here rather than after billing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reading the six action items out loud and assigning an owner and a date to each one before anyone leaves the call. Thank them, and confirm the weekly meeting slot is actually on both calendars before hanging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1.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4"/>
        </a:solidFill>
      </p:bgPr>
    </p:bg>
    <p:spTree>
      <p:nvGrpSpPr>
        <p:cNvPr id="1" name=""/>
        <p:cNvGrpSpPr/>
        <p:nvPr/>
      </p:nvGrpSpPr>
      <p:grpSpPr>
        <a:xfrm>
          <a:off x="0" y="0"/>
          <a:ext cx="0" cy="0"/>
          <a:chOff x="0" y="0"/>
          <a:chExt cx="0" cy="0"/>
        </a:xfrm>
      </p:grpSpPr>
      <p:sp>
        <p:nvSpPr>
          <p:cNvPr id="2" name="Shape 0"/>
          <p:cNvSpPr/>
          <p:nvPr/>
        </p:nvSpPr>
        <p:spPr>
          <a:xfrm>
            <a:off x="7818120" y="868680"/>
            <a:ext cx="5120640" cy="5120640"/>
          </a:xfrm>
          <a:prstGeom prst="ellipse">
            <a:avLst/>
          </a:prstGeom>
          <a:ln w="12700">
            <a:solidFill>
              <a:srgbClr val="3B342B"/>
            </a:solidFill>
            <a:prstDash val="solid"/>
          </a:ln>
        </p:spPr>
      </p:sp>
      <p:sp>
        <p:nvSpPr>
          <p:cNvPr id="3" name="Shape 1"/>
          <p:cNvSpPr/>
          <p:nvPr/>
        </p:nvSpPr>
        <p:spPr>
          <a:xfrm>
            <a:off x="9098280" y="2148840"/>
            <a:ext cx="2560320" cy="2560320"/>
          </a:xfrm>
          <a:prstGeom prst="ellipse">
            <a:avLst/>
          </a:prstGeom>
          <a:solidFill>
            <a:srgbClr val="201E1A"/>
          </a:solidFill>
          <a:ln w="12700">
            <a:solidFill>
              <a:srgbClr val="463D31"/>
            </a:solidFill>
            <a:prstDash val="solid"/>
          </a:ln>
        </p:spPr>
      </p:sp>
      <p:sp>
        <p:nvSpPr>
          <p:cNvPr id="4" name="Shape 2"/>
          <p:cNvSpPr/>
          <p:nvPr/>
        </p:nvSpPr>
        <p:spPr>
          <a:xfrm>
            <a:off x="10927080" y="5138928"/>
            <a:ext cx="310896" cy="310896"/>
          </a:xfrm>
          <a:prstGeom prst="ellipse">
            <a:avLst/>
          </a:prstGeom>
          <a:solidFill>
            <a:srgbClr val="CFB48E"/>
          </a:solidFill>
          <a:ln/>
        </p:spPr>
      </p:sp>
      <p:pic>
        <p:nvPicPr>
          <p:cNvPr id="5" name="Image 0" descr="assets/logo_cream.png">    </p:cNvPr>
          <p:cNvPicPr>
            <a:picLocks noChangeAspect="1"/>
          </p:cNvPicPr>
          <p:nvPr/>
        </p:nvPicPr>
        <p:blipFill>
          <a:blip r:embed="rId1"/>
          <a:stretch>
            <a:fillRect/>
          </a:stretch>
        </p:blipFill>
        <p:spPr>
          <a:xfrm>
            <a:off x="9601200" y="3218688"/>
            <a:ext cx="1554480" cy="494690"/>
          </a:xfrm>
          <a:prstGeom prst="rect">
            <a:avLst/>
          </a:prstGeom>
        </p:spPr>
      </p:pic>
      <p:pic>
        <p:nvPicPr>
          <p:cNvPr id="6" name="Image 1" descr="assets/logo_cream.png">    </p:cNvPr>
          <p:cNvPicPr>
            <a:picLocks noChangeAspect="1"/>
          </p:cNvPicPr>
          <p:nvPr/>
        </p:nvPicPr>
        <p:blipFill>
          <a:blip r:embed="rId2"/>
          <a:stretch>
            <a:fillRect/>
          </a:stretch>
        </p:blipFill>
        <p:spPr>
          <a:xfrm>
            <a:off x="685800" y="566928"/>
            <a:ext cx="1371600" cy="437083"/>
          </a:xfrm>
          <a:prstGeom prst="rect">
            <a:avLst/>
          </a:prstGeom>
        </p:spPr>
      </p:pic>
      <p:sp>
        <p:nvSpPr>
          <p:cNvPr id="7" name="Text 3"/>
          <p:cNvSpPr/>
          <p:nvPr/>
        </p:nvSpPr>
        <p:spPr>
          <a:xfrm>
            <a:off x="685800" y="2212848"/>
            <a:ext cx="6949440" cy="274320"/>
          </a:xfrm>
          <a:prstGeom prst="rect">
            <a:avLst/>
          </a:prstGeom>
          <a:noFill/>
          <a:ln/>
        </p:spPr>
        <p:txBody>
          <a:bodyPr wrap="square" lIns="0" tIns="0" rIns="0" bIns="0" rtlCol="0" anchor="ctr"/>
          <a:lstStyle/>
          <a:p>
            <a:pPr indent="0" marL="0">
              <a:buNone/>
            </a:pPr>
            <a:r>
              <a:rPr lang="en-US" sz="1150" b="1" spc="340" kern="0" dirty="0">
                <a:solidFill>
                  <a:srgbClr val="CFB48E"/>
                </a:solidFill>
                <a:latin typeface="Calibri" pitchFamily="34" charset="0"/>
                <a:ea typeface="Calibri" pitchFamily="34" charset="-122"/>
                <a:cs typeface="Calibri" pitchFamily="34" charset="-120"/>
              </a:rPr>
              <a:t>CLIENT KICKOFF MEETING</a:t>
            </a:r>
            <a:endParaRPr lang="en-US" sz="1150" dirty="0"/>
          </a:p>
        </p:txBody>
      </p:sp>
      <p:sp>
        <p:nvSpPr>
          <p:cNvPr id="8" name="Text 4"/>
          <p:cNvSpPr/>
          <p:nvPr/>
        </p:nvSpPr>
        <p:spPr>
          <a:xfrm>
            <a:off x="685800" y="2578608"/>
            <a:ext cx="7132320" cy="896112"/>
          </a:xfrm>
          <a:prstGeom prst="rect">
            <a:avLst/>
          </a:prstGeom>
          <a:noFill/>
          <a:ln/>
        </p:spPr>
        <p:txBody>
          <a:bodyPr wrap="square" lIns="0" tIns="0" rIns="0" bIns="0" rtlCol="0" anchor="ctr"/>
          <a:lstStyle/>
          <a:p>
            <a:pPr indent="0" marL="0">
              <a:buNone/>
            </a:pPr>
            <a:r>
              <a:rPr lang="en-US" sz="5800" b="1" dirty="0">
                <a:solidFill>
                  <a:srgbClr val="F0EBE0"/>
                </a:solidFill>
                <a:latin typeface="Cambria" pitchFamily="34" charset="0"/>
                <a:ea typeface="Cambria" pitchFamily="34" charset="-122"/>
                <a:cs typeface="Cambria" pitchFamily="34" charset="-120"/>
              </a:rPr>
              <a:t>Role Breakdown</a:t>
            </a:r>
            <a:endParaRPr lang="en-US" sz="5800" dirty="0"/>
          </a:p>
        </p:txBody>
      </p:sp>
      <p:sp>
        <p:nvSpPr>
          <p:cNvPr id="9" name="Text 5"/>
          <p:cNvSpPr/>
          <p:nvPr/>
        </p:nvSpPr>
        <p:spPr>
          <a:xfrm>
            <a:off x="685800" y="3493008"/>
            <a:ext cx="7132320" cy="457200"/>
          </a:xfrm>
          <a:prstGeom prst="rect">
            <a:avLst/>
          </a:prstGeom>
          <a:noFill/>
          <a:ln/>
        </p:spPr>
        <p:txBody>
          <a:bodyPr wrap="square" lIns="0" tIns="0" rIns="0" bIns="0" rtlCol="0" anchor="ctr"/>
          <a:lstStyle/>
          <a:p>
            <a:pPr indent="0" marL="0">
              <a:buNone/>
            </a:pPr>
            <a:r>
              <a:rPr lang="en-US" sz="2300" i="1" dirty="0">
                <a:solidFill>
                  <a:srgbClr val="CFB48E"/>
                </a:solidFill>
                <a:latin typeface="Cambria" pitchFamily="34" charset="0"/>
                <a:ea typeface="Cambria" pitchFamily="34" charset="-122"/>
                <a:cs typeface="Cambria" pitchFamily="34" charset="-120"/>
              </a:rPr>
              <a:t>Who covers what, and in what order</a:t>
            </a:r>
            <a:endParaRPr lang="en-US" sz="2300" dirty="0"/>
          </a:p>
        </p:txBody>
      </p:sp>
      <p:sp>
        <p:nvSpPr>
          <p:cNvPr id="10" name="Text 6"/>
          <p:cNvSpPr/>
          <p:nvPr/>
        </p:nvSpPr>
        <p:spPr>
          <a:xfrm>
            <a:off x="685800" y="4069080"/>
            <a:ext cx="6492240" cy="548640"/>
          </a:xfrm>
          <a:prstGeom prst="rect">
            <a:avLst/>
          </a:prstGeom>
          <a:noFill/>
          <a:ln/>
        </p:spPr>
        <p:txBody>
          <a:bodyPr wrap="square" lIns="0" tIns="0" rIns="0" bIns="0" rtlCol="0" anchor="t"/>
          <a:lstStyle/>
          <a:p>
            <a:pPr indent="0" marL="0">
              <a:lnSpc>
                <a:spcPct val="120000"/>
              </a:lnSpc>
              <a:buNone/>
            </a:pPr>
            <a:r>
              <a:rPr lang="en-US" sz="1400" dirty="0">
                <a:solidFill>
                  <a:srgbClr val="A8A093"/>
                </a:solidFill>
                <a:latin typeface="Calibri" pitchFamily="34" charset="0"/>
                <a:ea typeface="Calibri" pitchFamily="34" charset="-122"/>
                <a:cs typeface="Calibri" pitchFamily="34" charset="-120"/>
              </a:rPr>
              <a:t>Three parts: the numbers, how we work together, and the paperwork that protects the practice.</a:t>
            </a:r>
            <a:endParaRPr lang="en-US" sz="1400" dirty="0"/>
          </a:p>
        </p:txBody>
      </p:sp>
      <p:sp>
        <p:nvSpPr>
          <p:cNvPr id="11" name="Text 7"/>
          <p:cNvSpPr/>
          <p:nvPr/>
        </p:nvSpPr>
        <p:spPr>
          <a:xfrm>
            <a:off x="685800" y="5138928"/>
            <a:ext cx="2743200" cy="219456"/>
          </a:xfrm>
          <a:prstGeom prst="rect">
            <a:avLst/>
          </a:prstGeom>
          <a:noFill/>
          <a:ln/>
        </p:spPr>
        <p:txBody>
          <a:bodyPr wrap="square" lIns="0" tIns="0" rIns="0" bIns="0" rtlCol="0" anchor="ctr"/>
          <a:lstStyle/>
          <a:p>
            <a:pPr indent="0" marL="0">
              <a:buNone/>
            </a:pPr>
            <a:r>
              <a:rPr lang="en-US" sz="900" b="1" spc="220" kern="0" dirty="0">
                <a:solidFill>
                  <a:srgbClr val="6B6357"/>
                </a:solidFill>
                <a:latin typeface="Calibri" pitchFamily="34" charset="0"/>
                <a:ea typeface="Calibri" pitchFamily="34" charset="-122"/>
                <a:cs typeface="Calibri" pitchFamily="34" charset="-120"/>
              </a:rPr>
              <a:t>PREPARED FOR</a:t>
            </a:r>
            <a:endParaRPr lang="en-US" sz="900" dirty="0"/>
          </a:p>
        </p:txBody>
      </p:sp>
      <p:sp>
        <p:nvSpPr>
          <p:cNvPr id="12" name="Text 8"/>
          <p:cNvSpPr/>
          <p:nvPr/>
        </p:nvSpPr>
        <p:spPr>
          <a:xfrm>
            <a:off x="685800" y="5358384"/>
            <a:ext cx="3291840" cy="274320"/>
          </a:xfrm>
          <a:prstGeom prst="rect">
            <a:avLst/>
          </a:prstGeom>
          <a:noFill/>
          <a:ln/>
        </p:spPr>
        <p:txBody>
          <a:bodyPr wrap="square" lIns="0" tIns="0" rIns="0" bIns="0" rtlCol="0" anchor="ctr"/>
          <a:lstStyle/>
          <a:p>
            <a:pPr indent="0" marL="0">
              <a:buNone/>
            </a:pPr>
            <a:r>
              <a:rPr lang="en-US" sz="1400" dirty="0">
                <a:solidFill>
                  <a:srgbClr val="A8A093"/>
                </a:solidFill>
                <a:latin typeface="Calibri" pitchFamily="34" charset="0"/>
                <a:ea typeface="Calibri" pitchFamily="34" charset="-122"/>
                <a:cs typeface="Calibri" pitchFamily="34" charset="-120"/>
              </a:rPr>
              <a:t>________________________</a:t>
            </a:r>
            <a:endParaRPr lang="en-US" sz="1400" dirty="0"/>
          </a:p>
        </p:txBody>
      </p:sp>
      <p:sp>
        <p:nvSpPr>
          <p:cNvPr id="13" name="Text 9"/>
          <p:cNvSpPr/>
          <p:nvPr/>
        </p:nvSpPr>
        <p:spPr>
          <a:xfrm>
            <a:off x="4297680" y="5138928"/>
            <a:ext cx="2743200" cy="219456"/>
          </a:xfrm>
          <a:prstGeom prst="rect">
            <a:avLst/>
          </a:prstGeom>
          <a:noFill/>
          <a:ln/>
        </p:spPr>
        <p:txBody>
          <a:bodyPr wrap="square" lIns="0" tIns="0" rIns="0" bIns="0" rtlCol="0" anchor="ctr"/>
          <a:lstStyle/>
          <a:p>
            <a:pPr indent="0" marL="0">
              <a:buNone/>
            </a:pPr>
            <a:r>
              <a:rPr lang="en-US" sz="900" b="1" spc="220" kern="0" dirty="0">
                <a:solidFill>
                  <a:srgbClr val="6B6357"/>
                </a:solidFill>
                <a:latin typeface="Calibri" pitchFamily="34" charset="0"/>
                <a:ea typeface="Calibri" pitchFamily="34" charset="-122"/>
                <a:cs typeface="Calibri" pitchFamily="34" charset="-120"/>
              </a:rPr>
              <a:t>DATE</a:t>
            </a:r>
            <a:endParaRPr lang="en-US" sz="900" dirty="0"/>
          </a:p>
        </p:txBody>
      </p:sp>
      <p:sp>
        <p:nvSpPr>
          <p:cNvPr id="14" name="Text 10"/>
          <p:cNvSpPr/>
          <p:nvPr/>
        </p:nvSpPr>
        <p:spPr>
          <a:xfrm>
            <a:off x="4297680" y="5358384"/>
            <a:ext cx="3291840" cy="274320"/>
          </a:xfrm>
          <a:prstGeom prst="rect">
            <a:avLst/>
          </a:prstGeom>
          <a:noFill/>
          <a:ln/>
        </p:spPr>
        <p:txBody>
          <a:bodyPr wrap="square" lIns="0" tIns="0" rIns="0" bIns="0" rtlCol="0" anchor="ctr"/>
          <a:lstStyle/>
          <a:p>
            <a:pPr indent="0" marL="0">
              <a:buNone/>
            </a:pPr>
            <a:r>
              <a:rPr lang="en-US" sz="1400" dirty="0">
                <a:solidFill>
                  <a:srgbClr val="A8A093"/>
                </a:solidFill>
                <a:latin typeface="Calibri" pitchFamily="34" charset="0"/>
                <a:ea typeface="Calibri" pitchFamily="34" charset="-122"/>
                <a:cs typeface="Calibri" pitchFamily="34" charset="-120"/>
              </a:rPr>
              <a:t>________________________</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EBE0"/>
        </a:solidFill>
      </p:bgPr>
    </p:bg>
    <p:spTree>
      <p:nvGrpSpPr>
        <p:cNvPr id="1" name=""/>
        <p:cNvGrpSpPr/>
        <p:nvPr/>
      </p:nvGrpSpPr>
      <p:grpSpPr>
        <a:xfrm>
          <a:off x="0" y="0"/>
          <a:ext cx="0" cy="0"/>
          <a:chOff x="0" y="0"/>
          <a:chExt cx="0" cy="0"/>
        </a:xfrm>
      </p:grpSpPr>
      <p:sp>
        <p:nvSpPr>
          <p:cNvPr id="2" name="Text 0"/>
          <p:cNvSpPr/>
          <p:nvPr/>
        </p:nvSpPr>
        <p:spPr>
          <a:xfrm>
            <a:off x="685800" y="566928"/>
            <a:ext cx="7772400" cy="256032"/>
          </a:xfrm>
          <a:prstGeom prst="rect">
            <a:avLst/>
          </a:prstGeom>
          <a:noFill/>
          <a:ln/>
        </p:spPr>
        <p:txBody>
          <a:bodyPr wrap="square" lIns="0" tIns="0" rIns="0" bIns="0" rtlCol="0" anchor="ctr"/>
          <a:lstStyle/>
          <a:p>
            <a:pPr indent="0" marL="0">
              <a:buNone/>
            </a:pPr>
            <a:r>
              <a:rPr lang="en-US" sz="1050" b="1" spc="260" kern="0" dirty="0">
                <a:solidFill>
                  <a:srgbClr val="CFB48E"/>
                </a:solidFill>
                <a:latin typeface="Calibri" pitchFamily="34" charset="0"/>
                <a:ea typeface="Calibri" pitchFamily="34" charset="-122"/>
                <a:cs typeface="Calibri" pitchFamily="34" charset="-120"/>
              </a:rPr>
              <a:t>AGENDA</a:t>
            </a:r>
            <a:endParaRPr lang="en-US" sz="1050" dirty="0"/>
          </a:p>
        </p:txBody>
      </p:sp>
      <p:sp>
        <p:nvSpPr>
          <p:cNvPr id="3" name="Text 1"/>
          <p:cNvSpPr/>
          <p:nvPr/>
        </p:nvSpPr>
        <p:spPr>
          <a:xfrm>
            <a:off x="685800" y="868680"/>
            <a:ext cx="10058400" cy="658368"/>
          </a:xfrm>
          <a:prstGeom prst="rect">
            <a:avLst/>
          </a:prstGeom>
          <a:noFill/>
          <a:ln/>
        </p:spPr>
        <p:txBody>
          <a:bodyPr wrap="square" lIns="0" tIns="0" rIns="0" bIns="0" rtlCol="0" anchor="ctr"/>
          <a:lstStyle/>
          <a:p>
            <a:pPr indent="0" marL="0">
              <a:buNone/>
            </a:pPr>
            <a:r>
              <a:rPr lang="en-US" sz="3400" b="1" dirty="0">
                <a:solidFill>
                  <a:srgbClr val="141414"/>
                </a:solidFill>
                <a:latin typeface="Cambria" pitchFamily="34" charset="0"/>
                <a:ea typeface="Cambria" pitchFamily="34" charset="-122"/>
                <a:cs typeface="Cambria" pitchFamily="34" charset="-120"/>
              </a:rPr>
              <a:t>Today's running order</a:t>
            </a:r>
            <a:endParaRPr lang="en-US" sz="3400" dirty="0"/>
          </a:p>
        </p:txBody>
      </p:sp>
      <p:sp>
        <p:nvSpPr>
          <p:cNvPr id="4" name="Text 2"/>
          <p:cNvSpPr/>
          <p:nvPr/>
        </p:nvSpPr>
        <p:spPr>
          <a:xfrm>
            <a:off x="685800" y="1572768"/>
            <a:ext cx="8686800" cy="292608"/>
          </a:xfrm>
          <a:prstGeom prst="rect">
            <a:avLst/>
          </a:prstGeom>
          <a:noFill/>
          <a:ln/>
        </p:spPr>
        <p:txBody>
          <a:bodyPr wrap="square" lIns="0" tIns="0" rIns="0" bIns="0" rtlCol="0" anchor="ctr"/>
          <a:lstStyle/>
          <a:p>
            <a:pPr indent="0" marL="0">
              <a:buNone/>
            </a:pPr>
            <a:r>
              <a:rPr lang="en-US" sz="1350" dirty="0">
                <a:solidFill>
                  <a:srgbClr val="6E6656"/>
                </a:solidFill>
                <a:latin typeface="Calibri" pitchFamily="34" charset="0"/>
                <a:ea typeface="Calibri" pitchFamily="34" charset="-122"/>
                <a:cs typeface="Calibri" pitchFamily="34" charset="-120"/>
              </a:rPr>
              <a:t>Three parts, roughly 15 minutes each, questions welcome at any point.</a:t>
            </a:r>
            <a:endParaRPr lang="en-US" sz="1350" dirty="0"/>
          </a:p>
        </p:txBody>
      </p:sp>
      <p:sp>
        <p:nvSpPr>
          <p:cNvPr id="5" name="Shape 3"/>
          <p:cNvSpPr/>
          <p:nvPr/>
        </p:nvSpPr>
        <p:spPr>
          <a:xfrm>
            <a:off x="685800" y="2029968"/>
            <a:ext cx="10820095" cy="1234440"/>
          </a:xfrm>
          <a:prstGeom prst="roundRect">
            <a:avLst>
              <a:gd name="adj" fmla="val 6667"/>
            </a:avLst>
          </a:prstGeom>
          <a:solidFill>
            <a:srgbClr val="FBFAF6"/>
          </a:solidFill>
          <a:ln w="9525">
            <a:solidFill>
              <a:srgbClr val="C9C2B4"/>
            </a:solidFill>
            <a:prstDash val="solid"/>
          </a:ln>
        </p:spPr>
      </p:sp>
      <p:sp>
        <p:nvSpPr>
          <p:cNvPr id="6" name="Text 4"/>
          <p:cNvSpPr/>
          <p:nvPr/>
        </p:nvSpPr>
        <p:spPr>
          <a:xfrm>
            <a:off x="1014984" y="2350008"/>
            <a:ext cx="594360" cy="594360"/>
          </a:xfrm>
          <a:prstGeom prst="ellipse">
            <a:avLst/>
          </a:prstGeom>
          <a:solidFill>
            <a:srgbClr val="C0532A"/>
          </a:solidFill>
          <a:ln/>
        </p:spPr>
        <p:txBody>
          <a:bodyPr wrap="square" lIns="0" tIns="0" rIns="0" bIns="0" rtlCol="0" anchor="ctr"/>
          <a:lstStyle/>
          <a:p>
            <a:pPr algn="ctr" indent="0" marL="0">
              <a:buNone/>
            </a:pPr>
            <a:r>
              <a:rPr lang="en-US" sz="1400" b="1" dirty="0">
                <a:solidFill>
                  <a:srgbClr val="FBFAF6"/>
                </a:solidFill>
                <a:latin typeface="Calibri" pitchFamily="34" charset="0"/>
                <a:ea typeface="Calibri" pitchFamily="34" charset="-122"/>
                <a:cs typeface="Calibri" pitchFamily="34" charset="-120"/>
              </a:rPr>
              <a:t>01</a:t>
            </a:r>
            <a:endParaRPr lang="en-US" sz="1400" dirty="0"/>
          </a:p>
        </p:txBody>
      </p:sp>
      <p:sp>
        <p:nvSpPr>
          <p:cNvPr id="7" name="Text 5"/>
          <p:cNvSpPr/>
          <p:nvPr/>
        </p:nvSpPr>
        <p:spPr>
          <a:xfrm>
            <a:off x="1783080" y="2249424"/>
            <a:ext cx="5669280" cy="384048"/>
          </a:xfrm>
          <a:prstGeom prst="rect">
            <a:avLst/>
          </a:prstGeom>
          <a:noFill/>
          <a:ln/>
        </p:spPr>
        <p:txBody>
          <a:bodyPr wrap="square" lIns="0" tIns="0" rIns="0" bIns="0" rtlCol="0" anchor="ctr"/>
          <a:lstStyle/>
          <a:p>
            <a:pPr indent="0" marL="0">
              <a:buNone/>
            </a:pPr>
            <a:r>
              <a:rPr lang="en-US" sz="2100" b="1" dirty="0">
                <a:solidFill>
                  <a:srgbClr val="141414"/>
                </a:solidFill>
                <a:latin typeface="Cambria" pitchFamily="34" charset="0"/>
                <a:ea typeface="Cambria" pitchFamily="34" charset="-122"/>
                <a:cs typeface="Cambria" pitchFamily="34" charset="-120"/>
              </a:rPr>
              <a:t>Money &amp; Strategy</a:t>
            </a:r>
            <a:endParaRPr lang="en-US" sz="2100" dirty="0"/>
          </a:p>
        </p:txBody>
      </p:sp>
      <p:sp>
        <p:nvSpPr>
          <p:cNvPr id="8" name="Text 6"/>
          <p:cNvSpPr/>
          <p:nvPr/>
        </p:nvSpPr>
        <p:spPr>
          <a:xfrm>
            <a:off x="1783080" y="2606040"/>
            <a:ext cx="6492240" cy="256032"/>
          </a:xfrm>
          <a:prstGeom prst="rect">
            <a:avLst/>
          </a:prstGeom>
          <a:noFill/>
          <a:ln/>
        </p:spPr>
        <p:txBody>
          <a:bodyPr wrap="square" lIns="0" tIns="0" rIns="0" bIns="0" rtlCol="0" anchor="ctr"/>
          <a:lstStyle/>
          <a:p>
            <a:pPr indent="0" marL="0">
              <a:buNone/>
            </a:pPr>
            <a:r>
              <a:rPr lang="en-US" sz="1250" dirty="0">
                <a:solidFill>
                  <a:srgbClr val="3A3A3A"/>
                </a:solidFill>
                <a:latin typeface="Calibri" pitchFamily="34" charset="0"/>
                <a:ea typeface="Calibri" pitchFamily="34" charset="-122"/>
                <a:cs typeface="Calibri" pitchFamily="34" charset="-120"/>
              </a:rPr>
              <a:t>Performance guarantee, ad spend, billing, and timeline</a:t>
            </a:r>
            <a:endParaRPr lang="en-US" sz="1250" dirty="0"/>
          </a:p>
        </p:txBody>
      </p:sp>
      <p:sp>
        <p:nvSpPr>
          <p:cNvPr id="9" name="Text 7"/>
          <p:cNvSpPr/>
          <p:nvPr/>
        </p:nvSpPr>
        <p:spPr>
          <a:xfrm>
            <a:off x="1783080" y="2852928"/>
            <a:ext cx="6949440" cy="237744"/>
          </a:xfrm>
          <a:prstGeom prst="rect">
            <a:avLst/>
          </a:prstGeom>
          <a:noFill/>
          <a:ln/>
        </p:spPr>
        <p:txBody>
          <a:bodyPr wrap="square" lIns="0" tIns="0" rIns="0" bIns="0" rtlCol="0" anchor="ctr"/>
          <a:lstStyle/>
          <a:p>
            <a:pPr indent="0" marL="0">
              <a:buNone/>
            </a:pPr>
            <a:r>
              <a:rPr lang="en-US" sz="1000" spc="40" kern="0" dirty="0">
                <a:solidFill>
                  <a:srgbClr val="C0532A"/>
                </a:solidFill>
                <a:latin typeface="Calibri" pitchFamily="34" charset="0"/>
                <a:ea typeface="Calibri" pitchFamily="34" charset="-122"/>
                <a:cs typeface="Calibri" pitchFamily="34" charset="-120"/>
              </a:rPr>
              <a:t>Guarantee  ·  Qualified leads  ·  Ramp-up  ·  Ad spend  ·  Troubleshooting</a:t>
            </a:r>
            <a:endParaRPr lang="en-US" sz="1000" dirty="0"/>
          </a:p>
        </p:txBody>
      </p:sp>
      <p:sp>
        <p:nvSpPr>
          <p:cNvPr id="10" name="Text 8"/>
          <p:cNvSpPr/>
          <p:nvPr/>
        </p:nvSpPr>
        <p:spPr>
          <a:xfrm>
            <a:off x="8716975" y="2395728"/>
            <a:ext cx="2286000" cy="201168"/>
          </a:xfrm>
          <a:prstGeom prst="rect">
            <a:avLst/>
          </a:prstGeom>
          <a:noFill/>
          <a:ln/>
        </p:spPr>
        <p:txBody>
          <a:bodyPr wrap="square" lIns="0" tIns="0" rIns="0" bIns="0" rtlCol="0" anchor="ctr"/>
          <a:lstStyle/>
          <a:p>
            <a:pPr algn="r" indent="0" marL="0">
              <a:buNone/>
            </a:pPr>
            <a:r>
              <a:rPr lang="en-US" sz="850" b="1" spc="200" kern="0" dirty="0">
                <a:solidFill>
                  <a:srgbClr val="9A9080"/>
                </a:solidFill>
                <a:latin typeface="Calibri" pitchFamily="34" charset="0"/>
                <a:ea typeface="Calibri" pitchFamily="34" charset="-122"/>
                <a:cs typeface="Calibri" pitchFamily="34" charset="-120"/>
              </a:rPr>
              <a:t>LED BY</a:t>
            </a:r>
            <a:endParaRPr lang="en-US" sz="850" dirty="0"/>
          </a:p>
        </p:txBody>
      </p:sp>
      <p:sp>
        <p:nvSpPr>
          <p:cNvPr id="11" name="Text 9"/>
          <p:cNvSpPr/>
          <p:nvPr/>
        </p:nvSpPr>
        <p:spPr>
          <a:xfrm>
            <a:off x="8716975" y="2606040"/>
            <a:ext cx="2286000" cy="274320"/>
          </a:xfrm>
          <a:prstGeom prst="rect">
            <a:avLst/>
          </a:prstGeom>
          <a:noFill/>
          <a:ln/>
        </p:spPr>
        <p:txBody>
          <a:bodyPr wrap="square" lIns="0" tIns="0" rIns="0" bIns="0" rtlCol="0" anchor="ctr"/>
          <a:lstStyle/>
          <a:p>
            <a:pPr algn="r" indent="0" marL="0">
              <a:buNone/>
            </a:pPr>
            <a:r>
              <a:rPr lang="en-US" sz="1300" dirty="0">
                <a:solidFill>
                  <a:srgbClr val="6E6656"/>
                </a:solidFill>
                <a:latin typeface="Calibri" pitchFamily="34" charset="0"/>
                <a:ea typeface="Calibri" pitchFamily="34" charset="-122"/>
                <a:cs typeface="Calibri" pitchFamily="34" charset="-120"/>
              </a:rPr>
              <a:t>______________</a:t>
            </a:r>
            <a:endParaRPr lang="en-US" sz="1300" dirty="0"/>
          </a:p>
        </p:txBody>
      </p:sp>
      <p:sp>
        <p:nvSpPr>
          <p:cNvPr id="12" name="Shape 10"/>
          <p:cNvSpPr/>
          <p:nvPr/>
        </p:nvSpPr>
        <p:spPr>
          <a:xfrm>
            <a:off x="685800" y="3419856"/>
            <a:ext cx="10820095" cy="1234440"/>
          </a:xfrm>
          <a:prstGeom prst="roundRect">
            <a:avLst>
              <a:gd name="adj" fmla="val 6667"/>
            </a:avLst>
          </a:prstGeom>
          <a:solidFill>
            <a:srgbClr val="FBFAF6"/>
          </a:solidFill>
          <a:ln w="9525">
            <a:solidFill>
              <a:srgbClr val="C9C2B4"/>
            </a:solidFill>
            <a:prstDash val="solid"/>
          </a:ln>
        </p:spPr>
      </p:sp>
      <p:sp>
        <p:nvSpPr>
          <p:cNvPr id="13" name="Text 11"/>
          <p:cNvSpPr/>
          <p:nvPr/>
        </p:nvSpPr>
        <p:spPr>
          <a:xfrm>
            <a:off x="1014984" y="3739896"/>
            <a:ext cx="594360" cy="594360"/>
          </a:xfrm>
          <a:prstGeom prst="ellipse">
            <a:avLst/>
          </a:prstGeom>
          <a:solidFill>
            <a:srgbClr val="0F5257"/>
          </a:solidFill>
          <a:ln/>
        </p:spPr>
        <p:txBody>
          <a:bodyPr wrap="square" lIns="0" tIns="0" rIns="0" bIns="0" rtlCol="0" anchor="ctr"/>
          <a:lstStyle/>
          <a:p>
            <a:pPr algn="ctr" indent="0" marL="0">
              <a:buNone/>
            </a:pPr>
            <a:r>
              <a:rPr lang="en-US" sz="1400" b="1" dirty="0">
                <a:solidFill>
                  <a:srgbClr val="FBFAF6"/>
                </a:solidFill>
                <a:latin typeface="Calibri" pitchFamily="34" charset="0"/>
                <a:ea typeface="Calibri" pitchFamily="34" charset="-122"/>
                <a:cs typeface="Calibri" pitchFamily="34" charset="-120"/>
              </a:rPr>
              <a:t>02</a:t>
            </a:r>
            <a:endParaRPr lang="en-US" sz="1400" dirty="0"/>
          </a:p>
        </p:txBody>
      </p:sp>
      <p:sp>
        <p:nvSpPr>
          <p:cNvPr id="14" name="Text 12"/>
          <p:cNvSpPr/>
          <p:nvPr/>
        </p:nvSpPr>
        <p:spPr>
          <a:xfrm>
            <a:off x="1783080" y="3639312"/>
            <a:ext cx="5669280" cy="384048"/>
          </a:xfrm>
          <a:prstGeom prst="rect">
            <a:avLst/>
          </a:prstGeom>
          <a:noFill/>
          <a:ln/>
        </p:spPr>
        <p:txBody>
          <a:bodyPr wrap="square" lIns="0" tIns="0" rIns="0" bIns="0" rtlCol="0" anchor="ctr"/>
          <a:lstStyle/>
          <a:p>
            <a:pPr indent="0" marL="0">
              <a:buNone/>
            </a:pPr>
            <a:r>
              <a:rPr lang="en-US" sz="2100" b="1" dirty="0">
                <a:solidFill>
                  <a:srgbClr val="141414"/>
                </a:solidFill>
                <a:latin typeface="Cambria" pitchFamily="34" charset="0"/>
                <a:ea typeface="Cambria" pitchFamily="34" charset="-122"/>
                <a:cs typeface="Cambria" pitchFamily="34" charset="-120"/>
              </a:rPr>
              <a:t>Relationship &amp; Operations</a:t>
            </a:r>
            <a:endParaRPr lang="en-US" sz="2100" dirty="0"/>
          </a:p>
        </p:txBody>
      </p:sp>
      <p:sp>
        <p:nvSpPr>
          <p:cNvPr id="15" name="Text 13"/>
          <p:cNvSpPr/>
          <p:nvPr/>
        </p:nvSpPr>
        <p:spPr>
          <a:xfrm>
            <a:off x="1783080" y="3995928"/>
            <a:ext cx="6492240" cy="256032"/>
          </a:xfrm>
          <a:prstGeom prst="rect">
            <a:avLst/>
          </a:prstGeom>
          <a:noFill/>
          <a:ln/>
        </p:spPr>
        <p:txBody>
          <a:bodyPr wrap="square" lIns="0" tIns="0" rIns="0" bIns="0" rtlCol="0" anchor="ctr"/>
          <a:lstStyle/>
          <a:p>
            <a:pPr indent="0" marL="0">
              <a:buNone/>
            </a:pPr>
            <a:r>
              <a:rPr lang="en-US" sz="1250" dirty="0">
                <a:solidFill>
                  <a:srgbClr val="3A3A3A"/>
                </a:solidFill>
                <a:latin typeface="Calibri" pitchFamily="34" charset="0"/>
                <a:ea typeface="Calibri" pitchFamily="34" charset="-122"/>
                <a:cs typeface="Calibri" pitchFamily="34" charset="-120"/>
              </a:rPr>
              <a:t>Reporting cadence, communication, and lead handling</a:t>
            </a:r>
            <a:endParaRPr lang="en-US" sz="1250" dirty="0"/>
          </a:p>
        </p:txBody>
      </p:sp>
      <p:sp>
        <p:nvSpPr>
          <p:cNvPr id="16" name="Text 14"/>
          <p:cNvSpPr/>
          <p:nvPr/>
        </p:nvSpPr>
        <p:spPr>
          <a:xfrm>
            <a:off x="1783080" y="4242816"/>
            <a:ext cx="6949440" cy="237744"/>
          </a:xfrm>
          <a:prstGeom prst="rect">
            <a:avLst/>
          </a:prstGeom>
          <a:noFill/>
          <a:ln/>
        </p:spPr>
        <p:txBody>
          <a:bodyPr wrap="square" lIns="0" tIns="0" rIns="0" bIns="0" rtlCol="0" anchor="ctr"/>
          <a:lstStyle/>
          <a:p>
            <a:pPr indent="0" marL="0">
              <a:buNone/>
            </a:pPr>
            <a:r>
              <a:rPr lang="en-US" sz="1000" spc="40" kern="0" dirty="0">
                <a:solidFill>
                  <a:srgbClr val="0F5257"/>
                </a:solidFill>
                <a:latin typeface="Calibri" pitchFamily="34" charset="0"/>
                <a:ea typeface="Calibri" pitchFamily="34" charset="-122"/>
                <a:cs typeface="Calibri" pitchFamily="34" charset="-120"/>
              </a:rPr>
              <a:t>Weekly reporting  ·  Points of contact  ·  Lead handoff  ·  Long-term fit</a:t>
            </a:r>
            <a:endParaRPr lang="en-US" sz="1000" dirty="0"/>
          </a:p>
        </p:txBody>
      </p:sp>
      <p:sp>
        <p:nvSpPr>
          <p:cNvPr id="17" name="Text 15"/>
          <p:cNvSpPr/>
          <p:nvPr/>
        </p:nvSpPr>
        <p:spPr>
          <a:xfrm>
            <a:off x="8716975" y="3785616"/>
            <a:ext cx="2286000" cy="201168"/>
          </a:xfrm>
          <a:prstGeom prst="rect">
            <a:avLst/>
          </a:prstGeom>
          <a:noFill/>
          <a:ln/>
        </p:spPr>
        <p:txBody>
          <a:bodyPr wrap="square" lIns="0" tIns="0" rIns="0" bIns="0" rtlCol="0" anchor="ctr"/>
          <a:lstStyle/>
          <a:p>
            <a:pPr algn="r" indent="0" marL="0">
              <a:buNone/>
            </a:pPr>
            <a:r>
              <a:rPr lang="en-US" sz="850" b="1" spc="200" kern="0" dirty="0">
                <a:solidFill>
                  <a:srgbClr val="9A9080"/>
                </a:solidFill>
                <a:latin typeface="Calibri" pitchFamily="34" charset="0"/>
                <a:ea typeface="Calibri" pitchFamily="34" charset="-122"/>
                <a:cs typeface="Calibri" pitchFamily="34" charset="-120"/>
              </a:rPr>
              <a:t>LED BY</a:t>
            </a:r>
            <a:endParaRPr lang="en-US" sz="850" dirty="0"/>
          </a:p>
        </p:txBody>
      </p:sp>
      <p:sp>
        <p:nvSpPr>
          <p:cNvPr id="18" name="Text 16"/>
          <p:cNvSpPr/>
          <p:nvPr/>
        </p:nvSpPr>
        <p:spPr>
          <a:xfrm>
            <a:off x="8716975" y="3995928"/>
            <a:ext cx="2286000" cy="274320"/>
          </a:xfrm>
          <a:prstGeom prst="rect">
            <a:avLst/>
          </a:prstGeom>
          <a:noFill/>
          <a:ln/>
        </p:spPr>
        <p:txBody>
          <a:bodyPr wrap="square" lIns="0" tIns="0" rIns="0" bIns="0" rtlCol="0" anchor="ctr"/>
          <a:lstStyle/>
          <a:p>
            <a:pPr algn="r" indent="0" marL="0">
              <a:buNone/>
            </a:pPr>
            <a:r>
              <a:rPr lang="en-US" sz="1300" dirty="0">
                <a:solidFill>
                  <a:srgbClr val="6E6656"/>
                </a:solidFill>
                <a:latin typeface="Calibri" pitchFamily="34" charset="0"/>
                <a:ea typeface="Calibri" pitchFamily="34" charset="-122"/>
                <a:cs typeface="Calibri" pitchFamily="34" charset="-120"/>
              </a:rPr>
              <a:t>______________</a:t>
            </a:r>
            <a:endParaRPr lang="en-US" sz="1300" dirty="0"/>
          </a:p>
        </p:txBody>
      </p:sp>
      <p:sp>
        <p:nvSpPr>
          <p:cNvPr id="19" name="Shape 17"/>
          <p:cNvSpPr/>
          <p:nvPr/>
        </p:nvSpPr>
        <p:spPr>
          <a:xfrm>
            <a:off x="685800" y="4809744"/>
            <a:ext cx="10820095" cy="1234440"/>
          </a:xfrm>
          <a:prstGeom prst="roundRect">
            <a:avLst>
              <a:gd name="adj" fmla="val 6667"/>
            </a:avLst>
          </a:prstGeom>
          <a:solidFill>
            <a:srgbClr val="FBFAF6"/>
          </a:solidFill>
          <a:ln w="9525">
            <a:solidFill>
              <a:srgbClr val="C9C2B4"/>
            </a:solidFill>
            <a:prstDash val="solid"/>
          </a:ln>
        </p:spPr>
      </p:sp>
      <p:sp>
        <p:nvSpPr>
          <p:cNvPr id="20" name="Text 18"/>
          <p:cNvSpPr/>
          <p:nvPr/>
        </p:nvSpPr>
        <p:spPr>
          <a:xfrm>
            <a:off x="1014984" y="5129784"/>
            <a:ext cx="594360" cy="594360"/>
          </a:xfrm>
          <a:prstGeom prst="ellipse">
            <a:avLst/>
          </a:prstGeom>
          <a:solidFill>
            <a:srgbClr val="8A6D1E"/>
          </a:solidFill>
          <a:ln/>
        </p:spPr>
        <p:txBody>
          <a:bodyPr wrap="square" lIns="0" tIns="0" rIns="0" bIns="0" rtlCol="0" anchor="ctr"/>
          <a:lstStyle/>
          <a:p>
            <a:pPr algn="ctr" indent="0" marL="0">
              <a:buNone/>
            </a:pPr>
            <a:r>
              <a:rPr lang="en-US" sz="1400" b="1" dirty="0">
                <a:solidFill>
                  <a:srgbClr val="FBFAF6"/>
                </a:solidFill>
                <a:latin typeface="Calibri" pitchFamily="34" charset="0"/>
                <a:ea typeface="Calibri" pitchFamily="34" charset="-122"/>
                <a:cs typeface="Calibri" pitchFamily="34" charset="-120"/>
              </a:rPr>
              <a:t>03</a:t>
            </a:r>
            <a:endParaRPr lang="en-US" sz="1400" dirty="0"/>
          </a:p>
        </p:txBody>
      </p:sp>
      <p:sp>
        <p:nvSpPr>
          <p:cNvPr id="21" name="Text 19"/>
          <p:cNvSpPr/>
          <p:nvPr/>
        </p:nvSpPr>
        <p:spPr>
          <a:xfrm>
            <a:off x="1783080" y="5029200"/>
            <a:ext cx="5669280" cy="384048"/>
          </a:xfrm>
          <a:prstGeom prst="rect">
            <a:avLst/>
          </a:prstGeom>
          <a:noFill/>
          <a:ln/>
        </p:spPr>
        <p:txBody>
          <a:bodyPr wrap="square" lIns="0" tIns="0" rIns="0" bIns="0" rtlCol="0" anchor="ctr"/>
          <a:lstStyle/>
          <a:p>
            <a:pPr indent="0" marL="0">
              <a:buNone/>
            </a:pPr>
            <a:r>
              <a:rPr lang="en-US" sz="2100" b="1" dirty="0">
                <a:solidFill>
                  <a:srgbClr val="141414"/>
                </a:solidFill>
                <a:latin typeface="Cambria" pitchFamily="34" charset="0"/>
                <a:ea typeface="Cambria" pitchFamily="34" charset="-122"/>
                <a:cs typeface="Cambria" pitchFamily="34" charset="-120"/>
              </a:rPr>
              <a:t>Compliance &amp; Legal</a:t>
            </a:r>
            <a:endParaRPr lang="en-US" sz="2100" dirty="0"/>
          </a:p>
        </p:txBody>
      </p:sp>
      <p:sp>
        <p:nvSpPr>
          <p:cNvPr id="22" name="Text 20"/>
          <p:cNvSpPr/>
          <p:nvPr/>
        </p:nvSpPr>
        <p:spPr>
          <a:xfrm>
            <a:off x="1783080" y="5385816"/>
            <a:ext cx="6492240" cy="256032"/>
          </a:xfrm>
          <a:prstGeom prst="rect">
            <a:avLst/>
          </a:prstGeom>
          <a:noFill/>
          <a:ln/>
        </p:spPr>
        <p:txBody>
          <a:bodyPr wrap="square" lIns="0" tIns="0" rIns="0" bIns="0" rtlCol="0" anchor="ctr"/>
          <a:lstStyle/>
          <a:p>
            <a:pPr indent="0" marL="0">
              <a:buNone/>
            </a:pPr>
            <a:r>
              <a:rPr lang="en-US" sz="1250" dirty="0">
                <a:solidFill>
                  <a:srgbClr val="3A3A3A"/>
                </a:solidFill>
                <a:latin typeface="Calibri" pitchFamily="34" charset="0"/>
                <a:ea typeface="Calibri" pitchFamily="34" charset="-122"/>
                <a:cs typeface="Calibri" pitchFamily="34" charset="-120"/>
              </a:rPr>
              <a:t>Insurance, HIPAA, BAA, and Terms of Service</a:t>
            </a:r>
            <a:endParaRPr lang="en-US" sz="1250" dirty="0"/>
          </a:p>
        </p:txBody>
      </p:sp>
      <p:sp>
        <p:nvSpPr>
          <p:cNvPr id="23" name="Text 21"/>
          <p:cNvSpPr/>
          <p:nvPr/>
        </p:nvSpPr>
        <p:spPr>
          <a:xfrm>
            <a:off x="1783080" y="5632704"/>
            <a:ext cx="6949440" cy="237744"/>
          </a:xfrm>
          <a:prstGeom prst="rect">
            <a:avLst/>
          </a:prstGeom>
          <a:noFill/>
          <a:ln/>
        </p:spPr>
        <p:txBody>
          <a:bodyPr wrap="square" lIns="0" tIns="0" rIns="0" bIns="0" rtlCol="0" anchor="ctr"/>
          <a:lstStyle/>
          <a:p>
            <a:pPr indent="0" marL="0">
              <a:buNone/>
            </a:pPr>
            <a:r>
              <a:rPr lang="en-US" sz="1000" spc="40" kern="0" dirty="0">
                <a:solidFill>
                  <a:srgbClr val="8A6D1E"/>
                </a:solidFill>
                <a:latin typeface="Calibri" pitchFamily="34" charset="0"/>
                <a:ea typeface="Calibri" pitchFamily="34" charset="-122"/>
                <a:cs typeface="Calibri" pitchFamily="34" charset="-120"/>
              </a:rPr>
              <a:t>Insurance &amp; service area  ·  HIPAA &amp; data handling  ·  Agreements</a:t>
            </a:r>
            <a:endParaRPr lang="en-US" sz="1000" dirty="0"/>
          </a:p>
        </p:txBody>
      </p:sp>
      <p:sp>
        <p:nvSpPr>
          <p:cNvPr id="24" name="Text 22"/>
          <p:cNvSpPr/>
          <p:nvPr/>
        </p:nvSpPr>
        <p:spPr>
          <a:xfrm>
            <a:off x="8716975" y="5175504"/>
            <a:ext cx="2286000" cy="201168"/>
          </a:xfrm>
          <a:prstGeom prst="rect">
            <a:avLst/>
          </a:prstGeom>
          <a:noFill/>
          <a:ln/>
        </p:spPr>
        <p:txBody>
          <a:bodyPr wrap="square" lIns="0" tIns="0" rIns="0" bIns="0" rtlCol="0" anchor="ctr"/>
          <a:lstStyle/>
          <a:p>
            <a:pPr algn="r" indent="0" marL="0">
              <a:buNone/>
            </a:pPr>
            <a:r>
              <a:rPr lang="en-US" sz="850" b="1" spc="200" kern="0" dirty="0">
                <a:solidFill>
                  <a:srgbClr val="9A9080"/>
                </a:solidFill>
                <a:latin typeface="Calibri" pitchFamily="34" charset="0"/>
                <a:ea typeface="Calibri" pitchFamily="34" charset="-122"/>
                <a:cs typeface="Calibri" pitchFamily="34" charset="-120"/>
              </a:rPr>
              <a:t>LED BY</a:t>
            </a:r>
            <a:endParaRPr lang="en-US" sz="850" dirty="0"/>
          </a:p>
        </p:txBody>
      </p:sp>
      <p:sp>
        <p:nvSpPr>
          <p:cNvPr id="25" name="Text 23"/>
          <p:cNvSpPr/>
          <p:nvPr/>
        </p:nvSpPr>
        <p:spPr>
          <a:xfrm>
            <a:off x="8716975" y="5385816"/>
            <a:ext cx="2286000" cy="274320"/>
          </a:xfrm>
          <a:prstGeom prst="rect">
            <a:avLst/>
          </a:prstGeom>
          <a:noFill/>
          <a:ln/>
        </p:spPr>
        <p:txBody>
          <a:bodyPr wrap="square" lIns="0" tIns="0" rIns="0" bIns="0" rtlCol="0" anchor="ctr"/>
          <a:lstStyle/>
          <a:p>
            <a:pPr algn="r" indent="0" marL="0">
              <a:buNone/>
            </a:pPr>
            <a:r>
              <a:rPr lang="en-US" sz="1300" dirty="0">
                <a:solidFill>
                  <a:srgbClr val="6E6656"/>
                </a:solidFill>
                <a:latin typeface="Calibri" pitchFamily="34" charset="0"/>
                <a:ea typeface="Calibri" pitchFamily="34" charset="-122"/>
                <a:cs typeface="Calibri" pitchFamily="34" charset="-120"/>
              </a:rPr>
              <a:t>______________</a:t>
            </a:r>
            <a:endParaRPr lang="en-US" sz="1300" dirty="0"/>
          </a:p>
        </p:txBody>
      </p:sp>
      <p:sp>
        <p:nvSpPr>
          <p:cNvPr id="26" name="Text 24"/>
          <p:cNvSpPr/>
          <p:nvPr/>
        </p:nvSpPr>
        <p:spPr>
          <a:xfrm>
            <a:off x="685800" y="6327648"/>
            <a:ext cx="5486400" cy="274320"/>
          </a:xfrm>
          <a:prstGeom prst="rect">
            <a:avLst/>
          </a:prstGeom>
          <a:noFill/>
          <a:ln/>
        </p:spPr>
        <p:txBody>
          <a:bodyPr wrap="square" lIns="0" tIns="0" rIns="0" bIns="0" rtlCol="0" anchor="ctr"/>
          <a:lstStyle/>
          <a:p>
            <a:pPr indent="0" marL="0">
              <a:buNone/>
            </a:pPr>
            <a:r>
              <a:rPr lang="en-US" sz="850" spc="160" kern="0" dirty="0">
                <a:solidFill>
                  <a:srgbClr val="9A9080"/>
                </a:solidFill>
                <a:latin typeface="Calibri" pitchFamily="34" charset="0"/>
                <a:ea typeface="Calibri" pitchFamily="34" charset="-122"/>
                <a:cs typeface="Calibri" pitchFamily="34" charset="-120"/>
              </a:rPr>
              <a:t>STAY BOOKED MARKETING  ·  CLIENT KICKOFF</a:t>
            </a:r>
            <a:endParaRPr lang="en-US" sz="850" dirty="0"/>
          </a:p>
        </p:txBody>
      </p:sp>
      <p:sp>
        <p:nvSpPr>
          <p:cNvPr id="27" name="Text 25"/>
          <p:cNvSpPr/>
          <p:nvPr/>
        </p:nvSpPr>
        <p:spPr>
          <a:xfrm>
            <a:off x="10591495" y="6327648"/>
            <a:ext cx="914400" cy="274320"/>
          </a:xfrm>
          <a:prstGeom prst="rect">
            <a:avLst/>
          </a:prstGeom>
          <a:noFill/>
          <a:ln/>
        </p:spPr>
        <p:txBody>
          <a:bodyPr wrap="square" lIns="0" tIns="0" rIns="0" bIns="0" rtlCol="0" anchor="ctr"/>
          <a:lstStyle/>
          <a:p>
            <a:pPr algn="r" indent="0" marL="0">
              <a:buNone/>
            </a:pPr>
            <a:r>
              <a:rPr lang="en-US" sz="850" spc="160" kern="0" dirty="0">
                <a:solidFill>
                  <a:srgbClr val="9A9080"/>
                </a:solidFill>
                <a:latin typeface="Calibri" pitchFamily="34" charset="0"/>
                <a:ea typeface="Calibri" pitchFamily="34" charset="-122"/>
                <a:cs typeface="Calibri" pitchFamily="34" charset="-120"/>
              </a:rPr>
              <a:t>01</a:t>
            </a:r>
            <a:endParaRPr lang="en-US" sz="850" dirty="0"/>
          </a:p>
        </p:txBody>
      </p:sp>
      <p:pic>
        <p:nvPicPr>
          <p:cNvPr id="28" name="Image 0" descr="assets/logo_black.png">    </p:cNvPr>
          <p:cNvPicPr>
            <a:picLocks noChangeAspect="1"/>
          </p:cNvPicPr>
          <p:nvPr/>
        </p:nvPicPr>
        <p:blipFill>
          <a:blip r:embed="rId1">
            <a:alphaModFix amt="22000"/>
          </a:blip>
          <a:stretch>
            <a:fillRect/>
          </a:stretch>
        </p:blipFill>
        <p:spPr>
          <a:xfrm>
            <a:off x="10847527" y="384048"/>
            <a:ext cx="658368" cy="20939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EBE0"/>
        </a:solidFill>
      </p:bgPr>
    </p:bg>
    <p:spTree>
      <p:nvGrpSpPr>
        <p:cNvPr id="1" name=""/>
        <p:cNvGrpSpPr/>
        <p:nvPr/>
      </p:nvGrpSpPr>
      <p:grpSpPr>
        <a:xfrm>
          <a:off x="0" y="0"/>
          <a:ext cx="0" cy="0"/>
          <a:chOff x="0" y="0"/>
          <a:chExt cx="0" cy="0"/>
        </a:xfrm>
      </p:grpSpPr>
      <p:sp>
        <p:nvSpPr>
          <p:cNvPr id="2" name="Text 0"/>
          <p:cNvSpPr/>
          <p:nvPr/>
        </p:nvSpPr>
        <p:spPr>
          <a:xfrm>
            <a:off x="685800" y="566928"/>
            <a:ext cx="7772400" cy="256032"/>
          </a:xfrm>
          <a:prstGeom prst="rect">
            <a:avLst/>
          </a:prstGeom>
          <a:noFill/>
          <a:ln/>
        </p:spPr>
        <p:txBody>
          <a:bodyPr wrap="square" lIns="0" tIns="0" rIns="0" bIns="0" rtlCol="0" anchor="ctr"/>
          <a:lstStyle/>
          <a:p>
            <a:pPr indent="0" marL="0">
              <a:buNone/>
            </a:pPr>
            <a:r>
              <a:rPr lang="en-US" sz="1050" b="1" spc="260" kern="0" dirty="0">
                <a:solidFill>
                  <a:srgbClr val="CFB48E"/>
                </a:solidFill>
                <a:latin typeface="Calibri" pitchFamily="34" charset="0"/>
                <a:ea typeface="Calibri" pitchFamily="34" charset="-122"/>
                <a:cs typeface="Calibri" pitchFamily="34" charset="-120"/>
              </a:rPr>
              <a:t>AT A GLANCE</a:t>
            </a:r>
            <a:endParaRPr lang="en-US" sz="1050" dirty="0"/>
          </a:p>
        </p:txBody>
      </p:sp>
      <p:sp>
        <p:nvSpPr>
          <p:cNvPr id="3" name="Text 1"/>
          <p:cNvSpPr/>
          <p:nvPr/>
        </p:nvSpPr>
        <p:spPr>
          <a:xfrm>
            <a:off x="685800" y="868680"/>
            <a:ext cx="10058400" cy="658368"/>
          </a:xfrm>
          <a:prstGeom prst="rect">
            <a:avLst/>
          </a:prstGeom>
          <a:noFill/>
          <a:ln/>
        </p:spPr>
        <p:txBody>
          <a:bodyPr wrap="square" lIns="0" tIns="0" rIns="0" bIns="0" rtlCol="0" anchor="ctr"/>
          <a:lstStyle/>
          <a:p>
            <a:pPr indent="0" marL="0">
              <a:buNone/>
            </a:pPr>
            <a:r>
              <a:rPr lang="en-US" sz="3400" b="1" dirty="0">
                <a:solidFill>
                  <a:srgbClr val="141414"/>
                </a:solidFill>
                <a:latin typeface="Cambria" pitchFamily="34" charset="0"/>
                <a:ea typeface="Cambria" pitchFamily="34" charset="-122"/>
                <a:cs typeface="Cambria" pitchFamily="34" charset="-120"/>
              </a:rPr>
              <a:t>The whole agreement in six numbers</a:t>
            </a:r>
            <a:endParaRPr lang="en-US" sz="3400" dirty="0"/>
          </a:p>
        </p:txBody>
      </p:sp>
      <p:sp>
        <p:nvSpPr>
          <p:cNvPr id="4" name="Text 2"/>
          <p:cNvSpPr/>
          <p:nvPr/>
        </p:nvSpPr>
        <p:spPr>
          <a:xfrm>
            <a:off x="685800" y="1572768"/>
            <a:ext cx="9509760" cy="292608"/>
          </a:xfrm>
          <a:prstGeom prst="rect">
            <a:avLst/>
          </a:prstGeom>
          <a:noFill/>
          <a:ln/>
        </p:spPr>
        <p:txBody>
          <a:bodyPr wrap="square" lIns="0" tIns="0" rIns="0" bIns="0" rtlCol="0" anchor="ctr"/>
          <a:lstStyle/>
          <a:p>
            <a:pPr indent="0" marL="0">
              <a:buNone/>
            </a:pPr>
            <a:r>
              <a:rPr lang="en-US" sz="1350" dirty="0">
                <a:solidFill>
                  <a:srgbClr val="6E6656"/>
                </a:solidFill>
                <a:latin typeface="Calibri" pitchFamily="34" charset="0"/>
                <a:ea typeface="Calibri" pitchFamily="34" charset="-122"/>
                <a:cs typeface="Calibri" pitchFamily="34" charset="-120"/>
              </a:rPr>
              <a:t>Everything in the next 45 minutes comes back to these. We will unpack each one in turn.</a:t>
            </a:r>
            <a:endParaRPr lang="en-US" sz="1350" dirty="0"/>
          </a:p>
        </p:txBody>
      </p:sp>
      <p:sp>
        <p:nvSpPr>
          <p:cNvPr id="5" name="Shape 3"/>
          <p:cNvSpPr/>
          <p:nvPr/>
        </p:nvSpPr>
        <p:spPr>
          <a:xfrm>
            <a:off x="685800" y="2103120"/>
            <a:ext cx="3423818" cy="1810512"/>
          </a:xfrm>
          <a:prstGeom prst="roundRect">
            <a:avLst>
              <a:gd name="adj" fmla="val 4545"/>
            </a:avLst>
          </a:prstGeom>
          <a:solidFill>
            <a:srgbClr val="141414"/>
          </a:solidFill>
          <a:ln/>
        </p:spPr>
      </p:sp>
      <p:sp>
        <p:nvSpPr>
          <p:cNvPr id="6" name="Text 4"/>
          <p:cNvSpPr/>
          <p:nvPr/>
        </p:nvSpPr>
        <p:spPr>
          <a:xfrm>
            <a:off x="996696" y="2286000"/>
            <a:ext cx="2802026" cy="713232"/>
          </a:xfrm>
          <a:prstGeom prst="rect">
            <a:avLst/>
          </a:prstGeom>
          <a:noFill/>
          <a:ln/>
        </p:spPr>
        <p:txBody>
          <a:bodyPr wrap="square" lIns="0" tIns="0" rIns="0" bIns="0" rtlCol="0" anchor="ctr"/>
          <a:lstStyle/>
          <a:p>
            <a:pPr indent="0" marL="0">
              <a:buNone/>
            </a:pPr>
            <a:r>
              <a:rPr lang="en-US" sz="4400" b="1" dirty="0">
                <a:solidFill>
                  <a:srgbClr val="D2703C"/>
                </a:solidFill>
                <a:latin typeface="Cambria" pitchFamily="34" charset="0"/>
                <a:ea typeface="Cambria" pitchFamily="34" charset="-122"/>
                <a:cs typeface="Cambria" pitchFamily="34" charset="-120"/>
              </a:rPr>
              <a:t>15</a:t>
            </a:r>
            <a:endParaRPr lang="en-US" sz="4400" dirty="0"/>
          </a:p>
        </p:txBody>
      </p:sp>
      <p:sp>
        <p:nvSpPr>
          <p:cNvPr id="7" name="Text 5"/>
          <p:cNvSpPr/>
          <p:nvPr/>
        </p:nvSpPr>
        <p:spPr>
          <a:xfrm>
            <a:off x="996696" y="3035808"/>
            <a:ext cx="2802026" cy="310896"/>
          </a:xfrm>
          <a:prstGeom prst="rect">
            <a:avLst/>
          </a:prstGeom>
          <a:noFill/>
          <a:ln/>
        </p:spPr>
        <p:txBody>
          <a:bodyPr wrap="square" lIns="0" tIns="0" rIns="0" bIns="0" rtlCol="0" anchor="ctr"/>
          <a:lstStyle/>
          <a:p>
            <a:pPr indent="0" marL="0">
              <a:buNone/>
            </a:pPr>
            <a:r>
              <a:rPr lang="en-US" sz="1400" b="1" dirty="0">
                <a:solidFill>
                  <a:srgbClr val="F0EBE0"/>
                </a:solidFill>
                <a:latin typeface="Calibri" pitchFamily="34" charset="0"/>
                <a:ea typeface="Calibri" pitchFamily="34" charset="-122"/>
                <a:cs typeface="Calibri" pitchFamily="34" charset="-120"/>
              </a:rPr>
              <a:t>Qualified leads guaranteed</a:t>
            </a:r>
            <a:endParaRPr lang="en-US" sz="1400" dirty="0"/>
          </a:p>
        </p:txBody>
      </p:sp>
      <p:sp>
        <p:nvSpPr>
          <p:cNvPr id="8" name="Text 6"/>
          <p:cNvSpPr/>
          <p:nvPr/>
        </p:nvSpPr>
        <p:spPr>
          <a:xfrm>
            <a:off x="996696" y="3346704"/>
            <a:ext cx="2802026" cy="384048"/>
          </a:xfrm>
          <a:prstGeom prst="rect">
            <a:avLst/>
          </a:prstGeom>
          <a:noFill/>
          <a:ln/>
        </p:spPr>
        <p:txBody>
          <a:bodyPr wrap="square" lIns="0" tIns="0" rIns="0" bIns="0" rtlCol="0" anchor="t"/>
          <a:lstStyle/>
          <a:p>
            <a:pPr indent="0" marL="0">
              <a:lnSpc>
                <a:spcPct val="112000"/>
              </a:lnSpc>
              <a:buNone/>
            </a:pPr>
            <a:r>
              <a:rPr lang="en-US" sz="1150" dirty="0">
                <a:solidFill>
                  <a:srgbClr val="A8A093"/>
                </a:solidFill>
                <a:latin typeface="Calibri" pitchFamily="34" charset="0"/>
                <a:ea typeface="Calibri" pitchFamily="34" charset="-122"/>
                <a:cs typeface="Calibri" pitchFamily="34" charset="-120"/>
              </a:rPr>
              <a:t>Across the first 90 days, in total</a:t>
            </a:r>
            <a:endParaRPr lang="en-US" sz="1150" dirty="0"/>
          </a:p>
        </p:txBody>
      </p:sp>
      <p:sp>
        <p:nvSpPr>
          <p:cNvPr id="9" name="Shape 7"/>
          <p:cNvSpPr/>
          <p:nvPr/>
        </p:nvSpPr>
        <p:spPr>
          <a:xfrm>
            <a:off x="4383938" y="2103120"/>
            <a:ext cx="3423818" cy="1810512"/>
          </a:xfrm>
          <a:prstGeom prst="roundRect">
            <a:avLst>
              <a:gd name="adj" fmla="val 4545"/>
            </a:avLst>
          </a:prstGeom>
          <a:solidFill>
            <a:srgbClr val="141414"/>
          </a:solidFill>
          <a:ln/>
        </p:spPr>
      </p:sp>
      <p:sp>
        <p:nvSpPr>
          <p:cNvPr id="10" name="Text 8"/>
          <p:cNvSpPr/>
          <p:nvPr/>
        </p:nvSpPr>
        <p:spPr>
          <a:xfrm>
            <a:off x="4694834" y="2286000"/>
            <a:ext cx="2802026" cy="713232"/>
          </a:xfrm>
          <a:prstGeom prst="rect">
            <a:avLst/>
          </a:prstGeom>
          <a:noFill/>
          <a:ln/>
        </p:spPr>
        <p:txBody>
          <a:bodyPr wrap="square" lIns="0" tIns="0" rIns="0" bIns="0" rtlCol="0" anchor="ctr"/>
          <a:lstStyle/>
          <a:p>
            <a:pPr indent="0" marL="0">
              <a:buNone/>
            </a:pPr>
            <a:r>
              <a:rPr lang="en-US" sz="4400" b="1" dirty="0">
                <a:solidFill>
                  <a:srgbClr val="D2703C"/>
                </a:solidFill>
                <a:latin typeface="Cambria" pitchFamily="34" charset="0"/>
                <a:ea typeface="Cambria" pitchFamily="34" charset="-122"/>
                <a:cs typeface="Cambria" pitchFamily="34" charset="-120"/>
              </a:rPr>
              <a:t>90</a:t>
            </a:r>
            <a:endParaRPr lang="en-US" sz="4400" dirty="0"/>
          </a:p>
        </p:txBody>
      </p:sp>
      <p:sp>
        <p:nvSpPr>
          <p:cNvPr id="11" name="Text 9"/>
          <p:cNvSpPr/>
          <p:nvPr/>
        </p:nvSpPr>
        <p:spPr>
          <a:xfrm>
            <a:off x="4694834" y="3035808"/>
            <a:ext cx="2802026" cy="310896"/>
          </a:xfrm>
          <a:prstGeom prst="rect">
            <a:avLst/>
          </a:prstGeom>
          <a:noFill/>
          <a:ln/>
        </p:spPr>
        <p:txBody>
          <a:bodyPr wrap="square" lIns="0" tIns="0" rIns="0" bIns="0" rtlCol="0" anchor="ctr"/>
          <a:lstStyle/>
          <a:p>
            <a:pPr indent="0" marL="0">
              <a:buNone/>
            </a:pPr>
            <a:r>
              <a:rPr lang="en-US" sz="1400" b="1" dirty="0">
                <a:solidFill>
                  <a:srgbClr val="F0EBE0"/>
                </a:solidFill>
                <a:latin typeface="Calibri" pitchFamily="34" charset="0"/>
                <a:ea typeface="Calibri" pitchFamily="34" charset="-122"/>
                <a:cs typeface="Calibri" pitchFamily="34" charset="-120"/>
              </a:rPr>
              <a:t>Days to deliver them</a:t>
            </a:r>
            <a:endParaRPr lang="en-US" sz="1400" dirty="0"/>
          </a:p>
        </p:txBody>
      </p:sp>
      <p:sp>
        <p:nvSpPr>
          <p:cNvPr id="12" name="Text 10"/>
          <p:cNvSpPr/>
          <p:nvPr/>
        </p:nvSpPr>
        <p:spPr>
          <a:xfrm>
            <a:off x="4694834" y="3346704"/>
            <a:ext cx="2802026" cy="384048"/>
          </a:xfrm>
          <a:prstGeom prst="rect">
            <a:avLst/>
          </a:prstGeom>
          <a:noFill/>
          <a:ln/>
        </p:spPr>
        <p:txBody>
          <a:bodyPr wrap="square" lIns="0" tIns="0" rIns="0" bIns="0" rtlCol="0" anchor="t"/>
          <a:lstStyle/>
          <a:p>
            <a:pPr indent="0" marL="0">
              <a:lnSpc>
                <a:spcPct val="112000"/>
              </a:lnSpc>
              <a:buNone/>
            </a:pPr>
            <a:r>
              <a:rPr lang="en-US" sz="1150" dirty="0">
                <a:solidFill>
                  <a:srgbClr val="A8A093"/>
                </a:solidFill>
                <a:latin typeface="Calibri" pitchFamily="34" charset="0"/>
                <a:ea typeface="Calibri" pitchFamily="34" charset="-122"/>
                <a:cs typeface="Calibri" pitchFamily="34" charset="-120"/>
              </a:rPr>
              <a:t>One window — no monthly checkpoint</a:t>
            </a:r>
            <a:endParaRPr lang="en-US" sz="1150" dirty="0"/>
          </a:p>
        </p:txBody>
      </p:sp>
      <p:sp>
        <p:nvSpPr>
          <p:cNvPr id="13" name="Shape 11"/>
          <p:cNvSpPr/>
          <p:nvPr/>
        </p:nvSpPr>
        <p:spPr>
          <a:xfrm>
            <a:off x="8082077" y="2103120"/>
            <a:ext cx="3423818" cy="1810512"/>
          </a:xfrm>
          <a:prstGeom prst="roundRect">
            <a:avLst>
              <a:gd name="adj" fmla="val 4545"/>
            </a:avLst>
          </a:prstGeom>
          <a:solidFill>
            <a:srgbClr val="141414"/>
          </a:solidFill>
          <a:ln/>
        </p:spPr>
      </p:sp>
      <p:sp>
        <p:nvSpPr>
          <p:cNvPr id="14" name="Text 12"/>
          <p:cNvSpPr/>
          <p:nvPr/>
        </p:nvSpPr>
        <p:spPr>
          <a:xfrm>
            <a:off x="8392973" y="2286000"/>
            <a:ext cx="2802026" cy="713232"/>
          </a:xfrm>
          <a:prstGeom prst="rect">
            <a:avLst/>
          </a:prstGeom>
          <a:noFill/>
          <a:ln/>
        </p:spPr>
        <p:txBody>
          <a:bodyPr wrap="square" lIns="0" tIns="0" rIns="0" bIns="0" rtlCol="0" anchor="ctr"/>
          <a:lstStyle/>
          <a:p>
            <a:pPr indent="0" marL="0">
              <a:buNone/>
            </a:pPr>
            <a:r>
              <a:rPr lang="en-US" sz="4400" b="1" dirty="0">
                <a:solidFill>
                  <a:srgbClr val="00A093"/>
                </a:solidFill>
                <a:latin typeface="Cambria" pitchFamily="34" charset="0"/>
                <a:ea typeface="Cambria" pitchFamily="34" charset="-122"/>
                <a:cs typeface="Cambria" pitchFamily="34" charset="-120"/>
              </a:rPr>
              <a:t>5 min</a:t>
            </a:r>
            <a:endParaRPr lang="en-US" sz="4400" dirty="0"/>
          </a:p>
        </p:txBody>
      </p:sp>
      <p:sp>
        <p:nvSpPr>
          <p:cNvPr id="15" name="Text 13"/>
          <p:cNvSpPr/>
          <p:nvPr/>
        </p:nvSpPr>
        <p:spPr>
          <a:xfrm>
            <a:off x="8392973" y="3035808"/>
            <a:ext cx="2802026" cy="310896"/>
          </a:xfrm>
          <a:prstGeom prst="rect">
            <a:avLst/>
          </a:prstGeom>
          <a:noFill/>
          <a:ln/>
        </p:spPr>
        <p:txBody>
          <a:bodyPr wrap="square" lIns="0" tIns="0" rIns="0" bIns="0" rtlCol="0" anchor="ctr"/>
          <a:lstStyle/>
          <a:p>
            <a:pPr indent="0" marL="0">
              <a:buNone/>
            </a:pPr>
            <a:r>
              <a:rPr lang="en-US" sz="1400" b="1" dirty="0">
                <a:solidFill>
                  <a:srgbClr val="F0EBE0"/>
                </a:solidFill>
                <a:latin typeface="Calibri" pitchFamily="34" charset="0"/>
                <a:ea typeface="Calibri" pitchFamily="34" charset="-122"/>
                <a:cs typeface="Calibri" pitchFamily="34" charset="-120"/>
              </a:rPr>
              <a:t>To first contact</a:t>
            </a:r>
            <a:endParaRPr lang="en-US" sz="1400" dirty="0"/>
          </a:p>
        </p:txBody>
      </p:sp>
      <p:sp>
        <p:nvSpPr>
          <p:cNvPr id="16" name="Text 14"/>
          <p:cNvSpPr/>
          <p:nvPr/>
        </p:nvSpPr>
        <p:spPr>
          <a:xfrm>
            <a:off x="8392973" y="3346704"/>
            <a:ext cx="2802026" cy="384048"/>
          </a:xfrm>
          <a:prstGeom prst="rect">
            <a:avLst/>
          </a:prstGeom>
          <a:noFill/>
          <a:ln/>
        </p:spPr>
        <p:txBody>
          <a:bodyPr wrap="square" lIns="0" tIns="0" rIns="0" bIns="0" rtlCol="0" anchor="t"/>
          <a:lstStyle/>
          <a:p>
            <a:pPr indent="0" marL="0">
              <a:lnSpc>
                <a:spcPct val="112000"/>
              </a:lnSpc>
              <a:buNone/>
            </a:pPr>
            <a:r>
              <a:rPr lang="en-US" sz="1150" dirty="0">
                <a:solidFill>
                  <a:srgbClr val="A8A093"/>
                </a:solidFill>
                <a:latin typeface="Calibri" pitchFamily="34" charset="0"/>
                <a:ea typeface="Calibri" pitchFamily="34" charset="-122"/>
                <a:cs typeface="Calibri" pitchFamily="34" charset="-120"/>
              </a:rPr>
              <a:t>AI calls and texts every new lead</a:t>
            </a:r>
            <a:endParaRPr lang="en-US" sz="1150" dirty="0"/>
          </a:p>
        </p:txBody>
      </p:sp>
      <p:sp>
        <p:nvSpPr>
          <p:cNvPr id="17" name="Shape 15"/>
          <p:cNvSpPr/>
          <p:nvPr/>
        </p:nvSpPr>
        <p:spPr>
          <a:xfrm>
            <a:off x="685800" y="4187952"/>
            <a:ext cx="3423818" cy="1810512"/>
          </a:xfrm>
          <a:prstGeom prst="roundRect">
            <a:avLst>
              <a:gd name="adj" fmla="val 4545"/>
            </a:avLst>
          </a:prstGeom>
          <a:solidFill>
            <a:srgbClr val="141414"/>
          </a:solidFill>
          <a:ln/>
        </p:spPr>
      </p:sp>
      <p:sp>
        <p:nvSpPr>
          <p:cNvPr id="18" name="Text 16"/>
          <p:cNvSpPr/>
          <p:nvPr/>
        </p:nvSpPr>
        <p:spPr>
          <a:xfrm>
            <a:off x="996696" y="4370832"/>
            <a:ext cx="2802026" cy="713232"/>
          </a:xfrm>
          <a:prstGeom prst="rect">
            <a:avLst/>
          </a:prstGeom>
          <a:noFill/>
          <a:ln/>
        </p:spPr>
        <p:txBody>
          <a:bodyPr wrap="square" lIns="0" tIns="0" rIns="0" bIns="0" rtlCol="0" anchor="ctr"/>
          <a:lstStyle/>
          <a:p>
            <a:pPr indent="0" marL="0">
              <a:buNone/>
            </a:pPr>
            <a:r>
              <a:rPr lang="en-US" sz="4400" b="1" dirty="0">
                <a:solidFill>
                  <a:srgbClr val="D2703C"/>
                </a:solidFill>
                <a:latin typeface="Cambria" pitchFamily="34" charset="0"/>
                <a:ea typeface="Cambria" pitchFamily="34" charset="-122"/>
                <a:cs typeface="Cambria" pitchFamily="34" charset="-120"/>
              </a:rPr>
              <a:t>$1,500</a:t>
            </a:r>
            <a:endParaRPr lang="en-US" sz="4400" dirty="0"/>
          </a:p>
        </p:txBody>
      </p:sp>
      <p:sp>
        <p:nvSpPr>
          <p:cNvPr id="19" name="Text 17"/>
          <p:cNvSpPr/>
          <p:nvPr/>
        </p:nvSpPr>
        <p:spPr>
          <a:xfrm>
            <a:off x="996696" y="5120640"/>
            <a:ext cx="2802026" cy="310896"/>
          </a:xfrm>
          <a:prstGeom prst="rect">
            <a:avLst/>
          </a:prstGeom>
          <a:noFill/>
          <a:ln/>
        </p:spPr>
        <p:txBody>
          <a:bodyPr wrap="square" lIns="0" tIns="0" rIns="0" bIns="0" rtlCol="0" anchor="ctr"/>
          <a:lstStyle/>
          <a:p>
            <a:pPr indent="0" marL="0">
              <a:buNone/>
            </a:pPr>
            <a:r>
              <a:rPr lang="en-US" sz="1400" b="1" dirty="0">
                <a:solidFill>
                  <a:srgbClr val="F0EBE0"/>
                </a:solidFill>
                <a:latin typeface="Calibri" pitchFamily="34" charset="0"/>
                <a:ea typeface="Calibri" pitchFamily="34" charset="-122"/>
                <a:cs typeface="Calibri" pitchFamily="34" charset="-120"/>
              </a:rPr>
              <a:t>Monthly ad spend</a:t>
            </a:r>
            <a:endParaRPr lang="en-US" sz="1400" dirty="0"/>
          </a:p>
        </p:txBody>
      </p:sp>
      <p:sp>
        <p:nvSpPr>
          <p:cNvPr id="20" name="Text 18"/>
          <p:cNvSpPr/>
          <p:nvPr/>
        </p:nvSpPr>
        <p:spPr>
          <a:xfrm>
            <a:off x="996696" y="5431536"/>
            <a:ext cx="2802026" cy="384048"/>
          </a:xfrm>
          <a:prstGeom prst="rect">
            <a:avLst/>
          </a:prstGeom>
          <a:noFill/>
          <a:ln/>
        </p:spPr>
        <p:txBody>
          <a:bodyPr wrap="square" lIns="0" tIns="0" rIns="0" bIns="0" rtlCol="0" anchor="t"/>
          <a:lstStyle/>
          <a:p>
            <a:pPr indent="0" marL="0">
              <a:lnSpc>
                <a:spcPct val="112000"/>
              </a:lnSpc>
              <a:buNone/>
            </a:pPr>
            <a:r>
              <a:rPr lang="en-US" sz="1150" dirty="0">
                <a:solidFill>
                  <a:srgbClr val="A8A093"/>
                </a:solidFill>
                <a:latin typeface="Calibri" pitchFamily="34" charset="0"/>
                <a:ea typeface="Calibri" pitchFamily="34" charset="-122"/>
                <a:cs typeface="Calibri" pitchFamily="34" charset="-120"/>
              </a:rPr>
              <a:t>Paid by you, straight to the platform</a:t>
            </a:r>
            <a:endParaRPr lang="en-US" sz="1150" dirty="0"/>
          </a:p>
        </p:txBody>
      </p:sp>
      <p:sp>
        <p:nvSpPr>
          <p:cNvPr id="21" name="Shape 19"/>
          <p:cNvSpPr/>
          <p:nvPr/>
        </p:nvSpPr>
        <p:spPr>
          <a:xfrm>
            <a:off x="4383938" y="4187952"/>
            <a:ext cx="3423818" cy="1810512"/>
          </a:xfrm>
          <a:prstGeom prst="roundRect">
            <a:avLst>
              <a:gd name="adj" fmla="val 4545"/>
            </a:avLst>
          </a:prstGeom>
          <a:solidFill>
            <a:srgbClr val="141414"/>
          </a:solidFill>
          <a:ln/>
        </p:spPr>
      </p:sp>
      <p:sp>
        <p:nvSpPr>
          <p:cNvPr id="22" name="Text 20"/>
          <p:cNvSpPr/>
          <p:nvPr/>
        </p:nvSpPr>
        <p:spPr>
          <a:xfrm>
            <a:off x="4694834" y="4370832"/>
            <a:ext cx="2802026" cy="713232"/>
          </a:xfrm>
          <a:prstGeom prst="rect">
            <a:avLst/>
          </a:prstGeom>
          <a:noFill/>
          <a:ln/>
        </p:spPr>
        <p:txBody>
          <a:bodyPr wrap="square" lIns="0" tIns="0" rIns="0" bIns="0" rtlCol="0" anchor="ctr"/>
          <a:lstStyle/>
          <a:p>
            <a:pPr indent="0" marL="0">
              <a:buNone/>
            </a:pPr>
            <a:r>
              <a:rPr lang="en-US" sz="4400" b="1" dirty="0">
                <a:solidFill>
                  <a:srgbClr val="D2703C"/>
                </a:solidFill>
                <a:latin typeface="Cambria" pitchFamily="34" charset="0"/>
                <a:ea typeface="Cambria" pitchFamily="34" charset="-122"/>
                <a:cs typeface="Cambria" pitchFamily="34" charset="-120"/>
              </a:rPr>
              <a:t>$3,500</a:t>
            </a:r>
            <a:endParaRPr lang="en-US" sz="4400" dirty="0"/>
          </a:p>
        </p:txBody>
      </p:sp>
      <p:sp>
        <p:nvSpPr>
          <p:cNvPr id="23" name="Text 21"/>
          <p:cNvSpPr/>
          <p:nvPr/>
        </p:nvSpPr>
        <p:spPr>
          <a:xfrm>
            <a:off x="4694834" y="5120640"/>
            <a:ext cx="2802026" cy="310896"/>
          </a:xfrm>
          <a:prstGeom prst="rect">
            <a:avLst/>
          </a:prstGeom>
          <a:noFill/>
          <a:ln/>
        </p:spPr>
        <p:txBody>
          <a:bodyPr wrap="square" lIns="0" tIns="0" rIns="0" bIns="0" rtlCol="0" anchor="ctr"/>
          <a:lstStyle/>
          <a:p>
            <a:pPr indent="0" marL="0">
              <a:buNone/>
            </a:pPr>
            <a:r>
              <a:rPr lang="en-US" sz="1400" b="1" dirty="0">
                <a:solidFill>
                  <a:srgbClr val="F0EBE0"/>
                </a:solidFill>
                <a:latin typeface="Calibri" pitchFamily="34" charset="0"/>
                <a:ea typeface="Calibri" pitchFamily="34" charset="-122"/>
                <a:cs typeface="Calibri" pitchFamily="34" charset="-120"/>
              </a:rPr>
              <a:t>Combined monthly total</a:t>
            </a:r>
            <a:endParaRPr lang="en-US" sz="1400" dirty="0"/>
          </a:p>
        </p:txBody>
      </p:sp>
      <p:sp>
        <p:nvSpPr>
          <p:cNvPr id="24" name="Text 22"/>
          <p:cNvSpPr/>
          <p:nvPr/>
        </p:nvSpPr>
        <p:spPr>
          <a:xfrm>
            <a:off x="4694834" y="5431536"/>
            <a:ext cx="2802026" cy="384048"/>
          </a:xfrm>
          <a:prstGeom prst="rect">
            <a:avLst/>
          </a:prstGeom>
          <a:noFill/>
          <a:ln/>
        </p:spPr>
        <p:txBody>
          <a:bodyPr wrap="square" lIns="0" tIns="0" rIns="0" bIns="0" rtlCol="0" anchor="t"/>
          <a:lstStyle/>
          <a:p>
            <a:pPr indent="0" marL="0">
              <a:lnSpc>
                <a:spcPct val="112000"/>
              </a:lnSpc>
              <a:buNone/>
            </a:pPr>
            <a:r>
              <a:rPr lang="en-US" sz="1150" dirty="0">
                <a:solidFill>
                  <a:srgbClr val="A8A093"/>
                </a:solidFill>
                <a:latin typeface="Calibri" pitchFamily="34" charset="0"/>
                <a:ea typeface="Calibri" pitchFamily="34" charset="-122"/>
                <a:cs typeface="Calibri" pitchFamily="34" charset="-120"/>
              </a:rPr>
              <a:t>Ad spend plus the retainer</a:t>
            </a:r>
            <a:endParaRPr lang="en-US" sz="1150" dirty="0"/>
          </a:p>
        </p:txBody>
      </p:sp>
      <p:sp>
        <p:nvSpPr>
          <p:cNvPr id="25" name="Shape 23"/>
          <p:cNvSpPr/>
          <p:nvPr/>
        </p:nvSpPr>
        <p:spPr>
          <a:xfrm>
            <a:off x="8082077" y="4187952"/>
            <a:ext cx="3423818" cy="1810512"/>
          </a:xfrm>
          <a:prstGeom prst="roundRect">
            <a:avLst>
              <a:gd name="adj" fmla="val 4545"/>
            </a:avLst>
          </a:prstGeom>
          <a:solidFill>
            <a:srgbClr val="141414"/>
          </a:solidFill>
          <a:ln/>
        </p:spPr>
      </p:sp>
      <p:sp>
        <p:nvSpPr>
          <p:cNvPr id="26" name="Text 24"/>
          <p:cNvSpPr/>
          <p:nvPr/>
        </p:nvSpPr>
        <p:spPr>
          <a:xfrm>
            <a:off x="8392973" y="4370832"/>
            <a:ext cx="2802026" cy="713232"/>
          </a:xfrm>
          <a:prstGeom prst="rect">
            <a:avLst/>
          </a:prstGeom>
          <a:noFill/>
          <a:ln/>
        </p:spPr>
        <p:txBody>
          <a:bodyPr wrap="square" lIns="0" tIns="0" rIns="0" bIns="0" rtlCol="0" anchor="ctr"/>
          <a:lstStyle/>
          <a:p>
            <a:pPr indent="0" marL="0">
              <a:buNone/>
            </a:pPr>
            <a:r>
              <a:rPr lang="en-US" sz="4400" b="1" dirty="0">
                <a:solidFill>
                  <a:srgbClr val="00A093"/>
                </a:solidFill>
                <a:latin typeface="Cambria" pitchFamily="34" charset="0"/>
                <a:ea typeface="Cambria" pitchFamily="34" charset="-122"/>
                <a:cs typeface="Cambria" pitchFamily="34" charset="-120"/>
              </a:rPr>
              <a:t>$0</a:t>
            </a:r>
            <a:endParaRPr lang="en-US" sz="4400" dirty="0"/>
          </a:p>
        </p:txBody>
      </p:sp>
      <p:sp>
        <p:nvSpPr>
          <p:cNvPr id="27" name="Text 25"/>
          <p:cNvSpPr/>
          <p:nvPr/>
        </p:nvSpPr>
        <p:spPr>
          <a:xfrm>
            <a:off x="8392973" y="5120640"/>
            <a:ext cx="2802026" cy="310896"/>
          </a:xfrm>
          <a:prstGeom prst="rect">
            <a:avLst/>
          </a:prstGeom>
          <a:noFill/>
          <a:ln/>
        </p:spPr>
        <p:txBody>
          <a:bodyPr wrap="square" lIns="0" tIns="0" rIns="0" bIns="0" rtlCol="0" anchor="ctr"/>
          <a:lstStyle/>
          <a:p>
            <a:pPr indent="0" marL="0">
              <a:buNone/>
            </a:pPr>
            <a:r>
              <a:rPr lang="en-US" sz="1400" b="1" dirty="0">
                <a:solidFill>
                  <a:srgbClr val="F0EBE0"/>
                </a:solidFill>
                <a:latin typeface="Calibri" pitchFamily="34" charset="0"/>
                <a:ea typeface="Calibri" pitchFamily="34" charset="-122"/>
                <a:cs typeface="Calibri" pitchFamily="34" charset="-120"/>
              </a:rPr>
              <a:t>Startup fee</a:t>
            </a:r>
            <a:endParaRPr lang="en-US" sz="1400" dirty="0"/>
          </a:p>
        </p:txBody>
      </p:sp>
      <p:sp>
        <p:nvSpPr>
          <p:cNvPr id="28" name="Text 26"/>
          <p:cNvSpPr/>
          <p:nvPr/>
        </p:nvSpPr>
        <p:spPr>
          <a:xfrm>
            <a:off x="8392973" y="5431536"/>
            <a:ext cx="2802026" cy="384048"/>
          </a:xfrm>
          <a:prstGeom prst="rect">
            <a:avLst/>
          </a:prstGeom>
          <a:noFill/>
          <a:ln/>
        </p:spPr>
        <p:txBody>
          <a:bodyPr wrap="square" lIns="0" tIns="0" rIns="0" bIns="0" rtlCol="0" anchor="t"/>
          <a:lstStyle/>
          <a:p>
            <a:pPr indent="0" marL="0">
              <a:lnSpc>
                <a:spcPct val="112000"/>
              </a:lnSpc>
              <a:buNone/>
            </a:pPr>
            <a:r>
              <a:rPr lang="en-US" sz="1150" dirty="0">
                <a:solidFill>
                  <a:srgbClr val="A8A093"/>
                </a:solidFill>
                <a:latin typeface="Calibri" pitchFamily="34" charset="0"/>
                <a:ea typeface="Calibri" pitchFamily="34" charset="-122"/>
                <a:cs typeface="Calibri" pitchFamily="34" charset="-120"/>
              </a:rPr>
              <a:t>Nothing to get started</a:t>
            </a:r>
            <a:endParaRPr lang="en-US" sz="1150" dirty="0"/>
          </a:p>
        </p:txBody>
      </p:sp>
      <p:sp>
        <p:nvSpPr>
          <p:cNvPr id="29" name="Text 27"/>
          <p:cNvSpPr/>
          <p:nvPr/>
        </p:nvSpPr>
        <p:spPr>
          <a:xfrm>
            <a:off x="685800" y="6327648"/>
            <a:ext cx="5486400" cy="274320"/>
          </a:xfrm>
          <a:prstGeom prst="rect">
            <a:avLst/>
          </a:prstGeom>
          <a:noFill/>
          <a:ln/>
        </p:spPr>
        <p:txBody>
          <a:bodyPr wrap="square" lIns="0" tIns="0" rIns="0" bIns="0" rtlCol="0" anchor="ctr"/>
          <a:lstStyle/>
          <a:p>
            <a:pPr indent="0" marL="0">
              <a:buNone/>
            </a:pPr>
            <a:r>
              <a:rPr lang="en-US" sz="850" spc="160" kern="0" dirty="0">
                <a:solidFill>
                  <a:srgbClr val="9A9080"/>
                </a:solidFill>
                <a:latin typeface="Calibri" pitchFamily="34" charset="0"/>
                <a:ea typeface="Calibri" pitchFamily="34" charset="-122"/>
                <a:cs typeface="Calibri" pitchFamily="34" charset="-120"/>
              </a:rPr>
              <a:t>STAY BOOKED MARKETING  ·  CLIENT KICKOFF</a:t>
            </a:r>
            <a:endParaRPr lang="en-US" sz="850" dirty="0"/>
          </a:p>
        </p:txBody>
      </p:sp>
      <p:sp>
        <p:nvSpPr>
          <p:cNvPr id="30" name="Text 28"/>
          <p:cNvSpPr/>
          <p:nvPr/>
        </p:nvSpPr>
        <p:spPr>
          <a:xfrm>
            <a:off x="10591495" y="6327648"/>
            <a:ext cx="914400" cy="274320"/>
          </a:xfrm>
          <a:prstGeom prst="rect">
            <a:avLst/>
          </a:prstGeom>
          <a:noFill/>
          <a:ln/>
        </p:spPr>
        <p:txBody>
          <a:bodyPr wrap="square" lIns="0" tIns="0" rIns="0" bIns="0" rtlCol="0" anchor="ctr"/>
          <a:lstStyle/>
          <a:p>
            <a:pPr algn="r" indent="0" marL="0">
              <a:buNone/>
            </a:pPr>
            <a:r>
              <a:rPr lang="en-US" sz="850" spc="160" kern="0" dirty="0">
                <a:solidFill>
                  <a:srgbClr val="9A9080"/>
                </a:solidFill>
                <a:latin typeface="Calibri" pitchFamily="34" charset="0"/>
                <a:ea typeface="Calibri" pitchFamily="34" charset="-122"/>
                <a:cs typeface="Calibri" pitchFamily="34" charset="-120"/>
              </a:rPr>
              <a:t>02</a:t>
            </a:r>
            <a:endParaRPr lang="en-US" sz="850" dirty="0"/>
          </a:p>
        </p:txBody>
      </p:sp>
      <p:pic>
        <p:nvPicPr>
          <p:cNvPr id="31" name="Image 0" descr="assets/logo_black.png">    </p:cNvPr>
          <p:cNvPicPr>
            <a:picLocks noChangeAspect="1"/>
          </p:cNvPicPr>
          <p:nvPr/>
        </p:nvPicPr>
        <p:blipFill>
          <a:blip r:embed="rId1">
            <a:alphaModFix amt="22000"/>
          </a:blip>
          <a:stretch>
            <a:fillRect/>
          </a:stretch>
        </p:blipFill>
        <p:spPr>
          <a:xfrm>
            <a:off x="10847527" y="384048"/>
            <a:ext cx="658368" cy="20939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414"/>
        </a:solidFill>
      </p:bgPr>
    </p:bg>
    <p:spTree>
      <p:nvGrpSpPr>
        <p:cNvPr id="1" name=""/>
        <p:cNvGrpSpPr/>
        <p:nvPr/>
      </p:nvGrpSpPr>
      <p:grpSpPr>
        <a:xfrm>
          <a:off x="0" y="0"/>
          <a:ext cx="0" cy="0"/>
          <a:chOff x="0" y="0"/>
          <a:chExt cx="0" cy="0"/>
        </a:xfrm>
      </p:grpSpPr>
      <p:sp>
        <p:nvSpPr>
          <p:cNvPr id="2" name="Shape 0"/>
          <p:cNvSpPr/>
          <p:nvPr/>
        </p:nvSpPr>
        <p:spPr>
          <a:xfrm>
            <a:off x="8366760" y="1051560"/>
            <a:ext cx="3383280" cy="3383280"/>
          </a:xfrm>
          <a:prstGeom prst="ellipse">
            <a:avLst/>
          </a:prstGeom>
          <a:ln w="19050">
            <a:solidFill>
              <a:srgbClr val="38200F"/>
            </a:solidFill>
            <a:prstDash val="solid"/>
          </a:ln>
        </p:spPr>
      </p:sp>
      <p:sp>
        <p:nvSpPr>
          <p:cNvPr id="3" name="Text 1"/>
          <p:cNvSpPr/>
          <p:nvPr/>
        </p:nvSpPr>
        <p:spPr>
          <a:xfrm>
            <a:off x="8366760" y="1051560"/>
            <a:ext cx="3383280" cy="3383280"/>
          </a:xfrm>
          <a:prstGeom prst="rect">
            <a:avLst/>
          </a:prstGeom>
          <a:noFill/>
          <a:ln/>
        </p:spPr>
        <p:txBody>
          <a:bodyPr wrap="square" lIns="0" tIns="0" rIns="0" bIns="0" rtlCol="0" anchor="ctr"/>
          <a:lstStyle/>
          <a:p>
            <a:pPr algn="ctr" indent="0" marL="0">
              <a:buNone/>
            </a:pPr>
            <a:r>
              <a:rPr lang="en-US" sz="12800" b="1" dirty="0">
                <a:solidFill>
                  <a:srgbClr val="38200F"/>
                </a:solidFill>
                <a:latin typeface="Cambria" pitchFamily="34" charset="0"/>
                <a:ea typeface="Cambria" pitchFamily="34" charset="-122"/>
                <a:cs typeface="Cambria" pitchFamily="34" charset="-120"/>
              </a:rPr>
              <a:t>01</a:t>
            </a:r>
            <a:endParaRPr lang="en-US" sz="12800" dirty="0"/>
          </a:p>
        </p:txBody>
      </p:sp>
      <p:sp>
        <p:nvSpPr>
          <p:cNvPr id="4" name="Text 2"/>
          <p:cNvSpPr/>
          <p:nvPr/>
        </p:nvSpPr>
        <p:spPr>
          <a:xfrm>
            <a:off x="685800" y="1417320"/>
            <a:ext cx="6400800" cy="274320"/>
          </a:xfrm>
          <a:prstGeom prst="rect">
            <a:avLst/>
          </a:prstGeom>
          <a:noFill/>
          <a:ln/>
        </p:spPr>
        <p:txBody>
          <a:bodyPr wrap="square" lIns="0" tIns="0" rIns="0" bIns="0" rtlCol="0" anchor="ctr"/>
          <a:lstStyle/>
          <a:p>
            <a:pPr indent="0" marL="0">
              <a:buNone/>
            </a:pPr>
            <a:r>
              <a:rPr lang="en-US" sz="1100" b="1" spc="320" kern="0" dirty="0">
                <a:solidFill>
                  <a:srgbClr val="E08A5F"/>
                </a:solidFill>
                <a:latin typeface="Calibri" pitchFamily="34" charset="0"/>
                <a:ea typeface="Calibri" pitchFamily="34" charset="-122"/>
                <a:cs typeface="Calibri" pitchFamily="34" charset="-120"/>
              </a:rPr>
              <a:t>PART ONE OF THREE</a:t>
            </a:r>
            <a:endParaRPr lang="en-US" sz="1100" dirty="0"/>
          </a:p>
        </p:txBody>
      </p:sp>
      <p:sp>
        <p:nvSpPr>
          <p:cNvPr id="5" name="Text 3"/>
          <p:cNvSpPr/>
          <p:nvPr/>
        </p:nvSpPr>
        <p:spPr>
          <a:xfrm>
            <a:off x="685800" y="1847088"/>
            <a:ext cx="713232" cy="713232"/>
          </a:xfrm>
          <a:prstGeom prst="ellipse">
            <a:avLst/>
          </a:prstGeom>
          <a:solidFill>
            <a:srgbClr val="C0532A"/>
          </a:solidFill>
          <a:ln/>
        </p:spPr>
        <p:txBody>
          <a:bodyPr wrap="square" lIns="0" tIns="0" rIns="0" bIns="0" rtlCol="0" anchor="ctr"/>
          <a:lstStyle/>
          <a:p>
            <a:pPr algn="ctr" indent="0" marL="0">
              <a:buNone/>
            </a:pPr>
            <a:r>
              <a:rPr lang="en-US" sz="1700" b="1" dirty="0">
                <a:solidFill>
                  <a:srgbClr val="F0EBE0"/>
                </a:solidFill>
                <a:latin typeface="Calibri" pitchFamily="34" charset="0"/>
                <a:ea typeface="Calibri" pitchFamily="34" charset="-122"/>
                <a:cs typeface="Calibri" pitchFamily="34" charset="-120"/>
              </a:rPr>
              <a:t>01</a:t>
            </a:r>
            <a:endParaRPr lang="en-US" sz="1700" dirty="0"/>
          </a:p>
        </p:txBody>
      </p:sp>
      <p:sp>
        <p:nvSpPr>
          <p:cNvPr id="6" name="Text 4"/>
          <p:cNvSpPr/>
          <p:nvPr/>
        </p:nvSpPr>
        <p:spPr>
          <a:xfrm>
            <a:off x="1618488" y="1847088"/>
            <a:ext cx="6675120" cy="713232"/>
          </a:xfrm>
          <a:prstGeom prst="rect">
            <a:avLst/>
          </a:prstGeom>
          <a:noFill/>
          <a:ln/>
        </p:spPr>
        <p:txBody>
          <a:bodyPr wrap="square" lIns="0" tIns="0" rIns="0" bIns="0" rtlCol="0" anchor="ctr"/>
          <a:lstStyle/>
          <a:p>
            <a:pPr indent="0" marL="0">
              <a:buNone/>
            </a:pPr>
            <a:r>
              <a:rPr lang="en-US" sz="3400" b="1" dirty="0">
                <a:solidFill>
                  <a:srgbClr val="F0EBE0"/>
                </a:solidFill>
                <a:latin typeface="Cambria" pitchFamily="34" charset="0"/>
                <a:ea typeface="Cambria" pitchFamily="34" charset="-122"/>
                <a:cs typeface="Cambria" pitchFamily="34" charset="-120"/>
              </a:rPr>
              <a:t>Money &amp; Strategy</a:t>
            </a:r>
            <a:endParaRPr lang="en-US" sz="3400" dirty="0"/>
          </a:p>
        </p:txBody>
      </p:sp>
      <p:sp>
        <p:nvSpPr>
          <p:cNvPr id="7" name="Text 5"/>
          <p:cNvSpPr/>
          <p:nvPr/>
        </p:nvSpPr>
        <p:spPr>
          <a:xfrm>
            <a:off x="685800" y="2761488"/>
            <a:ext cx="7680960" cy="365760"/>
          </a:xfrm>
          <a:prstGeom prst="rect">
            <a:avLst/>
          </a:prstGeom>
          <a:noFill/>
          <a:ln/>
        </p:spPr>
        <p:txBody>
          <a:bodyPr wrap="square" lIns="0" tIns="0" rIns="0" bIns="0" rtlCol="0" anchor="ctr"/>
          <a:lstStyle/>
          <a:p>
            <a:pPr indent="0" marL="0">
              <a:buNone/>
            </a:pPr>
            <a:r>
              <a:rPr lang="en-US" sz="1900" i="1" dirty="0">
                <a:solidFill>
                  <a:srgbClr val="E08A5F"/>
                </a:solidFill>
                <a:latin typeface="Cambria" pitchFamily="34" charset="0"/>
                <a:ea typeface="Cambria" pitchFamily="34" charset="-122"/>
                <a:cs typeface="Cambria" pitchFamily="34" charset="-120"/>
              </a:rPr>
              <a:t>Performance guarantee, ad spend, billing, and timeline</a:t>
            </a:r>
            <a:endParaRPr lang="en-US" sz="1900" dirty="0"/>
          </a:p>
        </p:txBody>
      </p:sp>
      <p:sp>
        <p:nvSpPr>
          <p:cNvPr id="8" name="Text 6"/>
          <p:cNvSpPr/>
          <p:nvPr/>
        </p:nvSpPr>
        <p:spPr>
          <a:xfrm>
            <a:off x="685800" y="3273552"/>
            <a:ext cx="7132320" cy="603504"/>
          </a:xfrm>
          <a:prstGeom prst="rect">
            <a:avLst/>
          </a:prstGeom>
          <a:noFill/>
          <a:ln/>
        </p:spPr>
        <p:txBody>
          <a:bodyPr wrap="square" lIns="0" tIns="0" rIns="0" bIns="0" rtlCol="0" anchor="t"/>
          <a:lstStyle/>
          <a:p>
            <a:pPr indent="0" marL="0">
              <a:lnSpc>
                <a:spcPct val="120000"/>
              </a:lnSpc>
              <a:buNone/>
            </a:pPr>
            <a:r>
              <a:rPr lang="en-US" sz="1350" dirty="0">
                <a:solidFill>
                  <a:srgbClr val="A8A093"/>
                </a:solidFill>
                <a:latin typeface="Calibri" pitchFamily="34" charset="0"/>
                <a:ea typeface="Calibri" pitchFamily="34" charset="-122"/>
                <a:cs typeface="Calibri" pitchFamily="34" charset="-120"/>
              </a:rPr>
              <a:t>What the practice is committing, what Stay Booked is guaranteeing in return, and what the first six months realistically look like.</a:t>
            </a:r>
            <a:endParaRPr lang="en-US" sz="1350" dirty="0"/>
          </a:p>
        </p:txBody>
      </p:sp>
      <p:sp>
        <p:nvSpPr>
          <p:cNvPr id="9" name="Shape 7"/>
          <p:cNvSpPr/>
          <p:nvPr/>
        </p:nvSpPr>
        <p:spPr>
          <a:xfrm>
            <a:off x="685800" y="4617720"/>
            <a:ext cx="2533574" cy="868680"/>
          </a:xfrm>
          <a:prstGeom prst="roundRect">
            <a:avLst>
              <a:gd name="adj" fmla="val 9474"/>
            </a:avLst>
          </a:prstGeom>
          <a:solidFill>
            <a:srgbClr val="201E1A"/>
          </a:solidFill>
          <a:ln w="9525">
            <a:solidFill>
              <a:srgbClr val="35302A"/>
            </a:solidFill>
            <a:prstDash val="solid"/>
          </a:ln>
        </p:spPr>
      </p:sp>
      <p:sp>
        <p:nvSpPr>
          <p:cNvPr id="10" name="Text 8"/>
          <p:cNvSpPr/>
          <p:nvPr/>
        </p:nvSpPr>
        <p:spPr>
          <a:xfrm>
            <a:off x="905256" y="4754880"/>
            <a:ext cx="914400" cy="201168"/>
          </a:xfrm>
          <a:prstGeom prst="rect">
            <a:avLst/>
          </a:prstGeom>
          <a:noFill/>
          <a:ln/>
        </p:spPr>
        <p:txBody>
          <a:bodyPr wrap="square" lIns="0" tIns="0" rIns="0" bIns="0" rtlCol="0" anchor="ctr"/>
          <a:lstStyle/>
          <a:p>
            <a:pPr indent="0" marL="0">
              <a:buNone/>
            </a:pPr>
            <a:r>
              <a:rPr lang="en-US" sz="900" b="1" spc="160" kern="0" dirty="0">
                <a:solidFill>
                  <a:srgbClr val="E08A5F"/>
                </a:solidFill>
                <a:latin typeface="Calibri" pitchFamily="34" charset="0"/>
                <a:ea typeface="Calibri" pitchFamily="34" charset="-122"/>
                <a:cs typeface="Calibri" pitchFamily="34" charset="-120"/>
              </a:rPr>
              <a:t>01</a:t>
            </a:r>
            <a:endParaRPr lang="en-US" sz="900" dirty="0"/>
          </a:p>
        </p:txBody>
      </p:sp>
      <p:sp>
        <p:nvSpPr>
          <p:cNvPr id="11" name="Text 9"/>
          <p:cNvSpPr/>
          <p:nvPr/>
        </p:nvSpPr>
        <p:spPr>
          <a:xfrm>
            <a:off x="905256" y="4974336"/>
            <a:ext cx="2094662" cy="402336"/>
          </a:xfrm>
          <a:prstGeom prst="rect">
            <a:avLst/>
          </a:prstGeom>
          <a:noFill/>
          <a:ln/>
        </p:spPr>
        <p:txBody>
          <a:bodyPr wrap="square" lIns="0" tIns="0" rIns="0" bIns="0" rtlCol="0" anchor="ctr"/>
          <a:lstStyle/>
          <a:p>
            <a:pPr indent="0" marL="0">
              <a:buNone/>
            </a:pPr>
            <a:r>
              <a:rPr lang="en-US" sz="1250" b="1" dirty="0">
                <a:solidFill>
                  <a:srgbClr val="F0EBE0"/>
                </a:solidFill>
                <a:latin typeface="Calibri" pitchFamily="34" charset="0"/>
                <a:ea typeface="Calibri" pitchFamily="34" charset="-122"/>
                <a:cs typeface="Calibri" pitchFamily="34" charset="-120"/>
              </a:rPr>
              <a:t>Performance Guarantee</a:t>
            </a:r>
            <a:endParaRPr lang="en-US" sz="1250" dirty="0"/>
          </a:p>
        </p:txBody>
      </p:sp>
      <p:sp>
        <p:nvSpPr>
          <p:cNvPr id="12" name="Shape 10"/>
          <p:cNvSpPr/>
          <p:nvPr/>
        </p:nvSpPr>
        <p:spPr>
          <a:xfrm>
            <a:off x="3447974" y="4617720"/>
            <a:ext cx="2533574" cy="868680"/>
          </a:xfrm>
          <a:prstGeom prst="roundRect">
            <a:avLst>
              <a:gd name="adj" fmla="val 9474"/>
            </a:avLst>
          </a:prstGeom>
          <a:solidFill>
            <a:srgbClr val="201E1A"/>
          </a:solidFill>
          <a:ln w="9525">
            <a:solidFill>
              <a:srgbClr val="35302A"/>
            </a:solidFill>
            <a:prstDash val="solid"/>
          </a:ln>
        </p:spPr>
      </p:sp>
      <p:sp>
        <p:nvSpPr>
          <p:cNvPr id="13" name="Text 11"/>
          <p:cNvSpPr/>
          <p:nvPr/>
        </p:nvSpPr>
        <p:spPr>
          <a:xfrm>
            <a:off x="3667430" y="4754880"/>
            <a:ext cx="914400" cy="201168"/>
          </a:xfrm>
          <a:prstGeom prst="rect">
            <a:avLst/>
          </a:prstGeom>
          <a:noFill/>
          <a:ln/>
        </p:spPr>
        <p:txBody>
          <a:bodyPr wrap="square" lIns="0" tIns="0" rIns="0" bIns="0" rtlCol="0" anchor="ctr"/>
          <a:lstStyle/>
          <a:p>
            <a:pPr indent="0" marL="0">
              <a:buNone/>
            </a:pPr>
            <a:r>
              <a:rPr lang="en-US" sz="900" b="1" spc="160" kern="0" dirty="0">
                <a:solidFill>
                  <a:srgbClr val="E08A5F"/>
                </a:solidFill>
                <a:latin typeface="Calibri" pitchFamily="34" charset="0"/>
                <a:ea typeface="Calibri" pitchFamily="34" charset="-122"/>
                <a:cs typeface="Calibri" pitchFamily="34" charset="-120"/>
              </a:rPr>
              <a:t>02</a:t>
            </a:r>
            <a:endParaRPr lang="en-US" sz="900" dirty="0"/>
          </a:p>
        </p:txBody>
      </p:sp>
      <p:sp>
        <p:nvSpPr>
          <p:cNvPr id="14" name="Text 12"/>
          <p:cNvSpPr/>
          <p:nvPr/>
        </p:nvSpPr>
        <p:spPr>
          <a:xfrm>
            <a:off x="3667430" y="4974336"/>
            <a:ext cx="2094662" cy="402336"/>
          </a:xfrm>
          <a:prstGeom prst="rect">
            <a:avLst/>
          </a:prstGeom>
          <a:noFill/>
          <a:ln/>
        </p:spPr>
        <p:txBody>
          <a:bodyPr wrap="square" lIns="0" tIns="0" rIns="0" bIns="0" rtlCol="0" anchor="ctr"/>
          <a:lstStyle/>
          <a:p>
            <a:pPr indent="0" marL="0">
              <a:buNone/>
            </a:pPr>
            <a:r>
              <a:rPr lang="en-US" sz="1250" b="1" dirty="0">
                <a:solidFill>
                  <a:srgbClr val="F0EBE0"/>
                </a:solidFill>
                <a:latin typeface="Calibri" pitchFamily="34" charset="0"/>
                <a:ea typeface="Calibri" pitchFamily="34" charset="-122"/>
                <a:cs typeface="Calibri" pitchFamily="34" charset="-120"/>
              </a:rPr>
              <a:t>Timeline &amp; Ramp-Up</a:t>
            </a:r>
            <a:endParaRPr lang="en-US" sz="1250" dirty="0"/>
          </a:p>
        </p:txBody>
      </p:sp>
      <p:sp>
        <p:nvSpPr>
          <p:cNvPr id="15" name="Shape 13"/>
          <p:cNvSpPr/>
          <p:nvPr/>
        </p:nvSpPr>
        <p:spPr>
          <a:xfrm>
            <a:off x="6210148" y="4617720"/>
            <a:ext cx="2533574" cy="868680"/>
          </a:xfrm>
          <a:prstGeom prst="roundRect">
            <a:avLst>
              <a:gd name="adj" fmla="val 9474"/>
            </a:avLst>
          </a:prstGeom>
          <a:solidFill>
            <a:srgbClr val="201E1A"/>
          </a:solidFill>
          <a:ln w="9525">
            <a:solidFill>
              <a:srgbClr val="35302A"/>
            </a:solidFill>
            <a:prstDash val="solid"/>
          </a:ln>
        </p:spPr>
      </p:sp>
      <p:sp>
        <p:nvSpPr>
          <p:cNvPr id="16" name="Text 14"/>
          <p:cNvSpPr/>
          <p:nvPr/>
        </p:nvSpPr>
        <p:spPr>
          <a:xfrm>
            <a:off x="6429604" y="4754880"/>
            <a:ext cx="914400" cy="201168"/>
          </a:xfrm>
          <a:prstGeom prst="rect">
            <a:avLst/>
          </a:prstGeom>
          <a:noFill/>
          <a:ln/>
        </p:spPr>
        <p:txBody>
          <a:bodyPr wrap="square" lIns="0" tIns="0" rIns="0" bIns="0" rtlCol="0" anchor="ctr"/>
          <a:lstStyle/>
          <a:p>
            <a:pPr indent="0" marL="0">
              <a:buNone/>
            </a:pPr>
            <a:r>
              <a:rPr lang="en-US" sz="900" b="1" spc="160" kern="0" dirty="0">
                <a:solidFill>
                  <a:srgbClr val="E08A5F"/>
                </a:solidFill>
                <a:latin typeface="Calibri" pitchFamily="34" charset="0"/>
                <a:ea typeface="Calibri" pitchFamily="34" charset="-122"/>
                <a:cs typeface="Calibri" pitchFamily="34" charset="-120"/>
              </a:rPr>
              <a:t>03</a:t>
            </a:r>
            <a:endParaRPr lang="en-US" sz="900" dirty="0"/>
          </a:p>
        </p:txBody>
      </p:sp>
      <p:sp>
        <p:nvSpPr>
          <p:cNvPr id="17" name="Text 15"/>
          <p:cNvSpPr/>
          <p:nvPr/>
        </p:nvSpPr>
        <p:spPr>
          <a:xfrm>
            <a:off x="6429604" y="4974336"/>
            <a:ext cx="2094662" cy="402336"/>
          </a:xfrm>
          <a:prstGeom prst="rect">
            <a:avLst/>
          </a:prstGeom>
          <a:noFill/>
          <a:ln/>
        </p:spPr>
        <p:txBody>
          <a:bodyPr wrap="square" lIns="0" tIns="0" rIns="0" bIns="0" rtlCol="0" anchor="ctr"/>
          <a:lstStyle/>
          <a:p>
            <a:pPr indent="0" marL="0">
              <a:buNone/>
            </a:pPr>
            <a:r>
              <a:rPr lang="en-US" sz="1250" b="1" dirty="0">
                <a:solidFill>
                  <a:srgbClr val="F0EBE0"/>
                </a:solidFill>
                <a:latin typeface="Calibri" pitchFamily="34" charset="0"/>
                <a:ea typeface="Calibri" pitchFamily="34" charset="-122"/>
                <a:cs typeface="Calibri" pitchFamily="34" charset="-120"/>
              </a:rPr>
              <a:t>Ad Spend &amp; Billing</a:t>
            </a:r>
            <a:endParaRPr lang="en-US" sz="1250" dirty="0"/>
          </a:p>
        </p:txBody>
      </p:sp>
      <p:sp>
        <p:nvSpPr>
          <p:cNvPr id="18" name="Shape 16"/>
          <p:cNvSpPr/>
          <p:nvPr/>
        </p:nvSpPr>
        <p:spPr>
          <a:xfrm>
            <a:off x="8972321" y="4617720"/>
            <a:ext cx="2533574" cy="868680"/>
          </a:xfrm>
          <a:prstGeom prst="roundRect">
            <a:avLst>
              <a:gd name="adj" fmla="val 9474"/>
            </a:avLst>
          </a:prstGeom>
          <a:solidFill>
            <a:srgbClr val="201E1A"/>
          </a:solidFill>
          <a:ln w="9525">
            <a:solidFill>
              <a:srgbClr val="35302A"/>
            </a:solidFill>
            <a:prstDash val="solid"/>
          </a:ln>
        </p:spPr>
      </p:sp>
      <p:sp>
        <p:nvSpPr>
          <p:cNvPr id="19" name="Text 17"/>
          <p:cNvSpPr/>
          <p:nvPr/>
        </p:nvSpPr>
        <p:spPr>
          <a:xfrm>
            <a:off x="9191777" y="4754880"/>
            <a:ext cx="914400" cy="201168"/>
          </a:xfrm>
          <a:prstGeom prst="rect">
            <a:avLst/>
          </a:prstGeom>
          <a:noFill/>
          <a:ln/>
        </p:spPr>
        <p:txBody>
          <a:bodyPr wrap="square" lIns="0" tIns="0" rIns="0" bIns="0" rtlCol="0" anchor="ctr"/>
          <a:lstStyle/>
          <a:p>
            <a:pPr indent="0" marL="0">
              <a:buNone/>
            </a:pPr>
            <a:r>
              <a:rPr lang="en-US" sz="900" b="1" spc="160" kern="0" dirty="0">
                <a:solidFill>
                  <a:srgbClr val="E08A5F"/>
                </a:solidFill>
                <a:latin typeface="Calibri" pitchFamily="34" charset="0"/>
                <a:ea typeface="Calibri" pitchFamily="34" charset="-122"/>
                <a:cs typeface="Calibri" pitchFamily="34" charset="-120"/>
              </a:rPr>
              <a:t>04</a:t>
            </a:r>
            <a:endParaRPr lang="en-US" sz="900" dirty="0"/>
          </a:p>
        </p:txBody>
      </p:sp>
      <p:sp>
        <p:nvSpPr>
          <p:cNvPr id="20" name="Text 18"/>
          <p:cNvSpPr/>
          <p:nvPr/>
        </p:nvSpPr>
        <p:spPr>
          <a:xfrm>
            <a:off x="9191777" y="4974336"/>
            <a:ext cx="2094662" cy="402336"/>
          </a:xfrm>
          <a:prstGeom prst="rect">
            <a:avLst/>
          </a:prstGeom>
          <a:noFill/>
          <a:ln/>
        </p:spPr>
        <p:txBody>
          <a:bodyPr wrap="square" lIns="0" tIns="0" rIns="0" bIns="0" rtlCol="0" anchor="ctr"/>
          <a:lstStyle/>
          <a:p>
            <a:pPr indent="0" marL="0">
              <a:buNone/>
            </a:pPr>
            <a:r>
              <a:rPr lang="en-US" sz="1250" b="1" dirty="0">
                <a:solidFill>
                  <a:srgbClr val="F0EBE0"/>
                </a:solidFill>
                <a:latin typeface="Calibri" pitchFamily="34" charset="0"/>
                <a:ea typeface="Calibri" pitchFamily="34" charset="-122"/>
                <a:cs typeface="Calibri" pitchFamily="34" charset="-120"/>
              </a:rPr>
              <a:t>Troubleshooting</a:t>
            </a:r>
            <a:endParaRPr lang="en-US" sz="1250" dirty="0"/>
          </a:p>
        </p:txBody>
      </p:sp>
      <p:sp>
        <p:nvSpPr>
          <p:cNvPr id="21" name="Text 19"/>
          <p:cNvSpPr/>
          <p:nvPr/>
        </p:nvSpPr>
        <p:spPr>
          <a:xfrm>
            <a:off x="685800" y="6327648"/>
            <a:ext cx="5486400" cy="274320"/>
          </a:xfrm>
          <a:prstGeom prst="rect">
            <a:avLst/>
          </a:prstGeom>
          <a:noFill/>
          <a:ln/>
        </p:spPr>
        <p:txBody>
          <a:bodyPr wrap="square" lIns="0" tIns="0" rIns="0" bIns="0" rtlCol="0" anchor="ctr"/>
          <a:lstStyle/>
          <a:p>
            <a:pPr indent="0" marL="0">
              <a:buNone/>
            </a:pPr>
            <a:r>
              <a:rPr lang="en-US" sz="850" spc="160" kern="0" dirty="0">
                <a:solidFill>
                  <a:srgbClr val="5C554A"/>
                </a:solidFill>
                <a:latin typeface="Calibri" pitchFamily="34" charset="0"/>
                <a:ea typeface="Calibri" pitchFamily="34" charset="-122"/>
                <a:cs typeface="Calibri" pitchFamily="34" charset="-120"/>
              </a:rPr>
              <a:t>STAY BOOKED MARKETING  ·  CLIENT KICKOFF</a:t>
            </a:r>
            <a:endParaRPr lang="en-US" sz="850" dirty="0"/>
          </a:p>
        </p:txBody>
      </p:sp>
      <p:sp>
        <p:nvSpPr>
          <p:cNvPr id="22" name="Text 20"/>
          <p:cNvSpPr/>
          <p:nvPr/>
        </p:nvSpPr>
        <p:spPr>
          <a:xfrm>
            <a:off x="10591495" y="6327648"/>
            <a:ext cx="914400" cy="274320"/>
          </a:xfrm>
          <a:prstGeom prst="rect">
            <a:avLst/>
          </a:prstGeom>
          <a:noFill/>
          <a:ln/>
        </p:spPr>
        <p:txBody>
          <a:bodyPr wrap="square" lIns="0" tIns="0" rIns="0" bIns="0" rtlCol="0" anchor="ctr"/>
          <a:lstStyle/>
          <a:p>
            <a:pPr algn="r" indent="0" marL="0">
              <a:buNone/>
            </a:pPr>
            <a:r>
              <a:rPr lang="en-US" sz="850" spc="160" kern="0" dirty="0">
                <a:solidFill>
                  <a:srgbClr val="5C554A"/>
                </a:solidFill>
                <a:latin typeface="Calibri" pitchFamily="34" charset="0"/>
                <a:ea typeface="Calibri" pitchFamily="34" charset="-122"/>
                <a:cs typeface="Calibri" pitchFamily="34" charset="-120"/>
              </a:rPr>
              <a:t>03</a:t>
            </a:r>
            <a:endParaRPr lang="en-US" sz="850" dirty="0"/>
          </a:p>
        </p:txBody>
      </p:sp>
      <p:pic>
        <p:nvPicPr>
          <p:cNvPr id="23" name="Image 0" descr="assets/logo_cream.png">    </p:cNvPr>
          <p:cNvPicPr>
            <a:picLocks noChangeAspect="1"/>
          </p:cNvPicPr>
          <p:nvPr/>
        </p:nvPicPr>
        <p:blipFill>
          <a:blip r:embed="rId1">
            <a:alphaModFix amt="45000"/>
          </a:blip>
          <a:stretch>
            <a:fillRect/>
          </a:stretch>
        </p:blipFill>
        <p:spPr>
          <a:xfrm>
            <a:off x="10847527" y="384048"/>
            <a:ext cx="658368" cy="20939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EBE0"/>
        </a:solidFill>
      </p:bgPr>
    </p:bg>
    <p:spTree>
      <p:nvGrpSpPr>
        <p:cNvPr id="1" name=""/>
        <p:cNvGrpSpPr/>
        <p:nvPr/>
      </p:nvGrpSpPr>
      <p:grpSpPr>
        <a:xfrm>
          <a:off x="0" y="0"/>
          <a:ext cx="0" cy="0"/>
          <a:chOff x="0" y="0"/>
          <a:chExt cx="0" cy="0"/>
        </a:xfrm>
      </p:grpSpPr>
      <p:sp>
        <p:nvSpPr>
          <p:cNvPr id="2" name="Text 0"/>
          <p:cNvSpPr/>
          <p:nvPr/>
        </p:nvSpPr>
        <p:spPr>
          <a:xfrm>
            <a:off x="685800" y="566928"/>
            <a:ext cx="7772400" cy="256032"/>
          </a:xfrm>
          <a:prstGeom prst="rect">
            <a:avLst/>
          </a:prstGeom>
          <a:noFill/>
          <a:ln/>
        </p:spPr>
        <p:txBody>
          <a:bodyPr wrap="square" lIns="0" tIns="0" rIns="0" bIns="0" rtlCol="0" anchor="ctr"/>
          <a:lstStyle/>
          <a:p>
            <a:pPr indent="0" marL="0">
              <a:buNone/>
            </a:pPr>
            <a:r>
              <a:rPr lang="en-US" sz="1050" b="1" spc="260" kern="0" dirty="0">
                <a:solidFill>
                  <a:srgbClr val="C0532A"/>
                </a:solidFill>
                <a:latin typeface="Calibri" pitchFamily="34" charset="0"/>
                <a:ea typeface="Calibri" pitchFamily="34" charset="-122"/>
                <a:cs typeface="Calibri" pitchFamily="34" charset="-120"/>
              </a:rPr>
              <a:t>PERFORMANCE GUARANTEE</a:t>
            </a:r>
            <a:endParaRPr lang="en-US" sz="1050" dirty="0"/>
          </a:p>
        </p:txBody>
      </p:sp>
      <p:sp>
        <p:nvSpPr>
          <p:cNvPr id="3" name="Text 1"/>
          <p:cNvSpPr/>
          <p:nvPr/>
        </p:nvSpPr>
        <p:spPr>
          <a:xfrm>
            <a:off x="685800" y="868680"/>
            <a:ext cx="10058400" cy="658368"/>
          </a:xfrm>
          <a:prstGeom prst="rect">
            <a:avLst/>
          </a:prstGeom>
          <a:noFill/>
          <a:ln/>
        </p:spPr>
        <p:txBody>
          <a:bodyPr wrap="square" lIns="0" tIns="0" rIns="0" bIns="0" rtlCol="0" anchor="ctr"/>
          <a:lstStyle/>
          <a:p>
            <a:pPr indent="0" marL="0">
              <a:buNone/>
            </a:pPr>
            <a:r>
              <a:rPr lang="en-US" sz="3400" b="1" dirty="0">
                <a:solidFill>
                  <a:srgbClr val="141414"/>
                </a:solidFill>
                <a:latin typeface="Cambria" pitchFamily="34" charset="0"/>
                <a:ea typeface="Cambria" pitchFamily="34" charset="-122"/>
                <a:cs typeface="Cambria" pitchFamily="34" charset="-120"/>
              </a:rPr>
              <a:t>What we guarantee</a:t>
            </a:r>
            <a:endParaRPr lang="en-US" sz="3400" dirty="0"/>
          </a:p>
        </p:txBody>
      </p:sp>
      <p:sp>
        <p:nvSpPr>
          <p:cNvPr id="4" name="Shape 2"/>
          <p:cNvSpPr/>
          <p:nvPr/>
        </p:nvSpPr>
        <p:spPr>
          <a:xfrm>
            <a:off x="685800" y="1691640"/>
            <a:ext cx="3423818" cy="1755648"/>
          </a:xfrm>
          <a:prstGeom prst="roundRect">
            <a:avLst>
              <a:gd name="adj" fmla="val 4688"/>
            </a:avLst>
          </a:prstGeom>
          <a:solidFill>
            <a:srgbClr val="FBFAF6"/>
          </a:solidFill>
          <a:ln w="9525">
            <a:solidFill>
              <a:srgbClr val="C9C2B4"/>
            </a:solidFill>
            <a:prstDash val="solid"/>
          </a:ln>
        </p:spPr>
      </p:sp>
      <p:sp>
        <p:nvSpPr>
          <p:cNvPr id="5" name="Text 3"/>
          <p:cNvSpPr/>
          <p:nvPr/>
        </p:nvSpPr>
        <p:spPr>
          <a:xfrm>
            <a:off x="960120" y="1847088"/>
            <a:ext cx="2875178" cy="786384"/>
          </a:xfrm>
          <a:prstGeom prst="rect">
            <a:avLst/>
          </a:prstGeom>
          <a:noFill/>
          <a:ln/>
        </p:spPr>
        <p:txBody>
          <a:bodyPr wrap="square" lIns="0" tIns="0" rIns="0" bIns="0" rtlCol="0" anchor="ctr"/>
          <a:lstStyle/>
          <a:p>
            <a:pPr indent="0" marL="0">
              <a:buNone/>
            </a:pPr>
            <a:r>
              <a:rPr lang="en-US" sz="5800" b="1" dirty="0">
                <a:solidFill>
                  <a:srgbClr val="C0532A"/>
                </a:solidFill>
                <a:latin typeface="Cambria" pitchFamily="34" charset="0"/>
                <a:ea typeface="Cambria" pitchFamily="34" charset="-122"/>
                <a:cs typeface="Cambria" pitchFamily="34" charset="-120"/>
              </a:rPr>
              <a:t>15</a:t>
            </a:r>
            <a:endParaRPr lang="en-US" sz="5800" dirty="0"/>
          </a:p>
        </p:txBody>
      </p:sp>
      <p:sp>
        <p:nvSpPr>
          <p:cNvPr id="6" name="Text 4"/>
          <p:cNvSpPr/>
          <p:nvPr/>
        </p:nvSpPr>
        <p:spPr>
          <a:xfrm>
            <a:off x="960120" y="2670048"/>
            <a:ext cx="2875178" cy="274320"/>
          </a:xfrm>
          <a:prstGeom prst="rect">
            <a:avLst/>
          </a:prstGeom>
          <a:noFill/>
          <a:ln/>
        </p:spPr>
        <p:txBody>
          <a:bodyPr wrap="square" lIns="0" tIns="0" rIns="0" bIns="0" rtlCol="0" anchor="ctr"/>
          <a:lstStyle/>
          <a:p>
            <a:pPr indent="0" marL="0">
              <a:buNone/>
            </a:pPr>
            <a:r>
              <a:rPr lang="en-US" sz="1400" b="1" dirty="0">
                <a:solidFill>
                  <a:srgbClr val="141414"/>
                </a:solidFill>
                <a:latin typeface="Calibri" pitchFamily="34" charset="0"/>
                <a:ea typeface="Calibri" pitchFamily="34" charset="-122"/>
                <a:cs typeface="Calibri" pitchFamily="34" charset="-120"/>
              </a:rPr>
              <a:t>Qualified leads</a:t>
            </a:r>
            <a:endParaRPr lang="en-US" sz="1400" dirty="0"/>
          </a:p>
        </p:txBody>
      </p:sp>
      <p:sp>
        <p:nvSpPr>
          <p:cNvPr id="7" name="Text 5"/>
          <p:cNvSpPr/>
          <p:nvPr/>
        </p:nvSpPr>
        <p:spPr>
          <a:xfrm>
            <a:off x="960120" y="2926080"/>
            <a:ext cx="2875178" cy="384048"/>
          </a:xfrm>
          <a:prstGeom prst="rect">
            <a:avLst/>
          </a:prstGeom>
          <a:noFill/>
          <a:ln/>
        </p:spPr>
        <p:txBody>
          <a:bodyPr wrap="square" lIns="0" tIns="0" rIns="0" bIns="0" rtlCol="0" anchor="t"/>
          <a:lstStyle/>
          <a:p>
            <a:pPr indent="0" marL="0">
              <a:lnSpc>
                <a:spcPct val="110000"/>
              </a:lnSpc>
              <a:buNone/>
            </a:pPr>
            <a:r>
              <a:rPr lang="en-US" sz="1150" dirty="0">
                <a:solidFill>
                  <a:srgbClr val="6E6656"/>
                </a:solidFill>
                <a:latin typeface="Calibri" pitchFamily="34" charset="0"/>
                <a:ea typeface="Calibri" pitchFamily="34" charset="-122"/>
                <a:cs typeface="Calibri" pitchFamily="34" charset="-120"/>
              </a:rPr>
              <a:t>Guaranteed in total, not per month</a:t>
            </a:r>
            <a:endParaRPr lang="en-US" sz="1150" dirty="0"/>
          </a:p>
        </p:txBody>
      </p:sp>
      <p:sp>
        <p:nvSpPr>
          <p:cNvPr id="8" name="Shape 6"/>
          <p:cNvSpPr/>
          <p:nvPr/>
        </p:nvSpPr>
        <p:spPr>
          <a:xfrm>
            <a:off x="4383938" y="1691640"/>
            <a:ext cx="3423818" cy="1755648"/>
          </a:xfrm>
          <a:prstGeom prst="roundRect">
            <a:avLst>
              <a:gd name="adj" fmla="val 4688"/>
            </a:avLst>
          </a:prstGeom>
          <a:solidFill>
            <a:srgbClr val="FBFAF6"/>
          </a:solidFill>
          <a:ln w="9525">
            <a:solidFill>
              <a:srgbClr val="C9C2B4"/>
            </a:solidFill>
            <a:prstDash val="solid"/>
          </a:ln>
        </p:spPr>
      </p:sp>
      <p:sp>
        <p:nvSpPr>
          <p:cNvPr id="9" name="Text 7"/>
          <p:cNvSpPr/>
          <p:nvPr/>
        </p:nvSpPr>
        <p:spPr>
          <a:xfrm>
            <a:off x="4658258" y="1847088"/>
            <a:ext cx="2875178" cy="786384"/>
          </a:xfrm>
          <a:prstGeom prst="rect">
            <a:avLst/>
          </a:prstGeom>
          <a:noFill/>
          <a:ln/>
        </p:spPr>
        <p:txBody>
          <a:bodyPr wrap="square" lIns="0" tIns="0" rIns="0" bIns="0" rtlCol="0" anchor="ctr"/>
          <a:lstStyle/>
          <a:p>
            <a:pPr indent="0" marL="0">
              <a:buNone/>
            </a:pPr>
            <a:r>
              <a:rPr lang="en-US" sz="5800" b="1" dirty="0">
                <a:solidFill>
                  <a:srgbClr val="C0532A"/>
                </a:solidFill>
                <a:latin typeface="Cambria" pitchFamily="34" charset="0"/>
                <a:ea typeface="Cambria" pitchFamily="34" charset="-122"/>
                <a:cs typeface="Cambria" pitchFamily="34" charset="-120"/>
              </a:rPr>
              <a:t>90</a:t>
            </a:r>
            <a:endParaRPr lang="en-US" sz="5800" dirty="0"/>
          </a:p>
        </p:txBody>
      </p:sp>
      <p:sp>
        <p:nvSpPr>
          <p:cNvPr id="10" name="Text 8"/>
          <p:cNvSpPr/>
          <p:nvPr/>
        </p:nvSpPr>
        <p:spPr>
          <a:xfrm>
            <a:off x="4658258" y="2670048"/>
            <a:ext cx="2875178" cy="274320"/>
          </a:xfrm>
          <a:prstGeom prst="rect">
            <a:avLst/>
          </a:prstGeom>
          <a:noFill/>
          <a:ln/>
        </p:spPr>
        <p:txBody>
          <a:bodyPr wrap="square" lIns="0" tIns="0" rIns="0" bIns="0" rtlCol="0" anchor="ctr"/>
          <a:lstStyle/>
          <a:p>
            <a:pPr indent="0" marL="0">
              <a:buNone/>
            </a:pPr>
            <a:r>
              <a:rPr lang="en-US" sz="1400" b="1" dirty="0">
                <a:solidFill>
                  <a:srgbClr val="141414"/>
                </a:solidFill>
                <a:latin typeface="Calibri" pitchFamily="34" charset="0"/>
                <a:ea typeface="Calibri" pitchFamily="34" charset="-122"/>
                <a:cs typeface="Calibri" pitchFamily="34" charset="-120"/>
              </a:rPr>
              <a:t>Days to deliver</a:t>
            </a:r>
            <a:endParaRPr lang="en-US" sz="1400" dirty="0"/>
          </a:p>
        </p:txBody>
      </p:sp>
      <p:sp>
        <p:nvSpPr>
          <p:cNvPr id="11" name="Text 9"/>
          <p:cNvSpPr/>
          <p:nvPr/>
        </p:nvSpPr>
        <p:spPr>
          <a:xfrm>
            <a:off x="4658258" y="2926080"/>
            <a:ext cx="2875178" cy="384048"/>
          </a:xfrm>
          <a:prstGeom prst="rect">
            <a:avLst/>
          </a:prstGeom>
          <a:noFill/>
          <a:ln/>
        </p:spPr>
        <p:txBody>
          <a:bodyPr wrap="square" lIns="0" tIns="0" rIns="0" bIns="0" rtlCol="0" anchor="t"/>
          <a:lstStyle/>
          <a:p>
            <a:pPr indent="0" marL="0">
              <a:lnSpc>
                <a:spcPct val="110000"/>
              </a:lnSpc>
              <a:buNone/>
            </a:pPr>
            <a:r>
              <a:rPr lang="en-US" sz="1150" dirty="0">
                <a:solidFill>
                  <a:srgbClr val="6E6656"/>
                </a:solidFill>
                <a:latin typeface="Calibri" pitchFamily="34" charset="0"/>
                <a:ea typeface="Calibri" pitchFamily="34" charset="-122"/>
                <a:cs typeface="Calibri" pitchFamily="34" charset="-120"/>
              </a:rPr>
              <a:t>One window, no monthly checkpoint</a:t>
            </a:r>
            <a:endParaRPr lang="en-US" sz="1150" dirty="0"/>
          </a:p>
        </p:txBody>
      </p:sp>
      <p:sp>
        <p:nvSpPr>
          <p:cNvPr id="12" name="Shape 10"/>
          <p:cNvSpPr/>
          <p:nvPr/>
        </p:nvSpPr>
        <p:spPr>
          <a:xfrm>
            <a:off x="8082077" y="1691640"/>
            <a:ext cx="3423818" cy="1755648"/>
          </a:xfrm>
          <a:prstGeom prst="roundRect">
            <a:avLst>
              <a:gd name="adj" fmla="val 4688"/>
            </a:avLst>
          </a:prstGeom>
          <a:solidFill>
            <a:srgbClr val="FBFAF6"/>
          </a:solidFill>
          <a:ln w="9525">
            <a:solidFill>
              <a:srgbClr val="C9C2B4"/>
            </a:solidFill>
            <a:prstDash val="solid"/>
          </a:ln>
        </p:spPr>
      </p:sp>
      <p:sp>
        <p:nvSpPr>
          <p:cNvPr id="13" name="Text 11"/>
          <p:cNvSpPr/>
          <p:nvPr/>
        </p:nvSpPr>
        <p:spPr>
          <a:xfrm>
            <a:off x="8356397" y="1847088"/>
            <a:ext cx="2875178" cy="786384"/>
          </a:xfrm>
          <a:prstGeom prst="rect">
            <a:avLst/>
          </a:prstGeom>
          <a:noFill/>
          <a:ln/>
        </p:spPr>
        <p:txBody>
          <a:bodyPr wrap="square" lIns="0" tIns="0" rIns="0" bIns="0" rtlCol="0" anchor="ctr"/>
          <a:lstStyle/>
          <a:p>
            <a:pPr indent="0" marL="0">
              <a:buNone/>
            </a:pPr>
            <a:r>
              <a:rPr lang="en-US" sz="5800" b="1" dirty="0">
                <a:solidFill>
                  <a:srgbClr val="C0532A"/>
                </a:solidFill>
                <a:latin typeface="Cambria" pitchFamily="34" charset="0"/>
                <a:ea typeface="Cambria" pitchFamily="34" charset="-122"/>
                <a:cs typeface="Cambria" pitchFamily="34" charset="-120"/>
              </a:rPr>
              <a:t>0</a:t>
            </a:r>
            <a:endParaRPr lang="en-US" sz="5800" dirty="0"/>
          </a:p>
        </p:txBody>
      </p:sp>
      <p:sp>
        <p:nvSpPr>
          <p:cNvPr id="14" name="Text 12"/>
          <p:cNvSpPr/>
          <p:nvPr/>
        </p:nvSpPr>
        <p:spPr>
          <a:xfrm>
            <a:off x="8356397" y="2670048"/>
            <a:ext cx="2875178" cy="274320"/>
          </a:xfrm>
          <a:prstGeom prst="rect">
            <a:avLst/>
          </a:prstGeom>
          <a:noFill/>
          <a:ln/>
        </p:spPr>
        <p:txBody>
          <a:bodyPr wrap="square" lIns="0" tIns="0" rIns="0" bIns="0" rtlCol="0" anchor="ctr"/>
          <a:lstStyle/>
          <a:p>
            <a:pPr indent="0" marL="0">
              <a:buNone/>
            </a:pPr>
            <a:r>
              <a:rPr lang="en-US" sz="1400" b="1" dirty="0">
                <a:solidFill>
                  <a:srgbClr val="141414"/>
                </a:solidFill>
                <a:latin typeface="Calibri" pitchFamily="34" charset="0"/>
                <a:ea typeface="Calibri" pitchFamily="34" charset="-122"/>
                <a:cs typeface="Calibri" pitchFamily="34" charset="-120"/>
              </a:rPr>
              <a:t>Ongoing quota</a:t>
            </a:r>
            <a:endParaRPr lang="en-US" sz="1400" dirty="0"/>
          </a:p>
        </p:txBody>
      </p:sp>
      <p:sp>
        <p:nvSpPr>
          <p:cNvPr id="15" name="Text 13"/>
          <p:cNvSpPr/>
          <p:nvPr/>
        </p:nvSpPr>
        <p:spPr>
          <a:xfrm>
            <a:off x="8356397" y="2926080"/>
            <a:ext cx="2875178" cy="384048"/>
          </a:xfrm>
          <a:prstGeom prst="rect">
            <a:avLst/>
          </a:prstGeom>
          <a:noFill/>
          <a:ln/>
        </p:spPr>
        <p:txBody>
          <a:bodyPr wrap="square" lIns="0" tIns="0" rIns="0" bIns="0" rtlCol="0" anchor="t"/>
          <a:lstStyle/>
          <a:p>
            <a:pPr indent="0" marL="0">
              <a:lnSpc>
                <a:spcPct val="110000"/>
              </a:lnSpc>
              <a:buNone/>
            </a:pPr>
            <a:r>
              <a:rPr lang="en-US" sz="1150" dirty="0">
                <a:solidFill>
                  <a:srgbClr val="6E6656"/>
                </a:solidFill>
                <a:latin typeface="Calibri" pitchFamily="34" charset="0"/>
                <a:ea typeface="Calibri" pitchFamily="34" charset="-122"/>
                <a:cs typeface="Calibri" pitchFamily="34" charset="-120"/>
              </a:rPr>
              <a:t>No monthly guarantee after day 90</a:t>
            </a:r>
            <a:endParaRPr lang="en-US" sz="1150" dirty="0"/>
          </a:p>
        </p:txBody>
      </p:sp>
      <p:sp>
        <p:nvSpPr>
          <p:cNvPr id="16" name="Shape 14"/>
          <p:cNvSpPr/>
          <p:nvPr/>
        </p:nvSpPr>
        <p:spPr>
          <a:xfrm>
            <a:off x="685800" y="3703320"/>
            <a:ext cx="5230368" cy="2148840"/>
          </a:xfrm>
          <a:prstGeom prst="roundRect">
            <a:avLst>
              <a:gd name="adj" fmla="val 3830"/>
            </a:avLst>
          </a:prstGeom>
          <a:solidFill>
            <a:srgbClr val="FBFAF6"/>
          </a:solidFill>
          <a:ln w="9525">
            <a:solidFill>
              <a:srgbClr val="C9C2B4"/>
            </a:solidFill>
            <a:prstDash val="solid"/>
          </a:ln>
        </p:spPr>
      </p:sp>
      <p:sp>
        <p:nvSpPr>
          <p:cNvPr id="17" name="Text 15"/>
          <p:cNvSpPr/>
          <p:nvPr/>
        </p:nvSpPr>
        <p:spPr>
          <a:xfrm>
            <a:off x="996696" y="3986784"/>
            <a:ext cx="402336" cy="402336"/>
          </a:xfrm>
          <a:prstGeom prst="ellipse">
            <a:avLst/>
          </a:prstGeom>
          <a:solidFill>
            <a:srgbClr val="C0532A"/>
          </a:solidFill>
          <a:ln/>
        </p:spPr>
        <p:txBody>
          <a:bodyPr wrap="square" lIns="0" tIns="0" rIns="0" bIns="0" rtlCol="0" anchor="ctr"/>
          <a:lstStyle/>
          <a:p>
            <a:pPr algn="ctr" indent="0" marL="0">
              <a:buNone/>
            </a:pPr>
            <a:r>
              <a:rPr lang="en-US" sz="1500" b="1" dirty="0">
                <a:solidFill>
                  <a:srgbClr val="FBFAF6"/>
                </a:solidFill>
                <a:latin typeface="Calibri" pitchFamily="34" charset="0"/>
                <a:ea typeface="Calibri" pitchFamily="34" charset="-122"/>
                <a:cs typeface="Calibri" pitchFamily="34" charset="-120"/>
              </a:rPr>
              <a:t>!</a:t>
            </a:r>
            <a:endParaRPr lang="en-US" sz="1500" dirty="0"/>
          </a:p>
        </p:txBody>
      </p:sp>
      <p:sp>
        <p:nvSpPr>
          <p:cNvPr id="18" name="Text 16"/>
          <p:cNvSpPr/>
          <p:nvPr/>
        </p:nvSpPr>
        <p:spPr>
          <a:xfrm>
            <a:off x="1545336" y="3986784"/>
            <a:ext cx="4023360" cy="402336"/>
          </a:xfrm>
          <a:prstGeom prst="rect">
            <a:avLst/>
          </a:prstGeom>
          <a:noFill/>
          <a:ln/>
        </p:spPr>
        <p:txBody>
          <a:bodyPr wrap="square" lIns="0" tIns="0" rIns="0" bIns="0" rtlCol="0" anchor="ctr"/>
          <a:lstStyle/>
          <a:p>
            <a:pPr indent="0" marL="0">
              <a:buNone/>
            </a:pPr>
            <a:r>
              <a:rPr lang="en-US" sz="1900" b="1" dirty="0">
                <a:solidFill>
                  <a:srgbClr val="141414"/>
                </a:solidFill>
                <a:latin typeface="Cambria" pitchFamily="34" charset="0"/>
                <a:ea typeface="Cambria" pitchFamily="34" charset="-122"/>
                <a:cs typeface="Cambria" pitchFamily="34" charset="-120"/>
              </a:rPr>
              <a:t>If we miss 15 by day 90</a:t>
            </a:r>
            <a:endParaRPr lang="en-US" sz="1900" dirty="0"/>
          </a:p>
        </p:txBody>
      </p:sp>
      <p:sp>
        <p:nvSpPr>
          <p:cNvPr id="19" name="Text 17"/>
          <p:cNvSpPr/>
          <p:nvPr/>
        </p:nvSpPr>
        <p:spPr>
          <a:xfrm>
            <a:off x="996696" y="4535424"/>
            <a:ext cx="4608576" cy="1170432"/>
          </a:xfrm>
          <a:prstGeom prst="rect">
            <a:avLst/>
          </a:prstGeom>
          <a:noFill/>
          <a:ln/>
        </p:spPr>
        <p:txBody>
          <a:bodyPr wrap="square" lIns="0" tIns="0" rIns="0" bIns="0" rtlCol="0" anchor="t"/>
          <a:lstStyle/>
          <a:p>
            <a:pPr marL="342900" indent="-342900">
              <a:lnSpc>
                <a:spcPct val="112000"/>
              </a:lnSpc>
              <a:spcAft>
                <a:spcPts val="700"/>
              </a:spcAft>
              <a:buSzPct val="100000"/>
              <a:buChar char="–"/>
            </a:pPr>
            <a:r>
              <a:rPr lang="en-US" sz="1300" dirty="0">
                <a:solidFill>
                  <a:srgbClr val="3A3A3A"/>
                </a:solidFill>
                <a:latin typeface="Calibri" pitchFamily="34" charset="0"/>
                <a:ea typeface="Calibri" pitchFamily="34" charset="-122"/>
                <a:cs typeface="Calibri" pitchFamily="34" charset="-120"/>
              </a:rPr>
              <a:t>The retainer pauses until the fifteenth qualified lead is delivered.</a:t>
            </a:r>
            <a:endParaRPr lang="en-US" sz="1300" dirty="0"/>
          </a:p>
          <a:p>
            <a:pPr marL="342900" indent="-342900">
              <a:lnSpc>
                <a:spcPct val="112000"/>
              </a:lnSpc>
              <a:spcAft>
                <a:spcPts val="700"/>
              </a:spcAft>
              <a:buSzPct val="100000"/>
              <a:buChar char="–"/>
            </a:pPr>
            <a:r>
              <a:rPr lang="en-US" sz="1300" dirty="0">
                <a:solidFill>
                  <a:srgbClr val="3A3A3A"/>
                </a:solidFill>
                <a:latin typeface="Calibri" pitchFamily="34" charset="0"/>
                <a:ea typeface="Calibri" pitchFamily="34" charset="-122"/>
                <a:cs typeface="Calibri" pitchFamily="34" charset="-120"/>
              </a:rPr>
              <a:t>Ad spend already placed with Facebook or Google is not refundable — that money went to the platform, not to us.</a:t>
            </a:r>
            <a:endParaRPr lang="en-US" sz="1300" dirty="0"/>
          </a:p>
        </p:txBody>
      </p:sp>
      <p:sp>
        <p:nvSpPr>
          <p:cNvPr id="20" name="Shape 18"/>
          <p:cNvSpPr/>
          <p:nvPr/>
        </p:nvSpPr>
        <p:spPr>
          <a:xfrm>
            <a:off x="6272784" y="3703320"/>
            <a:ext cx="5230368" cy="2148840"/>
          </a:xfrm>
          <a:prstGeom prst="roundRect">
            <a:avLst>
              <a:gd name="adj" fmla="val 3830"/>
            </a:avLst>
          </a:prstGeom>
          <a:solidFill>
            <a:srgbClr val="141414"/>
          </a:solidFill>
          <a:ln/>
        </p:spPr>
      </p:sp>
      <p:sp>
        <p:nvSpPr>
          <p:cNvPr id="21" name="Text 19"/>
          <p:cNvSpPr/>
          <p:nvPr/>
        </p:nvSpPr>
        <p:spPr>
          <a:xfrm>
            <a:off x="6583680" y="3986784"/>
            <a:ext cx="402336" cy="402336"/>
          </a:xfrm>
          <a:prstGeom prst="ellipse">
            <a:avLst/>
          </a:prstGeom>
          <a:solidFill>
            <a:srgbClr val="2E2A24"/>
          </a:solidFill>
          <a:ln/>
        </p:spPr>
        <p:txBody>
          <a:bodyPr wrap="square" lIns="0" tIns="0" rIns="0" bIns="0" rtlCol="0" anchor="ctr"/>
          <a:lstStyle/>
          <a:p>
            <a:pPr algn="ctr" indent="0" marL="0">
              <a:buNone/>
            </a:pPr>
            <a:r>
              <a:rPr lang="en-US" sz="1400" b="1" dirty="0">
                <a:solidFill>
                  <a:srgbClr val="CFB48E"/>
                </a:solidFill>
                <a:latin typeface="Calibri" pitchFamily="34" charset="0"/>
                <a:ea typeface="Calibri" pitchFamily="34" charset="-122"/>
                <a:cs typeface="Calibri" pitchFamily="34" charset="-120"/>
              </a:rPr>
              <a:t>→</a:t>
            </a:r>
            <a:endParaRPr lang="en-US" sz="1400" dirty="0"/>
          </a:p>
        </p:txBody>
      </p:sp>
      <p:sp>
        <p:nvSpPr>
          <p:cNvPr id="22" name="Text 20"/>
          <p:cNvSpPr/>
          <p:nvPr/>
        </p:nvSpPr>
        <p:spPr>
          <a:xfrm>
            <a:off x="7132320" y="3986784"/>
            <a:ext cx="4023360" cy="402336"/>
          </a:xfrm>
          <a:prstGeom prst="rect">
            <a:avLst/>
          </a:prstGeom>
          <a:noFill/>
          <a:ln/>
        </p:spPr>
        <p:txBody>
          <a:bodyPr wrap="square" lIns="0" tIns="0" rIns="0" bIns="0" rtlCol="0" anchor="ctr"/>
          <a:lstStyle/>
          <a:p>
            <a:pPr indent="0" marL="0">
              <a:buNone/>
            </a:pPr>
            <a:r>
              <a:rPr lang="en-US" sz="1900" b="1" dirty="0">
                <a:solidFill>
                  <a:srgbClr val="F0EBE0"/>
                </a:solidFill>
                <a:latin typeface="Cambria" pitchFamily="34" charset="0"/>
                <a:ea typeface="Cambria" pitchFamily="34" charset="-122"/>
                <a:cs typeface="Cambria" pitchFamily="34" charset="-120"/>
              </a:rPr>
              <a:t>After the first 90 days</a:t>
            </a:r>
            <a:endParaRPr lang="en-US" sz="1900" dirty="0"/>
          </a:p>
        </p:txBody>
      </p:sp>
      <p:sp>
        <p:nvSpPr>
          <p:cNvPr id="23" name="Text 21"/>
          <p:cNvSpPr/>
          <p:nvPr/>
        </p:nvSpPr>
        <p:spPr>
          <a:xfrm>
            <a:off x="6583680" y="4535424"/>
            <a:ext cx="4608576" cy="1170432"/>
          </a:xfrm>
          <a:prstGeom prst="rect">
            <a:avLst/>
          </a:prstGeom>
          <a:noFill/>
          <a:ln/>
        </p:spPr>
        <p:txBody>
          <a:bodyPr wrap="square" lIns="0" tIns="0" rIns="0" bIns="0" rtlCol="0" anchor="t"/>
          <a:lstStyle/>
          <a:p>
            <a:pPr marL="342900" indent="-342900">
              <a:lnSpc>
                <a:spcPct val="112000"/>
              </a:lnSpc>
              <a:spcAft>
                <a:spcPts val="700"/>
              </a:spcAft>
              <a:buSzPct val="100000"/>
              <a:buChar char="–"/>
            </a:pPr>
            <a:r>
              <a:rPr lang="en-US" sz="1300" dirty="0">
                <a:solidFill>
                  <a:srgbClr val="A8A093"/>
                </a:solidFill>
                <a:latin typeface="Calibri" pitchFamily="34" charset="0"/>
                <a:ea typeface="Calibri" pitchFamily="34" charset="-122"/>
                <a:cs typeface="Calibri" pitchFamily="34" charset="-120"/>
              </a:rPr>
              <a:t>Once the 15-lead threshold is met, the guarantee has been satisfied.</a:t>
            </a:r>
            <a:endParaRPr lang="en-US" sz="1300" dirty="0"/>
          </a:p>
          <a:p>
            <a:pPr marL="342900" indent="-342900">
              <a:lnSpc>
                <a:spcPct val="112000"/>
              </a:lnSpc>
              <a:spcAft>
                <a:spcPts val="700"/>
              </a:spcAft>
              <a:buSzPct val="100000"/>
              <a:buChar char="–"/>
            </a:pPr>
            <a:r>
              <a:rPr lang="en-US" sz="1300" dirty="0">
                <a:solidFill>
                  <a:srgbClr val="A8A093"/>
                </a:solidFill>
                <a:latin typeface="Calibri" pitchFamily="34" charset="0"/>
                <a:ea typeface="Calibri" pitchFamily="34" charset="-122"/>
                <a:cs typeface="Calibri" pitchFamily="34" charset="-120"/>
              </a:rPr>
              <a:t>There is no ongoing month-by-month guarantee after that — we keep the account on results, not on a quota.</a:t>
            </a:r>
            <a:endParaRPr lang="en-US" sz="1300" dirty="0"/>
          </a:p>
        </p:txBody>
      </p:sp>
      <p:sp>
        <p:nvSpPr>
          <p:cNvPr id="24" name="Text 22"/>
          <p:cNvSpPr/>
          <p:nvPr/>
        </p:nvSpPr>
        <p:spPr>
          <a:xfrm>
            <a:off x="685800" y="6327648"/>
            <a:ext cx="5486400" cy="274320"/>
          </a:xfrm>
          <a:prstGeom prst="rect">
            <a:avLst/>
          </a:prstGeom>
          <a:noFill/>
          <a:ln/>
        </p:spPr>
        <p:txBody>
          <a:bodyPr wrap="square" lIns="0" tIns="0" rIns="0" bIns="0" rtlCol="0" anchor="ctr"/>
          <a:lstStyle/>
          <a:p>
            <a:pPr indent="0" marL="0">
              <a:buNone/>
            </a:pPr>
            <a:r>
              <a:rPr lang="en-US" sz="850" spc="160" kern="0" dirty="0">
                <a:solidFill>
                  <a:srgbClr val="9A9080"/>
                </a:solidFill>
                <a:latin typeface="Calibri" pitchFamily="34" charset="0"/>
                <a:ea typeface="Calibri" pitchFamily="34" charset="-122"/>
                <a:cs typeface="Calibri" pitchFamily="34" charset="-120"/>
              </a:rPr>
              <a:t>STAY BOOKED MARKETING  ·  CLIENT KICKOFF</a:t>
            </a:r>
            <a:endParaRPr lang="en-US" sz="850" dirty="0"/>
          </a:p>
        </p:txBody>
      </p:sp>
      <p:sp>
        <p:nvSpPr>
          <p:cNvPr id="25" name="Text 23"/>
          <p:cNvSpPr/>
          <p:nvPr/>
        </p:nvSpPr>
        <p:spPr>
          <a:xfrm>
            <a:off x="10591495" y="6327648"/>
            <a:ext cx="914400" cy="274320"/>
          </a:xfrm>
          <a:prstGeom prst="rect">
            <a:avLst/>
          </a:prstGeom>
          <a:noFill/>
          <a:ln/>
        </p:spPr>
        <p:txBody>
          <a:bodyPr wrap="square" lIns="0" tIns="0" rIns="0" bIns="0" rtlCol="0" anchor="ctr"/>
          <a:lstStyle/>
          <a:p>
            <a:pPr algn="r" indent="0" marL="0">
              <a:buNone/>
            </a:pPr>
            <a:r>
              <a:rPr lang="en-US" sz="850" spc="160" kern="0" dirty="0">
                <a:solidFill>
                  <a:srgbClr val="9A9080"/>
                </a:solidFill>
                <a:latin typeface="Calibri" pitchFamily="34" charset="0"/>
                <a:ea typeface="Calibri" pitchFamily="34" charset="-122"/>
                <a:cs typeface="Calibri" pitchFamily="34" charset="-120"/>
              </a:rPr>
              <a:t>04</a:t>
            </a:r>
            <a:endParaRPr lang="en-US" sz="850" dirty="0"/>
          </a:p>
        </p:txBody>
      </p:sp>
      <p:pic>
        <p:nvPicPr>
          <p:cNvPr id="26" name="Image 0" descr="assets/logo_black.png">    </p:cNvPr>
          <p:cNvPicPr>
            <a:picLocks noChangeAspect="1"/>
          </p:cNvPicPr>
          <p:nvPr/>
        </p:nvPicPr>
        <p:blipFill>
          <a:blip r:embed="rId1">
            <a:alphaModFix amt="22000"/>
          </a:blip>
          <a:stretch>
            <a:fillRect/>
          </a:stretch>
        </p:blipFill>
        <p:spPr>
          <a:xfrm>
            <a:off x="10847527" y="384048"/>
            <a:ext cx="658368" cy="20939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EBE0"/>
        </a:solidFill>
      </p:bgPr>
    </p:bg>
    <p:spTree>
      <p:nvGrpSpPr>
        <p:cNvPr id="1" name=""/>
        <p:cNvGrpSpPr/>
        <p:nvPr/>
      </p:nvGrpSpPr>
      <p:grpSpPr>
        <a:xfrm>
          <a:off x="0" y="0"/>
          <a:ext cx="0" cy="0"/>
          <a:chOff x="0" y="0"/>
          <a:chExt cx="0" cy="0"/>
        </a:xfrm>
      </p:grpSpPr>
      <p:sp>
        <p:nvSpPr>
          <p:cNvPr id="2" name="Text 0"/>
          <p:cNvSpPr/>
          <p:nvPr/>
        </p:nvSpPr>
        <p:spPr>
          <a:xfrm>
            <a:off x="685800" y="566928"/>
            <a:ext cx="7772400" cy="256032"/>
          </a:xfrm>
          <a:prstGeom prst="rect">
            <a:avLst/>
          </a:prstGeom>
          <a:noFill/>
          <a:ln/>
        </p:spPr>
        <p:txBody>
          <a:bodyPr wrap="square" lIns="0" tIns="0" rIns="0" bIns="0" rtlCol="0" anchor="ctr"/>
          <a:lstStyle/>
          <a:p>
            <a:pPr indent="0" marL="0">
              <a:buNone/>
            </a:pPr>
            <a:r>
              <a:rPr lang="en-US" sz="1050" b="1" spc="260" kern="0" dirty="0">
                <a:solidFill>
                  <a:srgbClr val="C0532A"/>
                </a:solidFill>
                <a:latin typeface="Calibri" pitchFamily="34" charset="0"/>
                <a:ea typeface="Calibri" pitchFamily="34" charset="-122"/>
                <a:cs typeface="Calibri" pitchFamily="34" charset="-120"/>
              </a:rPr>
              <a:t>DEFINITIONS</a:t>
            </a:r>
            <a:endParaRPr lang="en-US" sz="1050" dirty="0"/>
          </a:p>
        </p:txBody>
      </p:sp>
      <p:sp>
        <p:nvSpPr>
          <p:cNvPr id="3" name="Text 1"/>
          <p:cNvSpPr/>
          <p:nvPr/>
        </p:nvSpPr>
        <p:spPr>
          <a:xfrm>
            <a:off x="685800" y="868680"/>
            <a:ext cx="10058400" cy="658368"/>
          </a:xfrm>
          <a:prstGeom prst="rect">
            <a:avLst/>
          </a:prstGeom>
          <a:noFill/>
          <a:ln/>
        </p:spPr>
        <p:txBody>
          <a:bodyPr wrap="square" lIns="0" tIns="0" rIns="0" bIns="0" rtlCol="0" anchor="ctr"/>
          <a:lstStyle/>
          <a:p>
            <a:pPr indent="0" marL="0">
              <a:buNone/>
            </a:pPr>
            <a:r>
              <a:rPr lang="en-US" sz="3400" b="1" dirty="0">
                <a:solidFill>
                  <a:srgbClr val="141414"/>
                </a:solidFill>
                <a:latin typeface="Cambria" pitchFamily="34" charset="0"/>
                <a:ea typeface="Cambria" pitchFamily="34" charset="-122"/>
                <a:cs typeface="Cambria" pitchFamily="34" charset="-120"/>
              </a:rPr>
              <a:t>What counts as a qualified lead</a:t>
            </a:r>
            <a:endParaRPr lang="en-US" sz="3400" dirty="0"/>
          </a:p>
        </p:txBody>
      </p:sp>
      <p:sp>
        <p:nvSpPr>
          <p:cNvPr id="4" name="Shape 2"/>
          <p:cNvSpPr/>
          <p:nvPr/>
        </p:nvSpPr>
        <p:spPr>
          <a:xfrm>
            <a:off x="685800" y="1691640"/>
            <a:ext cx="3977640" cy="4160520"/>
          </a:xfrm>
          <a:prstGeom prst="roundRect">
            <a:avLst>
              <a:gd name="adj" fmla="val 2069"/>
            </a:avLst>
          </a:prstGeom>
          <a:solidFill>
            <a:srgbClr val="141414"/>
          </a:solidFill>
          <a:ln/>
        </p:spPr>
      </p:sp>
      <p:sp>
        <p:nvSpPr>
          <p:cNvPr id="5" name="Text 3"/>
          <p:cNvSpPr/>
          <p:nvPr/>
        </p:nvSpPr>
        <p:spPr>
          <a:xfrm>
            <a:off x="1051560" y="1993392"/>
            <a:ext cx="3246120" cy="1188720"/>
          </a:xfrm>
          <a:prstGeom prst="rect">
            <a:avLst/>
          </a:prstGeom>
          <a:noFill/>
          <a:ln/>
        </p:spPr>
        <p:txBody>
          <a:bodyPr wrap="square" lIns="0" tIns="0" rIns="0" bIns="0" rtlCol="0" anchor="ctr"/>
          <a:lstStyle/>
          <a:p>
            <a:pPr indent="0" marL="0">
              <a:lnSpc>
                <a:spcPct val="95000"/>
              </a:lnSpc>
              <a:buNone/>
            </a:pPr>
            <a:r>
              <a:rPr lang="en-US" sz="3300" b="1" dirty="0">
                <a:solidFill>
                  <a:srgbClr val="F0EBE0"/>
                </a:solidFill>
                <a:latin typeface="Cambria" pitchFamily="34" charset="0"/>
                <a:ea typeface="Cambria" pitchFamily="34" charset="-122"/>
                <a:cs typeface="Cambria" pitchFamily="34" charset="-120"/>
              </a:rPr>
              <a:t>All five</a:t>
            </a:r>
            <a:endParaRPr lang="en-US" sz="3300" dirty="0"/>
          </a:p>
          <a:p>
            <a:pPr indent="0" marL="0">
              <a:lnSpc>
                <a:spcPct val="95000"/>
              </a:lnSpc>
              <a:buNone/>
            </a:pPr>
            <a:r>
              <a:rPr lang="en-US" sz="3300" b="1" dirty="0">
                <a:solidFill>
                  <a:srgbClr val="F0EBE0"/>
                </a:solidFill>
                <a:latin typeface="Cambria" pitchFamily="34" charset="0"/>
                <a:ea typeface="Cambria" pitchFamily="34" charset="-122"/>
                <a:cs typeface="Cambria" pitchFamily="34" charset="-120"/>
              </a:rPr>
              <a:t>must be true.</a:t>
            </a:r>
            <a:endParaRPr lang="en-US" sz="3300" dirty="0"/>
          </a:p>
        </p:txBody>
      </p:sp>
      <p:sp>
        <p:nvSpPr>
          <p:cNvPr id="6" name="Text 4"/>
          <p:cNvSpPr/>
          <p:nvPr/>
        </p:nvSpPr>
        <p:spPr>
          <a:xfrm>
            <a:off x="1051560" y="3291840"/>
            <a:ext cx="3246120" cy="1371600"/>
          </a:xfrm>
          <a:prstGeom prst="rect">
            <a:avLst/>
          </a:prstGeom>
          <a:noFill/>
          <a:ln/>
        </p:spPr>
        <p:txBody>
          <a:bodyPr wrap="square" lIns="0" tIns="0" rIns="0" bIns="0" rtlCol="0" anchor="t"/>
          <a:lstStyle/>
          <a:p>
            <a:pPr indent="0" marL="0">
              <a:lnSpc>
                <a:spcPct val="122000"/>
              </a:lnSpc>
              <a:buNone/>
            </a:pPr>
            <a:r>
              <a:rPr lang="en-US" sz="1250" dirty="0">
                <a:solidFill>
                  <a:srgbClr val="A8A093"/>
                </a:solidFill>
                <a:latin typeface="Calibri" pitchFamily="34" charset="0"/>
                <a:ea typeface="Calibri" pitchFamily="34" charset="-122"/>
                <a:cs typeface="Calibri" pitchFamily="34" charset="-120"/>
              </a:rPr>
              <a:t>A form fill on its own is not a qualified lead. The count only moves when every one of these five is met — that is the same standard we hold ourselves to when we report the number back to you.</a:t>
            </a:r>
            <a:endParaRPr lang="en-US" sz="1250" dirty="0"/>
          </a:p>
        </p:txBody>
      </p:sp>
      <p:sp>
        <p:nvSpPr>
          <p:cNvPr id="7" name="Shape 5"/>
          <p:cNvSpPr/>
          <p:nvPr/>
        </p:nvSpPr>
        <p:spPr>
          <a:xfrm>
            <a:off x="1051560" y="4956048"/>
            <a:ext cx="274320" cy="274320"/>
          </a:xfrm>
          <a:prstGeom prst="ellipse">
            <a:avLst/>
          </a:prstGeom>
          <a:solidFill>
            <a:srgbClr val="C0532A"/>
          </a:solidFill>
          <a:ln/>
        </p:spPr>
      </p:sp>
      <p:sp>
        <p:nvSpPr>
          <p:cNvPr id="8" name="Text 6"/>
          <p:cNvSpPr/>
          <p:nvPr/>
        </p:nvSpPr>
        <p:spPr>
          <a:xfrm>
            <a:off x="1453896" y="4956048"/>
            <a:ext cx="2926080" cy="274320"/>
          </a:xfrm>
          <a:prstGeom prst="rect">
            <a:avLst/>
          </a:prstGeom>
          <a:noFill/>
          <a:ln/>
        </p:spPr>
        <p:txBody>
          <a:bodyPr wrap="square" lIns="0" tIns="0" rIns="0" bIns="0" rtlCol="0" anchor="ctr"/>
          <a:lstStyle/>
          <a:p>
            <a:pPr indent="0" marL="0">
              <a:buNone/>
            </a:pPr>
            <a:r>
              <a:rPr lang="en-US" sz="1150" b="1" dirty="0">
                <a:solidFill>
                  <a:srgbClr val="CFB48E"/>
                </a:solidFill>
                <a:latin typeface="Calibri" pitchFamily="34" charset="0"/>
                <a:ea typeface="Calibri" pitchFamily="34" charset="-122"/>
                <a:cs typeface="Calibri" pitchFamily="34" charset="-120"/>
              </a:rPr>
              <a:t>Counted and reported weekly</a:t>
            </a:r>
            <a:endParaRPr lang="en-US" sz="1150" dirty="0"/>
          </a:p>
        </p:txBody>
      </p:sp>
      <p:sp>
        <p:nvSpPr>
          <p:cNvPr id="9" name="Text 7"/>
          <p:cNvSpPr/>
          <p:nvPr/>
        </p:nvSpPr>
        <p:spPr>
          <a:xfrm>
            <a:off x="5001768" y="1792224"/>
            <a:ext cx="402336" cy="402336"/>
          </a:xfrm>
          <a:prstGeom prst="ellipse">
            <a:avLst/>
          </a:prstGeom>
          <a:solidFill>
            <a:srgbClr val="F0EBE0"/>
          </a:solidFill>
          <a:ln w="12700">
            <a:solidFill>
              <a:srgbClr val="C0532A"/>
            </a:solidFill>
          </a:ln>
        </p:spPr>
        <p:txBody>
          <a:bodyPr wrap="square" lIns="0" tIns="0" rIns="0" bIns="0" rtlCol="0" anchor="ctr"/>
          <a:lstStyle/>
          <a:p>
            <a:pPr algn="ctr" indent="0" marL="0">
              <a:buNone/>
            </a:pPr>
            <a:r>
              <a:rPr lang="en-US" sz="1300" b="1" dirty="0">
                <a:solidFill>
                  <a:srgbClr val="C0532A"/>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568696" y="1737360"/>
            <a:ext cx="5943600" cy="301752"/>
          </a:xfrm>
          <a:prstGeom prst="rect">
            <a:avLst/>
          </a:prstGeom>
          <a:noFill/>
          <a:ln/>
        </p:spPr>
        <p:txBody>
          <a:bodyPr wrap="square" lIns="0" tIns="0" rIns="0" bIns="0" rtlCol="0" anchor="ctr"/>
          <a:lstStyle/>
          <a:p>
            <a:pPr indent="0" marL="0">
              <a:buNone/>
            </a:pPr>
            <a:r>
              <a:rPr lang="en-US" sz="1450" b="1" dirty="0">
                <a:solidFill>
                  <a:srgbClr val="141414"/>
                </a:solidFill>
                <a:latin typeface="Calibri" pitchFamily="34" charset="0"/>
                <a:ea typeface="Calibri" pitchFamily="34" charset="-122"/>
                <a:cs typeface="Calibri" pitchFamily="34" charset="-120"/>
              </a:rPr>
              <a:t>Inside the service area</a:t>
            </a:r>
            <a:endParaRPr lang="en-US" sz="1450" dirty="0"/>
          </a:p>
        </p:txBody>
      </p:sp>
      <p:sp>
        <p:nvSpPr>
          <p:cNvPr id="11" name="Text 9"/>
          <p:cNvSpPr/>
          <p:nvPr/>
        </p:nvSpPr>
        <p:spPr>
          <a:xfrm>
            <a:off x="5568696" y="2020824"/>
            <a:ext cx="5943600" cy="274320"/>
          </a:xfrm>
          <a:prstGeom prst="rect">
            <a:avLst/>
          </a:prstGeom>
          <a:noFill/>
          <a:ln/>
        </p:spPr>
        <p:txBody>
          <a:bodyPr wrap="square" lIns="0" tIns="0" rIns="0" bIns="0" rtlCol="0" anchor="ctr"/>
          <a:lstStyle/>
          <a:p>
            <a:pPr indent="0" marL="0">
              <a:buNone/>
            </a:pPr>
            <a:r>
              <a:rPr lang="en-US" sz="1200" dirty="0">
                <a:solidFill>
                  <a:srgbClr val="6E6656"/>
                </a:solidFill>
                <a:latin typeface="Calibri" pitchFamily="34" charset="0"/>
                <a:ea typeface="Calibri" pitchFamily="34" charset="-122"/>
                <a:cs typeface="Calibri" pitchFamily="34" charset="-120"/>
              </a:rPr>
              <a:t>The practice can actually see them.</a:t>
            </a:r>
            <a:endParaRPr lang="en-US" sz="1200" dirty="0"/>
          </a:p>
        </p:txBody>
      </p:sp>
      <p:sp>
        <p:nvSpPr>
          <p:cNvPr id="12" name="Shape 10"/>
          <p:cNvSpPr/>
          <p:nvPr/>
        </p:nvSpPr>
        <p:spPr>
          <a:xfrm>
            <a:off x="5001768" y="2400300"/>
            <a:ext cx="6501384" cy="0"/>
          </a:xfrm>
          <a:prstGeom prst="line">
            <a:avLst/>
          </a:prstGeom>
          <a:noFill/>
          <a:ln w="9525">
            <a:solidFill>
              <a:srgbClr val="C9C2B4"/>
            </a:solidFill>
            <a:prstDash val="solid"/>
          </a:ln>
        </p:spPr>
      </p:sp>
      <p:sp>
        <p:nvSpPr>
          <p:cNvPr id="13" name="Text 11"/>
          <p:cNvSpPr/>
          <p:nvPr/>
        </p:nvSpPr>
        <p:spPr>
          <a:xfrm>
            <a:off x="5001768" y="2551176"/>
            <a:ext cx="402336" cy="402336"/>
          </a:xfrm>
          <a:prstGeom prst="ellipse">
            <a:avLst/>
          </a:prstGeom>
          <a:solidFill>
            <a:srgbClr val="F0EBE0"/>
          </a:solidFill>
          <a:ln w="12700">
            <a:solidFill>
              <a:srgbClr val="C0532A"/>
            </a:solidFill>
          </a:ln>
        </p:spPr>
        <p:txBody>
          <a:bodyPr wrap="square" lIns="0" tIns="0" rIns="0" bIns="0" rtlCol="0" anchor="ctr"/>
          <a:lstStyle/>
          <a:p>
            <a:pPr algn="ctr" indent="0" marL="0">
              <a:buNone/>
            </a:pPr>
            <a:r>
              <a:rPr lang="en-US" sz="1300" b="1" dirty="0">
                <a:solidFill>
                  <a:srgbClr val="C0532A"/>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5568696" y="2496312"/>
            <a:ext cx="5943600" cy="301752"/>
          </a:xfrm>
          <a:prstGeom prst="rect">
            <a:avLst/>
          </a:prstGeom>
          <a:noFill/>
          <a:ln/>
        </p:spPr>
        <p:txBody>
          <a:bodyPr wrap="square" lIns="0" tIns="0" rIns="0" bIns="0" rtlCol="0" anchor="ctr"/>
          <a:lstStyle/>
          <a:p>
            <a:pPr indent="0" marL="0">
              <a:buNone/>
            </a:pPr>
            <a:r>
              <a:rPr lang="en-US" sz="1450" b="1" dirty="0">
                <a:solidFill>
                  <a:srgbClr val="141414"/>
                </a:solidFill>
                <a:latin typeface="Calibri" pitchFamily="34" charset="0"/>
                <a:ea typeface="Calibri" pitchFamily="34" charset="-122"/>
                <a:cs typeface="Calibri" pitchFamily="34" charset="-120"/>
              </a:rPr>
              <a:t>Matches accepted insurance, or private pay</a:t>
            </a:r>
            <a:endParaRPr lang="en-US" sz="1450" dirty="0"/>
          </a:p>
        </p:txBody>
      </p:sp>
      <p:sp>
        <p:nvSpPr>
          <p:cNvPr id="15" name="Text 13"/>
          <p:cNvSpPr/>
          <p:nvPr/>
        </p:nvSpPr>
        <p:spPr>
          <a:xfrm>
            <a:off x="5568696" y="2779776"/>
            <a:ext cx="5943600" cy="274320"/>
          </a:xfrm>
          <a:prstGeom prst="rect">
            <a:avLst/>
          </a:prstGeom>
          <a:noFill/>
          <a:ln/>
        </p:spPr>
        <p:txBody>
          <a:bodyPr wrap="square" lIns="0" tIns="0" rIns="0" bIns="0" rtlCol="0" anchor="ctr"/>
          <a:lstStyle/>
          <a:p>
            <a:pPr indent="0" marL="0">
              <a:buNone/>
            </a:pPr>
            <a:r>
              <a:rPr lang="en-US" sz="1200" dirty="0">
                <a:solidFill>
                  <a:srgbClr val="6E6656"/>
                </a:solidFill>
                <a:latin typeface="Calibri" pitchFamily="34" charset="0"/>
                <a:ea typeface="Calibri" pitchFamily="34" charset="-122"/>
                <a:cs typeface="Calibri" pitchFamily="34" charset="-120"/>
              </a:rPr>
              <a:t>No leads we already know you cannot bill.</a:t>
            </a:r>
            <a:endParaRPr lang="en-US" sz="1200" dirty="0"/>
          </a:p>
        </p:txBody>
      </p:sp>
      <p:sp>
        <p:nvSpPr>
          <p:cNvPr id="16" name="Shape 14"/>
          <p:cNvSpPr/>
          <p:nvPr/>
        </p:nvSpPr>
        <p:spPr>
          <a:xfrm>
            <a:off x="5001768" y="3159252"/>
            <a:ext cx="6501384" cy="0"/>
          </a:xfrm>
          <a:prstGeom prst="line">
            <a:avLst/>
          </a:prstGeom>
          <a:noFill/>
          <a:ln w="9525">
            <a:solidFill>
              <a:srgbClr val="C9C2B4"/>
            </a:solidFill>
            <a:prstDash val="solid"/>
          </a:ln>
        </p:spPr>
      </p:sp>
      <p:sp>
        <p:nvSpPr>
          <p:cNvPr id="17" name="Text 15"/>
          <p:cNvSpPr/>
          <p:nvPr/>
        </p:nvSpPr>
        <p:spPr>
          <a:xfrm>
            <a:off x="5001768" y="3310128"/>
            <a:ext cx="402336" cy="402336"/>
          </a:xfrm>
          <a:prstGeom prst="ellipse">
            <a:avLst/>
          </a:prstGeom>
          <a:solidFill>
            <a:srgbClr val="F0EBE0"/>
          </a:solidFill>
          <a:ln w="12700">
            <a:solidFill>
              <a:srgbClr val="C0532A"/>
            </a:solidFill>
          </a:ln>
        </p:spPr>
        <p:txBody>
          <a:bodyPr wrap="square" lIns="0" tIns="0" rIns="0" bIns="0" rtlCol="0" anchor="ctr"/>
          <a:lstStyle/>
          <a:p>
            <a:pPr algn="ctr" indent="0" marL="0">
              <a:buNone/>
            </a:pPr>
            <a:r>
              <a:rPr lang="en-US" sz="1300" b="1" dirty="0">
                <a:solidFill>
                  <a:srgbClr val="C0532A"/>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5568696" y="3255264"/>
            <a:ext cx="5943600" cy="301752"/>
          </a:xfrm>
          <a:prstGeom prst="rect">
            <a:avLst/>
          </a:prstGeom>
          <a:noFill/>
          <a:ln/>
        </p:spPr>
        <p:txBody>
          <a:bodyPr wrap="square" lIns="0" tIns="0" rIns="0" bIns="0" rtlCol="0" anchor="ctr"/>
          <a:lstStyle/>
          <a:p>
            <a:pPr indent="0" marL="0">
              <a:buNone/>
            </a:pPr>
            <a:r>
              <a:rPr lang="en-US" sz="1450" b="1" dirty="0">
                <a:solidFill>
                  <a:srgbClr val="141414"/>
                </a:solidFill>
                <a:latin typeface="Calibri" pitchFamily="34" charset="0"/>
                <a:ea typeface="Calibri" pitchFamily="34" charset="-122"/>
                <a:cs typeface="Calibri" pitchFamily="34" charset="-120"/>
              </a:rPr>
              <a:t>Full form completed with real contact info</a:t>
            </a:r>
            <a:endParaRPr lang="en-US" sz="1450" dirty="0"/>
          </a:p>
        </p:txBody>
      </p:sp>
      <p:sp>
        <p:nvSpPr>
          <p:cNvPr id="19" name="Text 17"/>
          <p:cNvSpPr/>
          <p:nvPr/>
        </p:nvSpPr>
        <p:spPr>
          <a:xfrm>
            <a:off x="5568696" y="3538728"/>
            <a:ext cx="5943600" cy="274320"/>
          </a:xfrm>
          <a:prstGeom prst="rect">
            <a:avLst/>
          </a:prstGeom>
          <a:noFill/>
          <a:ln/>
        </p:spPr>
        <p:txBody>
          <a:bodyPr wrap="square" lIns="0" tIns="0" rIns="0" bIns="0" rtlCol="0" anchor="ctr"/>
          <a:lstStyle/>
          <a:p>
            <a:pPr indent="0" marL="0">
              <a:buNone/>
            </a:pPr>
            <a:r>
              <a:rPr lang="en-US" sz="1200" dirty="0">
                <a:solidFill>
                  <a:srgbClr val="6E6656"/>
                </a:solidFill>
                <a:latin typeface="Calibri" pitchFamily="34" charset="0"/>
                <a:ea typeface="Calibri" pitchFamily="34" charset="-122"/>
                <a:cs typeface="Calibri" pitchFamily="34" charset="-120"/>
              </a:rPr>
              <a:t>A working name and phone number, not junk.</a:t>
            </a:r>
            <a:endParaRPr lang="en-US" sz="1200" dirty="0"/>
          </a:p>
        </p:txBody>
      </p:sp>
      <p:sp>
        <p:nvSpPr>
          <p:cNvPr id="20" name="Shape 18"/>
          <p:cNvSpPr/>
          <p:nvPr/>
        </p:nvSpPr>
        <p:spPr>
          <a:xfrm>
            <a:off x="5001768" y="3918204"/>
            <a:ext cx="6501384" cy="0"/>
          </a:xfrm>
          <a:prstGeom prst="line">
            <a:avLst/>
          </a:prstGeom>
          <a:noFill/>
          <a:ln w="9525">
            <a:solidFill>
              <a:srgbClr val="C9C2B4"/>
            </a:solidFill>
            <a:prstDash val="solid"/>
          </a:ln>
        </p:spPr>
      </p:sp>
      <p:sp>
        <p:nvSpPr>
          <p:cNvPr id="21" name="Text 19"/>
          <p:cNvSpPr/>
          <p:nvPr/>
        </p:nvSpPr>
        <p:spPr>
          <a:xfrm>
            <a:off x="5001768" y="4069080"/>
            <a:ext cx="402336" cy="402336"/>
          </a:xfrm>
          <a:prstGeom prst="ellipse">
            <a:avLst/>
          </a:prstGeom>
          <a:solidFill>
            <a:srgbClr val="F0EBE0"/>
          </a:solidFill>
          <a:ln w="12700">
            <a:solidFill>
              <a:srgbClr val="C0532A"/>
            </a:solidFill>
          </a:ln>
        </p:spPr>
        <p:txBody>
          <a:bodyPr wrap="square" lIns="0" tIns="0" rIns="0" bIns="0" rtlCol="0" anchor="ctr"/>
          <a:lstStyle/>
          <a:p>
            <a:pPr algn="ctr" indent="0" marL="0">
              <a:buNone/>
            </a:pPr>
            <a:r>
              <a:rPr lang="en-US" sz="1300" b="1" dirty="0">
                <a:solidFill>
                  <a:srgbClr val="C0532A"/>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5568696" y="4014216"/>
            <a:ext cx="5943600" cy="301752"/>
          </a:xfrm>
          <a:prstGeom prst="rect">
            <a:avLst/>
          </a:prstGeom>
          <a:noFill/>
          <a:ln/>
        </p:spPr>
        <p:txBody>
          <a:bodyPr wrap="square" lIns="0" tIns="0" rIns="0" bIns="0" rtlCol="0" anchor="ctr"/>
          <a:lstStyle/>
          <a:p>
            <a:pPr indent="0" marL="0">
              <a:buNone/>
            </a:pPr>
            <a:r>
              <a:rPr lang="en-US" sz="1450" b="1" dirty="0">
                <a:solidFill>
                  <a:srgbClr val="141414"/>
                </a:solidFill>
                <a:latin typeface="Calibri" pitchFamily="34" charset="0"/>
                <a:ea typeface="Calibri" pitchFamily="34" charset="-122"/>
                <a:cs typeface="Calibri" pitchFamily="34" charset="-120"/>
              </a:rPr>
              <a:t>Actively seeking care</a:t>
            </a:r>
            <a:endParaRPr lang="en-US" sz="1450" dirty="0"/>
          </a:p>
        </p:txBody>
      </p:sp>
      <p:sp>
        <p:nvSpPr>
          <p:cNvPr id="23" name="Text 21"/>
          <p:cNvSpPr/>
          <p:nvPr/>
        </p:nvSpPr>
        <p:spPr>
          <a:xfrm>
            <a:off x="5568696" y="4297680"/>
            <a:ext cx="5943600" cy="274320"/>
          </a:xfrm>
          <a:prstGeom prst="rect">
            <a:avLst/>
          </a:prstGeom>
          <a:noFill/>
          <a:ln/>
        </p:spPr>
        <p:txBody>
          <a:bodyPr wrap="square" lIns="0" tIns="0" rIns="0" bIns="0" rtlCol="0" anchor="ctr"/>
          <a:lstStyle/>
          <a:p>
            <a:pPr indent="0" marL="0">
              <a:buNone/>
            </a:pPr>
            <a:r>
              <a:rPr lang="en-US" sz="1200" dirty="0">
                <a:solidFill>
                  <a:srgbClr val="6E6656"/>
                </a:solidFill>
                <a:latin typeface="Calibri" pitchFamily="34" charset="0"/>
                <a:ea typeface="Calibri" pitchFamily="34" charset="-122"/>
                <a:cs typeface="Calibri" pitchFamily="34" charset="-120"/>
              </a:rPr>
              <a:t>Looking for help now, not browsing.</a:t>
            </a:r>
            <a:endParaRPr lang="en-US" sz="1200" dirty="0"/>
          </a:p>
        </p:txBody>
      </p:sp>
      <p:sp>
        <p:nvSpPr>
          <p:cNvPr id="24" name="Shape 22"/>
          <p:cNvSpPr/>
          <p:nvPr/>
        </p:nvSpPr>
        <p:spPr>
          <a:xfrm>
            <a:off x="5001768" y="4677156"/>
            <a:ext cx="6501384" cy="0"/>
          </a:xfrm>
          <a:prstGeom prst="line">
            <a:avLst/>
          </a:prstGeom>
          <a:noFill/>
          <a:ln w="9525">
            <a:solidFill>
              <a:srgbClr val="C9C2B4"/>
            </a:solidFill>
            <a:prstDash val="solid"/>
          </a:ln>
        </p:spPr>
      </p:sp>
      <p:sp>
        <p:nvSpPr>
          <p:cNvPr id="25" name="Text 23"/>
          <p:cNvSpPr/>
          <p:nvPr/>
        </p:nvSpPr>
        <p:spPr>
          <a:xfrm>
            <a:off x="5001768" y="4828032"/>
            <a:ext cx="402336" cy="402336"/>
          </a:xfrm>
          <a:prstGeom prst="ellipse">
            <a:avLst/>
          </a:prstGeom>
          <a:solidFill>
            <a:srgbClr val="F0EBE0"/>
          </a:solidFill>
          <a:ln w="12700">
            <a:solidFill>
              <a:srgbClr val="C0532A"/>
            </a:solidFill>
          </a:ln>
        </p:spPr>
        <p:txBody>
          <a:bodyPr wrap="square" lIns="0" tIns="0" rIns="0" bIns="0" rtlCol="0" anchor="ctr"/>
          <a:lstStyle/>
          <a:p>
            <a:pPr algn="ctr" indent="0" marL="0">
              <a:buNone/>
            </a:pPr>
            <a:r>
              <a:rPr lang="en-US" sz="1300" b="1" dirty="0">
                <a:solidFill>
                  <a:srgbClr val="C0532A"/>
                </a:solidFill>
                <a:latin typeface="Calibri" pitchFamily="34" charset="0"/>
                <a:ea typeface="Calibri" pitchFamily="34" charset="-122"/>
                <a:cs typeface="Calibri" pitchFamily="34" charset="-120"/>
              </a:rPr>
              <a:t>5</a:t>
            </a:r>
            <a:endParaRPr lang="en-US" sz="1300" dirty="0"/>
          </a:p>
        </p:txBody>
      </p:sp>
      <p:sp>
        <p:nvSpPr>
          <p:cNvPr id="26" name="Text 24"/>
          <p:cNvSpPr/>
          <p:nvPr/>
        </p:nvSpPr>
        <p:spPr>
          <a:xfrm>
            <a:off x="5568696" y="4773168"/>
            <a:ext cx="5943600" cy="301752"/>
          </a:xfrm>
          <a:prstGeom prst="rect">
            <a:avLst/>
          </a:prstGeom>
          <a:noFill/>
          <a:ln/>
        </p:spPr>
        <p:txBody>
          <a:bodyPr wrap="square" lIns="0" tIns="0" rIns="0" bIns="0" rtlCol="0" anchor="ctr"/>
          <a:lstStyle/>
          <a:p>
            <a:pPr indent="0" marL="0">
              <a:buNone/>
            </a:pPr>
            <a:r>
              <a:rPr lang="en-US" sz="1450" b="1" dirty="0">
                <a:solidFill>
                  <a:srgbClr val="141414"/>
                </a:solidFill>
                <a:latin typeface="Calibri" pitchFamily="34" charset="0"/>
                <a:ea typeface="Calibri" pitchFamily="34" charset="-122"/>
                <a:cs typeface="Calibri" pitchFamily="34" charset="-120"/>
              </a:rPr>
              <a:t>Responded to at least one AI follow-up</a:t>
            </a:r>
            <a:endParaRPr lang="en-US" sz="1450" dirty="0"/>
          </a:p>
        </p:txBody>
      </p:sp>
      <p:sp>
        <p:nvSpPr>
          <p:cNvPr id="27" name="Text 25"/>
          <p:cNvSpPr/>
          <p:nvPr/>
        </p:nvSpPr>
        <p:spPr>
          <a:xfrm>
            <a:off x="5568696" y="5056632"/>
            <a:ext cx="5943600" cy="274320"/>
          </a:xfrm>
          <a:prstGeom prst="rect">
            <a:avLst/>
          </a:prstGeom>
          <a:noFill/>
          <a:ln/>
        </p:spPr>
        <p:txBody>
          <a:bodyPr wrap="square" lIns="0" tIns="0" rIns="0" bIns="0" rtlCol="0" anchor="ctr"/>
          <a:lstStyle/>
          <a:p>
            <a:pPr indent="0" marL="0">
              <a:buNone/>
            </a:pPr>
            <a:r>
              <a:rPr lang="en-US" sz="1200" dirty="0">
                <a:solidFill>
                  <a:srgbClr val="6E6656"/>
                </a:solidFill>
                <a:latin typeface="Calibri" pitchFamily="34" charset="0"/>
                <a:ea typeface="Calibri" pitchFamily="34" charset="-122"/>
                <a:cs typeface="Calibri" pitchFamily="34" charset="-120"/>
              </a:rPr>
              <a:t>They replied to a call or a text — a real human on the other end.</a:t>
            </a:r>
            <a:endParaRPr lang="en-US" sz="1200" dirty="0"/>
          </a:p>
        </p:txBody>
      </p:sp>
      <p:sp>
        <p:nvSpPr>
          <p:cNvPr id="28" name="Text 26"/>
          <p:cNvSpPr/>
          <p:nvPr/>
        </p:nvSpPr>
        <p:spPr>
          <a:xfrm>
            <a:off x="685800" y="6327648"/>
            <a:ext cx="5486400" cy="274320"/>
          </a:xfrm>
          <a:prstGeom prst="rect">
            <a:avLst/>
          </a:prstGeom>
          <a:noFill/>
          <a:ln/>
        </p:spPr>
        <p:txBody>
          <a:bodyPr wrap="square" lIns="0" tIns="0" rIns="0" bIns="0" rtlCol="0" anchor="ctr"/>
          <a:lstStyle/>
          <a:p>
            <a:pPr indent="0" marL="0">
              <a:buNone/>
            </a:pPr>
            <a:r>
              <a:rPr lang="en-US" sz="850" spc="160" kern="0" dirty="0">
                <a:solidFill>
                  <a:srgbClr val="9A9080"/>
                </a:solidFill>
                <a:latin typeface="Calibri" pitchFamily="34" charset="0"/>
                <a:ea typeface="Calibri" pitchFamily="34" charset="-122"/>
                <a:cs typeface="Calibri" pitchFamily="34" charset="-120"/>
              </a:rPr>
              <a:t>STAY BOOKED MARKETING  ·  CLIENT KICKOFF</a:t>
            </a:r>
            <a:endParaRPr lang="en-US" sz="850" dirty="0"/>
          </a:p>
        </p:txBody>
      </p:sp>
      <p:sp>
        <p:nvSpPr>
          <p:cNvPr id="29" name="Text 27"/>
          <p:cNvSpPr/>
          <p:nvPr/>
        </p:nvSpPr>
        <p:spPr>
          <a:xfrm>
            <a:off x="10591495" y="6327648"/>
            <a:ext cx="914400" cy="274320"/>
          </a:xfrm>
          <a:prstGeom prst="rect">
            <a:avLst/>
          </a:prstGeom>
          <a:noFill/>
          <a:ln/>
        </p:spPr>
        <p:txBody>
          <a:bodyPr wrap="square" lIns="0" tIns="0" rIns="0" bIns="0" rtlCol="0" anchor="ctr"/>
          <a:lstStyle/>
          <a:p>
            <a:pPr algn="r" indent="0" marL="0">
              <a:buNone/>
            </a:pPr>
            <a:r>
              <a:rPr lang="en-US" sz="850" spc="160" kern="0" dirty="0">
                <a:solidFill>
                  <a:srgbClr val="9A9080"/>
                </a:solidFill>
                <a:latin typeface="Calibri" pitchFamily="34" charset="0"/>
                <a:ea typeface="Calibri" pitchFamily="34" charset="-122"/>
                <a:cs typeface="Calibri" pitchFamily="34" charset="-120"/>
              </a:rPr>
              <a:t>05</a:t>
            </a:r>
            <a:endParaRPr lang="en-US" sz="850" dirty="0"/>
          </a:p>
        </p:txBody>
      </p:sp>
      <p:pic>
        <p:nvPicPr>
          <p:cNvPr id="30" name="Image 0" descr="assets/logo_black.png">    </p:cNvPr>
          <p:cNvPicPr>
            <a:picLocks noChangeAspect="1"/>
          </p:cNvPicPr>
          <p:nvPr/>
        </p:nvPicPr>
        <p:blipFill>
          <a:blip r:embed="rId1">
            <a:alphaModFix amt="22000"/>
          </a:blip>
          <a:stretch>
            <a:fillRect/>
          </a:stretch>
        </p:blipFill>
        <p:spPr>
          <a:xfrm>
            <a:off x="10847527" y="384048"/>
            <a:ext cx="658368" cy="20939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EBE0"/>
        </a:solidFill>
      </p:bgPr>
    </p:bg>
    <p:spTree>
      <p:nvGrpSpPr>
        <p:cNvPr id="1" name=""/>
        <p:cNvGrpSpPr/>
        <p:nvPr/>
      </p:nvGrpSpPr>
      <p:grpSpPr>
        <a:xfrm>
          <a:off x="0" y="0"/>
          <a:ext cx="0" cy="0"/>
          <a:chOff x="0" y="0"/>
          <a:chExt cx="0" cy="0"/>
        </a:xfrm>
      </p:grpSpPr>
      <p:sp>
        <p:nvSpPr>
          <p:cNvPr id="2" name="Text 0"/>
          <p:cNvSpPr/>
          <p:nvPr/>
        </p:nvSpPr>
        <p:spPr>
          <a:xfrm>
            <a:off x="685800" y="566928"/>
            <a:ext cx="7772400" cy="256032"/>
          </a:xfrm>
          <a:prstGeom prst="rect">
            <a:avLst/>
          </a:prstGeom>
          <a:noFill/>
          <a:ln/>
        </p:spPr>
        <p:txBody>
          <a:bodyPr wrap="square" lIns="0" tIns="0" rIns="0" bIns="0" rtlCol="0" anchor="ctr"/>
          <a:lstStyle/>
          <a:p>
            <a:pPr indent="0" marL="0">
              <a:buNone/>
            </a:pPr>
            <a:r>
              <a:rPr lang="en-US" sz="1050" b="1" spc="260" kern="0" dirty="0">
                <a:solidFill>
                  <a:srgbClr val="C0532A"/>
                </a:solidFill>
                <a:latin typeface="Calibri" pitchFamily="34" charset="0"/>
                <a:ea typeface="Calibri" pitchFamily="34" charset="-122"/>
                <a:cs typeface="Calibri" pitchFamily="34" charset="-120"/>
              </a:rPr>
              <a:t>SHARED RESPONSIBILITY</a:t>
            </a:r>
            <a:endParaRPr lang="en-US" sz="1050" dirty="0"/>
          </a:p>
        </p:txBody>
      </p:sp>
      <p:sp>
        <p:nvSpPr>
          <p:cNvPr id="3" name="Text 1"/>
          <p:cNvSpPr/>
          <p:nvPr/>
        </p:nvSpPr>
        <p:spPr>
          <a:xfrm>
            <a:off x="685800" y="868680"/>
            <a:ext cx="10058400" cy="658368"/>
          </a:xfrm>
          <a:prstGeom prst="rect">
            <a:avLst/>
          </a:prstGeom>
          <a:noFill/>
          <a:ln/>
        </p:spPr>
        <p:txBody>
          <a:bodyPr wrap="square" lIns="0" tIns="0" rIns="0" bIns="0" rtlCol="0" anchor="ctr"/>
          <a:lstStyle/>
          <a:p>
            <a:pPr indent="0" marL="0">
              <a:buNone/>
            </a:pPr>
            <a:r>
              <a:rPr lang="en-US" sz="3400" b="1" dirty="0">
                <a:solidFill>
                  <a:srgbClr val="141414"/>
                </a:solidFill>
                <a:latin typeface="Cambria" pitchFamily="34" charset="0"/>
                <a:ea typeface="Cambria" pitchFamily="34" charset="-122"/>
                <a:cs typeface="Cambria" pitchFamily="34" charset="-120"/>
              </a:rPr>
              <a:t>What protects the guarantee</a:t>
            </a:r>
            <a:endParaRPr lang="en-US" sz="3400" dirty="0"/>
          </a:p>
        </p:txBody>
      </p:sp>
      <p:sp>
        <p:nvSpPr>
          <p:cNvPr id="4" name="Text 2"/>
          <p:cNvSpPr/>
          <p:nvPr/>
        </p:nvSpPr>
        <p:spPr>
          <a:xfrm>
            <a:off x="685800" y="1572768"/>
            <a:ext cx="9509760" cy="292608"/>
          </a:xfrm>
          <a:prstGeom prst="rect">
            <a:avLst/>
          </a:prstGeom>
          <a:noFill/>
          <a:ln/>
        </p:spPr>
        <p:txBody>
          <a:bodyPr wrap="square" lIns="0" tIns="0" rIns="0" bIns="0" rtlCol="0" anchor="ctr"/>
          <a:lstStyle/>
          <a:p>
            <a:pPr indent="0" marL="0">
              <a:buNone/>
            </a:pPr>
            <a:r>
              <a:rPr lang="en-US" sz="1350" dirty="0">
                <a:solidFill>
                  <a:srgbClr val="6E6656"/>
                </a:solidFill>
                <a:latin typeface="Calibri" pitchFamily="34" charset="0"/>
                <a:ea typeface="Calibri" pitchFamily="34" charset="-122"/>
                <a:cs typeface="Calibri" pitchFamily="34" charset="-120"/>
              </a:rPr>
              <a:t>The guarantee assumes the campaign is allowed to run. Three things on the practice's side keep it intact.</a:t>
            </a:r>
            <a:endParaRPr lang="en-US" sz="1350" dirty="0"/>
          </a:p>
        </p:txBody>
      </p:sp>
      <p:sp>
        <p:nvSpPr>
          <p:cNvPr id="5" name="Shape 3"/>
          <p:cNvSpPr/>
          <p:nvPr/>
        </p:nvSpPr>
        <p:spPr>
          <a:xfrm>
            <a:off x="685800" y="2084832"/>
            <a:ext cx="3423818" cy="2487168"/>
          </a:xfrm>
          <a:prstGeom prst="roundRect">
            <a:avLst>
              <a:gd name="adj" fmla="val 3309"/>
            </a:avLst>
          </a:prstGeom>
          <a:solidFill>
            <a:srgbClr val="FBFAF6"/>
          </a:solidFill>
          <a:ln w="9525">
            <a:solidFill>
              <a:srgbClr val="C9C2B4"/>
            </a:solidFill>
            <a:prstDash val="solid"/>
          </a:ln>
        </p:spPr>
      </p:sp>
      <p:sp>
        <p:nvSpPr>
          <p:cNvPr id="6" name="Text 4"/>
          <p:cNvSpPr/>
          <p:nvPr/>
        </p:nvSpPr>
        <p:spPr>
          <a:xfrm>
            <a:off x="978408" y="2359152"/>
            <a:ext cx="512064" cy="512064"/>
          </a:xfrm>
          <a:prstGeom prst="ellipse">
            <a:avLst/>
          </a:prstGeom>
          <a:solidFill>
            <a:srgbClr val="C0532A"/>
          </a:solidFill>
          <a:ln/>
        </p:spPr>
        <p:txBody>
          <a:bodyPr wrap="square" lIns="0" tIns="0" rIns="0" bIns="0" rtlCol="0" anchor="ctr"/>
          <a:lstStyle/>
          <a:p>
            <a:pPr algn="ctr" indent="0" marL="0">
              <a:buNone/>
            </a:pPr>
            <a:r>
              <a:rPr lang="en-US" sz="1250" b="1" dirty="0">
                <a:solidFill>
                  <a:srgbClr val="FBFAF6"/>
                </a:solidFill>
                <a:latin typeface="Calibri" pitchFamily="34" charset="0"/>
                <a:ea typeface="Calibri" pitchFamily="34" charset="-122"/>
                <a:cs typeface="Calibri" pitchFamily="34" charset="-120"/>
              </a:rPr>
              <a:t>01</a:t>
            </a:r>
            <a:endParaRPr lang="en-US" sz="1250" dirty="0"/>
          </a:p>
        </p:txBody>
      </p:sp>
      <p:sp>
        <p:nvSpPr>
          <p:cNvPr id="7" name="Text 5"/>
          <p:cNvSpPr/>
          <p:nvPr/>
        </p:nvSpPr>
        <p:spPr>
          <a:xfrm>
            <a:off x="978408" y="2980944"/>
            <a:ext cx="2838602" cy="566928"/>
          </a:xfrm>
          <a:prstGeom prst="rect">
            <a:avLst/>
          </a:prstGeom>
          <a:noFill/>
          <a:ln/>
        </p:spPr>
        <p:txBody>
          <a:bodyPr wrap="square" lIns="0" tIns="0" rIns="0" bIns="0" rtlCol="0" anchor="ctr"/>
          <a:lstStyle/>
          <a:p>
            <a:pPr indent="0" marL="0">
              <a:lnSpc>
                <a:spcPct val="98000"/>
              </a:lnSpc>
              <a:buNone/>
            </a:pPr>
            <a:r>
              <a:rPr lang="en-US" sz="1800" b="1" dirty="0">
                <a:solidFill>
                  <a:srgbClr val="141414"/>
                </a:solidFill>
                <a:latin typeface="Cambria" pitchFamily="34" charset="0"/>
                <a:ea typeface="Cambria" pitchFamily="34" charset="-122"/>
                <a:cs typeface="Cambria" pitchFamily="34" charset="-120"/>
              </a:rPr>
              <a:t>Fast approvals</a:t>
            </a:r>
            <a:endParaRPr lang="en-US" sz="1800" dirty="0"/>
          </a:p>
        </p:txBody>
      </p:sp>
      <p:sp>
        <p:nvSpPr>
          <p:cNvPr id="8" name="Text 6"/>
          <p:cNvSpPr/>
          <p:nvPr/>
        </p:nvSpPr>
        <p:spPr>
          <a:xfrm>
            <a:off x="978408" y="3602736"/>
            <a:ext cx="2838602" cy="859536"/>
          </a:xfrm>
          <a:prstGeom prst="rect">
            <a:avLst/>
          </a:prstGeom>
          <a:noFill/>
          <a:ln/>
        </p:spPr>
        <p:txBody>
          <a:bodyPr wrap="square" lIns="0" tIns="0" rIns="0" bIns="0" rtlCol="0" anchor="t"/>
          <a:lstStyle/>
          <a:p>
            <a:pPr indent="0" marL="0">
              <a:lnSpc>
                <a:spcPct val="116000"/>
              </a:lnSpc>
              <a:buNone/>
            </a:pPr>
            <a:r>
              <a:rPr lang="en-US" sz="1200" dirty="0">
                <a:solidFill>
                  <a:srgbClr val="3A3A3A"/>
                </a:solidFill>
                <a:latin typeface="Calibri" pitchFamily="34" charset="0"/>
                <a:ea typeface="Calibri" pitchFamily="34" charset="-122"/>
                <a:cs typeface="Calibri" pitchFamily="34" charset="-120"/>
              </a:rPr>
              <a:t>Ads, copy, and creative come to you for sign-off. Every day a batch sits waiting is a day the campaign is not learning.</a:t>
            </a:r>
            <a:endParaRPr lang="en-US" sz="1200" dirty="0"/>
          </a:p>
        </p:txBody>
      </p:sp>
      <p:sp>
        <p:nvSpPr>
          <p:cNvPr id="9" name="Shape 7"/>
          <p:cNvSpPr/>
          <p:nvPr/>
        </p:nvSpPr>
        <p:spPr>
          <a:xfrm>
            <a:off x="4383938" y="2084832"/>
            <a:ext cx="3423818" cy="2487168"/>
          </a:xfrm>
          <a:prstGeom prst="roundRect">
            <a:avLst>
              <a:gd name="adj" fmla="val 3309"/>
            </a:avLst>
          </a:prstGeom>
          <a:solidFill>
            <a:srgbClr val="FBFAF6"/>
          </a:solidFill>
          <a:ln w="9525">
            <a:solidFill>
              <a:srgbClr val="C9C2B4"/>
            </a:solidFill>
            <a:prstDash val="solid"/>
          </a:ln>
        </p:spPr>
      </p:sp>
      <p:sp>
        <p:nvSpPr>
          <p:cNvPr id="10" name="Text 8"/>
          <p:cNvSpPr/>
          <p:nvPr/>
        </p:nvSpPr>
        <p:spPr>
          <a:xfrm>
            <a:off x="4676546" y="2359152"/>
            <a:ext cx="512064" cy="512064"/>
          </a:xfrm>
          <a:prstGeom prst="ellipse">
            <a:avLst/>
          </a:prstGeom>
          <a:solidFill>
            <a:srgbClr val="C0532A"/>
          </a:solidFill>
          <a:ln/>
        </p:spPr>
        <p:txBody>
          <a:bodyPr wrap="square" lIns="0" tIns="0" rIns="0" bIns="0" rtlCol="0" anchor="ctr"/>
          <a:lstStyle/>
          <a:p>
            <a:pPr algn="ctr" indent="0" marL="0">
              <a:buNone/>
            </a:pPr>
            <a:r>
              <a:rPr lang="en-US" sz="1250" b="1" dirty="0">
                <a:solidFill>
                  <a:srgbClr val="FBFAF6"/>
                </a:solidFill>
                <a:latin typeface="Calibri" pitchFamily="34" charset="0"/>
                <a:ea typeface="Calibri" pitchFamily="34" charset="-122"/>
                <a:cs typeface="Calibri" pitchFamily="34" charset="-120"/>
              </a:rPr>
              <a:t>02</a:t>
            </a:r>
            <a:endParaRPr lang="en-US" sz="1250" dirty="0"/>
          </a:p>
        </p:txBody>
      </p:sp>
      <p:sp>
        <p:nvSpPr>
          <p:cNvPr id="11" name="Text 9"/>
          <p:cNvSpPr/>
          <p:nvPr/>
        </p:nvSpPr>
        <p:spPr>
          <a:xfrm>
            <a:off x="4676546" y="2980944"/>
            <a:ext cx="2838602" cy="566928"/>
          </a:xfrm>
          <a:prstGeom prst="rect">
            <a:avLst/>
          </a:prstGeom>
          <a:noFill/>
          <a:ln/>
        </p:spPr>
        <p:txBody>
          <a:bodyPr wrap="square" lIns="0" tIns="0" rIns="0" bIns="0" rtlCol="0" anchor="ctr"/>
          <a:lstStyle/>
          <a:p>
            <a:pPr indent="0" marL="0">
              <a:lnSpc>
                <a:spcPct val="98000"/>
              </a:lnSpc>
              <a:buNone/>
            </a:pPr>
            <a:r>
              <a:rPr lang="en-US" sz="1800" b="1" dirty="0">
                <a:solidFill>
                  <a:srgbClr val="141414"/>
                </a:solidFill>
                <a:latin typeface="Cambria" pitchFamily="34" charset="0"/>
                <a:ea typeface="Cambria" pitchFamily="34" charset="-122"/>
                <a:cs typeface="Cambria" pitchFamily="34" charset="-120"/>
              </a:rPr>
              <a:t>No pausing campaigns</a:t>
            </a:r>
            <a:endParaRPr lang="en-US" sz="1800" dirty="0"/>
          </a:p>
        </p:txBody>
      </p:sp>
      <p:sp>
        <p:nvSpPr>
          <p:cNvPr id="12" name="Text 10"/>
          <p:cNvSpPr/>
          <p:nvPr/>
        </p:nvSpPr>
        <p:spPr>
          <a:xfrm>
            <a:off x="4676546" y="3602736"/>
            <a:ext cx="2838602" cy="859536"/>
          </a:xfrm>
          <a:prstGeom prst="rect">
            <a:avLst/>
          </a:prstGeom>
          <a:noFill/>
          <a:ln/>
        </p:spPr>
        <p:txBody>
          <a:bodyPr wrap="square" lIns="0" tIns="0" rIns="0" bIns="0" rtlCol="0" anchor="t"/>
          <a:lstStyle/>
          <a:p>
            <a:pPr indent="0" marL="0">
              <a:lnSpc>
                <a:spcPct val="116000"/>
              </a:lnSpc>
              <a:buNone/>
            </a:pPr>
            <a:r>
              <a:rPr lang="en-US" sz="1200" dirty="0">
                <a:solidFill>
                  <a:srgbClr val="3A3A3A"/>
                </a:solidFill>
                <a:latin typeface="Calibri" pitchFamily="34" charset="0"/>
                <a:ea typeface="Calibri" pitchFamily="34" charset="-122"/>
                <a:cs typeface="Calibri" pitchFamily="34" charset="-120"/>
              </a:rPr>
              <a:t>Pausing resets the platform's learning and throws away data we already paid for. Talk to us before switching anything off.</a:t>
            </a:r>
            <a:endParaRPr lang="en-US" sz="1200" dirty="0"/>
          </a:p>
        </p:txBody>
      </p:sp>
      <p:sp>
        <p:nvSpPr>
          <p:cNvPr id="13" name="Shape 11"/>
          <p:cNvSpPr/>
          <p:nvPr/>
        </p:nvSpPr>
        <p:spPr>
          <a:xfrm>
            <a:off x="8082077" y="2084832"/>
            <a:ext cx="3423818" cy="2487168"/>
          </a:xfrm>
          <a:prstGeom prst="roundRect">
            <a:avLst>
              <a:gd name="adj" fmla="val 3309"/>
            </a:avLst>
          </a:prstGeom>
          <a:solidFill>
            <a:srgbClr val="FBFAF6"/>
          </a:solidFill>
          <a:ln w="9525">
            <a:solidFill>
              <a:srgbClr val="C9C2B4"/>
            </a:solidFill>
            <a:prstDash val="solid"/>
          </a:ln>
        </p:spPr>
      </p:sp>
      <p:sp>
        <p:nvSpPr>
          <p:cNvPr id="14" name="Text 12"/>
          <p:cNvSpPr/>
          <p:nvPr/>
        </p:nvSpPr>
        <p:spPr>
          <a:xfrm>
            <a:off x="8374685" y="2359152"/>
            <a:ext cx="512064" cy="512064"/>
          </a:xfrm>
          <a:prstGeom prst="ellipse">
            <a:avLst/>
          </a:prstGeom>
          <a:solidFill>
            <a:srgbClr val="C0532A"/>
          </a:solidFill>
          <a:ln/>
        </p:spPr>
        <p:txBody>
          <a:bodyPr wrap="square" lIns="0" tIns="0" rIns="0" bIns="0" rtlCol="0" anchor="ctr"/>
          <a:lstStyle/>
          <a:p>
            <a:pPr algn="ctr" indent="0" marL="0">
              <a:buNone/>
            </a:pPr>
            <a:r>
              <a:rPr lang="en-US" sz="1250" b="1" dirty="0">
                <a:solidFill>
                  <a:srgbClr val="FBFAF6"/>
                </a:solidFill>
                <a:latin typeface="Calibri" pitchFamily="34" charset="0"/>
                <a:ea typeface="Calibri" pitchFamily="34" charset="-122"/>
                <a:cs typeface="Calibri" pitchFamily="34" charset="-120"/>
              </a:rPr>
              <a:t>03</a:t>
            </a:r>
            <a:endParaRPr lang="en-US" sz="1250" dirty="0"/>
          </a:p>
        </p:txBody>
      </p:sp>
      <p:sp>
        <p:nvSpPr>
          <p:cNvPr id="15" name="Text 13"/>
          <p:cNvSpPr/>
          <p:nvPr/>
        </p:nvSpPr>
        <p:spPr>
          <a:xfrm>
            <a:off x="8374685" y="2980944"/>
            <a:ext cx="2838602" cy="566928"/>
          </a:xfrm>
          <a:prstGeom prst="rect">
            <a:avLst/>
          </a:prstGeom>
          <a:noFill/>
          <a:ln/>
        </p:spPr>
        <p:txBody>
          <a:bodyPr wrap="square" lIns="0" tIns="0" rIns="0" bIns="0" rtlCol="0" anchor="ctr"/>
          <a:lstStyle/>
          <a:p>
            <a:pPr indent="0" marL="0">
              <a:lnSpc>
                <a:spcPct val="98000"/>
              </a:lnSpc>
              <a:buNone/>
            </a:pPr>
            <a:r>
              <a:rPr lang="en-US" sz="1800" b="1" dirty="0">
                <a:solidFill>
                  <a:srgbClr val="141414"/>
                </a:solidFill>
                <a:latin typeface="Cambria" pitchFamily="34" charset="0"/>
                <a:ea typeface="Cambria" pitchFamily="34" charset="-122"/>
                <a:cs typeface="Cambria" pitchFamily="34" charset="-120"/>
              </a:rPr>
              <a:t>Timely follow-up</a:t>
            </a:r>
            <a:endParaRPr lang="en-US" sz="1800" dirty="0"/>
          </a:p>
        </p:txBody>
      </p:sp>
      <p:sp>
        <p:nvSpPr>
          <p:cNvPr id="16" name="Text 14"/>
          <p:cNvSpPr/>
          <p:nvPr/>
        </p:nvSpPr>
        <p:spPr>
          <a:xfrm>
            <a:off x="8374685" y="3602736"/>
            <a:ext cx="2838602" cy="859536"/>
          </a:xfrm>
          <a:prstGeom prst="rect">
            <a:avLst/>
          </a:prstGeom>
          <a:noFill/>
          <a:ln/>
        </p:spPr>
        <p:txBody>
          <a:bodyPr wrap="square" lIns="0" tIns="0" rIns="0" bIns="0" rtlCol="0" anchor="t"/>
          <a:lstStyle/>
          <a:p>
            <a:pPr indent="0" marL="0">
              <a:lnSpc>
                <a:spcPct val="116000"/>
              </a:lnSpc>
              <a:buNone/>
            </a:pPr>
            <a:r>
              <a:rPr lang="en-US" sz="1200" dirty="0">
                <a:solidFill>
                  <a:srgbClr val="3A3A3A"/>
                </a:solidFill>
                <a:latin typeface="Calibri" pitchFamily="34" charset="0"/>
                <a:ea typeface="Calibri" pitchFamily="34" charset="-122"/>
                <a:cs typeface="Calibri" pitchFamily="34" charset="-120"/>
              </a:rPr>
              <a:t>Our AI makes first contact, but your staff closes the loop. Leads that sit unworked stop being leads.</a:t>
            </a:r>
            <a:endParaRPr lang="en-US" sz="1200" dirty="0"/>
          </a:p>
        </p:txBody>
      </p:sp>
      <p:sp>
        <p:nvSpPr>
          <p:cNvPr id="17" name="Shape 15"/>
          <p:cNvSpPr/>
          <p:nvPr/>
        </p:nvSpPr>
        <p:spPr>
          <a:xfrm>
            <a:off x="685800" y="4791456"/>
            <a:ext cx="10820095" cy="1060704"/>
          </a:xfrm>
          <a:prstGeom prst="roundRect">
            <a:avLst>
              <a:gd name="adj" fmla="val 7759"/>
            </a:avLst>
          </a:prstGeom>
          <a:solidFill>
            <a:srgbClr val="141414"/>
          </a:solidFill>
          <a:ln/>
        </p:spPr>
      </p:sp>
      <p:sp>
        <p:nvSpPr>
          <p:cNvPr id="18" name="Text 16"/>
          <p:cNvSpPr/>
          <p:nvPr/>
        </p:nvSpPr>
        <p:spPr>
          <a:xfrm>
            <a:off x="1069848" y="4992624"/>
            <a:ext cx="2743200" cy="219456"/>
          </a:xfrm>
          <a:prstGeom prst="rect">
            <a:avLst/>
          </a:prstGeom>
          <a:noFill/>
          <a:ln/>
        </p:spPr>
        <p:txBody>
          <a:bodyPr wrap="square" lIns="0" tIns="0" rIns="0" bIns="0" rtlCol="0" anchor="ctr"/>
          <a:lstStyle/>
          <a:p>
            <a:pPr indent="0" marL="0">
              <a:buNone/>
            </a:pPr>
            <a:r>
              <a:rPr lang="en-US" sz="900" b="1" spc="220" kern="0" dirty="0">
                <a:solidFill>
                  <a:srgbClr val="E08A5F"/>
                </a:solidFill>
                <a:latin typeface="Calibri" pitchFamily="34" charset="0"/>
                <a:ea typeface="Calibri" pitchFamily="34" charset="-122"/>
                <a:cs typeface="Calibri" pitchFamily="34" charset="-120"/>
              </a:rPr>
              <a:t>BE CLEAR ABOUT THIS</a:t>
            </a:r>
            <a:endParaRPr lang="en-US" sz="900" dirty="0"/>
          </a:p>
        </p:txBody>
      </p:sp>
      <p:sp>
        <p:nvSpPr>
          <p:cNvPr id="19" name="Text 17"/>
          <p:cNvSpPr/>
          <p:nvPr/>
        </p:nvSpPr>
        <p:spPr>
          <a:xfrm>
            <a:off x="1069848" y="5230368"/>
            <a:ext cx="9966960" cy="384048"/>
          </a:xfrm>
          <a:prstGeom prst="rect">
            <a:avLst/>
          </a:prstGeom>
          <a:noFill/>
          <a:ln/>
        </p:spPr>
        <p:txBody>
          <a:bodyPr wrap="square" lIns="0" tIns="0" rIns="0" bIns="0" rtlCol="0" anchor="ctr"/>
          <a:lstStyle/>
          <a:p>
            <a:pPr indent="0" marL="0">
              <a:buNone/>
            </a:pPr>
            <a:r>
              <a:rPr lang="en-US" sz="2100" b="1" dirty="0">
                <a:solidFill>
                  <a:srgbClr val="F0EBE0"/>
                </a:solidFill>
                <a:latin typeface="Cambria" pitchFamily="34" charset="0"/>
                <a:ea typeface="Cambria" pitchFamily="34" charset="-122"/>
                <a:cs typeface="Cambria" pitchFamily="34" charset="-120"/>
              </a:rPr>
              <a:t>The guarantee covers lead delivery — not conversion into booked patients.</a:t>
            </a:r>
            <a:endParaRPr lang="en-US" sz="2100" dirty="0"/>
          </a:p>
        </p:txBody>
      </p:sp>
      <p:sp>
        <p:nvSpPr>
          <p:cNvPr id="20" name="Text 18"/>
          <p:cNvSpPr/>
          <p:nvPr/>
        </p:nvSpPr>
        <p:spPr>
          <a:xfrm>
            <a:off x="685800" y="6327648"/>
            <a:ext cx="5486400" cy="274320"/>
          </a:xfrm>
          <a:prstGeom prst="rect">
            <a:avLst/>
          </a:prstGeom>
          <a:noFill/>
          <a:ln/>
        </p:spPr>
        <p:txBody>
          <a:bodyPr wrap="square" lIns="0" tIns="0" rIns="0" bIns="0" rtlCol="0" anchor="ctr"/>
          <a:lstStyle/>
          <a:p>
            <a:pPr indent="0" marL="0">
              <a:buNone/>
            </a:pPr>
            <a:r>
              <a:rPr lang="en-US" sz="850" spc="160" kern="0" dirty="0">
                <a:solidFill>
                  <a:srgbClr val="9A9080"/>
                </a:solidFill>
                <a:latin typeface="Calibri" pitchFamily="34" charset="0"/>
                <a:ea typeface="Calibri" pitchFamily="34" charset="-122"/>
                <a:cs typeface="Calibri" pitchFamily="34" charset="-120"/>
              </a:rPr>
              <a:t>STAY BOOKED MARKETING  ·  CLIENT KICKOFF</a:t>
            </a:r>
            <a:endParaRPr lang="en-US" sz="850" dirty="0"/>
          </a:p>
        </p:txBody>
      </p:sp>
      <p:sp>
        <p:nvSpPr>
          <p:cNvPr id="21" name="Text 19"/>
          <p:cNvSpPr/>
          <p:nvPr/>
        </p:nvSpPr>
        <p:spPr>
          <a:xfrm>
            <a:off x="10591495" y="6327648"/>
            <a:ext cx="914400" cy="274320"/>
          </a:xfrm>
          <a:prstGeom prst="rect">
            <a:avLst/>
          </a:prstGeom>
          <a:noFill/>
          <a:ln/>
        </p:spPr>
        <p:txBody>
          <a:bodyPr wrap="square" lIns="0" tIns="0" rIns="0" bIns="0" rtlCol="0" anchor="ctr"/>
          <a:lstStyle/>
          <a:p>
            <a:pPr algn="r" indent="0" marL="0">
              <a:buNone/>
            </a:pPr>
            <a:r>
              <a:rPr lang="en-US" sz="850" spc="160" kern="0" dirty="0">
                <a:solidFill>
                  <a:srgbClr val="9A9080"/>
                </a:solidFill>
                <a:latin typeface="Calibri" pitchFamily="34" charset="0"/>
                <a:ea typeface="Calibri" pitchFamily="34" charset="-122"/>
                <a:cs typeface="Calibri" pitchFamily="34" charset="-120"/>
              </a:rPr>
              <a:t>06</a:t>
            </a:r>
            <a:endParaRPr lang="en-US" sz="850" dirty="0"/>
          </a:p>
        </p:txBody>
      </p:sp>
      <p:pic>
        <p:nvPicPr>
          <p:cNvPr id="22" name="Image 0" descr="assets/logo_black.png">    </p:cNvPr>
          <p:cNvPicPr>
            <a:picLocks noChangeAspect="1"/>
          </p:cNvPicPr>
          <p:nvPr/>
        </p:nvPicPr>
        <p:blipFill>
          <a:blip r:embed="rId1">
            <a:alphaModFix amt="22000"/>
          </a:blip>
          <a:stretch>
            <a:fillRect/>
          </a:stretch>
        </p:blipFill>
        <p:spPr>
          <a:xfrm>
            <a:off x="10847527" y="384048"/>
            <a:ext cx="658368" cy="20939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EBE0"/>
        </a:solidFill>
      </p:bgPr>
    </p:bg>
    <p:spTree>
      <p:nvGrpSpPr>
        <p:cNvPr id="1" name=""/>
        <p:cNvGrpSpPr/>
        <p:nvPr/>
      </p:nvGrpSpPr>
      <p:grpSpPr>
        <a:xfrm>
          <a:off x="0" y="0"/>
          <a:ext cx="0" cy="0"/>
          <a:chOff x="0" y="0"/>
          <a:chExt cx="0" cy="0"/>
        </a:xfrm>
      </p:grpSpPr>
      <p:sp>
        <p:nvSpPr>
          <p:cNvPr id="2" name="Text 0"/>
          <p:cNvSpPr/>
          <p:nvPr/>
        </p:nvSpPr>
        <p:spPr>
          <a:xfrm>
            <a:off x="685800" y="566928"/>
            <a:ext cx="7772400" cy="256032"/>
          </a:xfrm>
          <a:prstGeom prst="rect">
            <a:avLst/>
          </a:prstGeom>
          <a:noFill/>
          <a:ln/>
        </p:spPr>
        <p:txBody>
          <a:bodyPr wrap="square" lIns="0" tIns="0" rIns="0" bIns="0" rtlCol="0" anchor="ctr"/>
          <a:lstStyle/>
          <a:p>
            <a:pPr indent="0" marL="0">
              <a:buNone/>
            </a:pPr>
            <a:r>
              <a:rPr lang="en-US" sz="1050" b="1" spc="260" kern="0" dirty="0">
                <a:solidFill>
                  <a:srgbClr val="C0532A"/>
                </a:solidFill>
                <a:latin typeface="Calibri" pitchFamily="34" charset="0"/>
                <a:ea typeface="Calibri" pitchFamily="34" charset="-122"/>
                <a:cs typeface="Calibri" pitchFamily="34" charset="-120"/>
              </a:rPr>
              <a:t>TIMELINE &amp; RAMP-UP</a:t>
            </a:r>
            <a:endParaRPr lang="en-US" sz="1050" dirty="0"/>
          </a:p>
        </p:txBody>
      </p:sp>
      <p:sp>
        <p:nvSpPr>
          <p:cNvPr id="3" name="Text 1"/>
          <p:cNvSpPr/>
          <p:nvPr/>
        </p:nvSpPr>
        <p:spPr>
          <a:xfrm>
            <a:off x="685800" y="868680"/>
            <a:ext cx="10058400" cy="658368"/>
          </a:xfrm>
          <a:prstGeom prst="rect">
            <a:avLst/>
          </a:prstGeom>
          <a:noFill/>
          <a:ln/>
        </p:spPr>
        <p:txBody>
          <a:bodyPr wrap="square" lIns="0" tIns="0" rIns="0" bIns="0" rtlCol="0" anchor="ctr"/>
          <a:lstStyle/>
          <a:p>
            <a:pPr indent="0" marL="0">
              <a:buNone/>
            </a:pPr>
            <a:r>
              <a:rPr lang="en-US" sz="3400" b="1" dirty="0">
                <a:solidFill>
                  <a:srgbClr val="141414"/>
                </a:solidFill>
                <a:latin typeface="Cambria" pitchFamily="34" charset="0"/>
                <a:ea typeface="Cambria" pitchFamily="34" charset="-122"/>
                <a:cs typeface="Cambria" pitchFamily="34" charset="-120"/>
              </a:rPr>
              <a:t>What the first six months look like</a:t>
            </a:r>
            <a:endParaRPr lang="en-US" sz="3400" dirty="0"/>
          </a:p>
        </p:txBody>
      </p:sp>
      <p:sp>
        <p:nvSpPr>
          <p:cNvPr id="4" name="Text 2"/>
          <p:cNvSpPr/>
          <p:nvPr/>
        </p:nvSpPr>
        <p:spPr>
          <a:xfrm>
            <a:off x="685800" y="1572768"/>
            <a:ext cx="9509760" cy="292608"/>
          </a:xfrm>
          <a:prstGeom prst="rect">
            <a:avLst/>
          </a:prstGeom>
          <a:noFill/>
          <a:ln/>
        </p:spPr>
        <p:txBody>
          <a:bodyPr wrap="square" lIns="0" tIns="0" rIns="0" bIns="0" rtlCol="0" anchor="ctr"/>
          <a:lstStyle/>
          <a:p>
            <a:pPr indent="0" marL="0">
              <a:buNone/>
            </a:pPr>
            <a:r>
              <a:rPr lang="en-US" sz="1350" dirty="0">
                <a:solidFill>
                  <a:srgbClr val="6E6656"/>
                </a:solidFill>
                <a:latin typeface="Calibri" pitchFamily="34" charset="0"/>
                <a:ea typeface="Calibri" pitchFamily="34" charset="-122"/>
                <a:cs typeface="Calibri" pitchFamily="34" charset="-120"/>
              </a:rPr>
              <a:t>Early months are testing and calibration. That is the process working, not the process failing.</a:t>
            </a:r>
            <a:endParaRPr lang="en-US" sz="1350" dirty="0"/>
          </a:p>
        </p:txBody>
      </p:sp>
      <p:sp>
        <p:nvSpPr>
          <p:cNvPr id="5" name="Shape 3"/>
          <p:cNvSpPr/>
          <p:nvPr/>
        </p:nvSpPr>
        <p:spPr>
          <a:xfrm>
            <a:off x="685800" y="2048256"/>
            <a:ext cx="6537960" cy="3054096"/>
          </a:xfrm>
          <a:prstGeom prst="roundRect">
            <a:avLst>
              <a:gd name="adj" fmla="val 2695"/>
            </a:avLst>
          </a:prstGeom>
          <a:solidFill>
            <a:srgbClr val="FBFAF6"/>
          </a:solidFill>
          <a:ln w="9525">
            <a:solidFill>
              <a:srgbClr val="C9C2B4"/>
            </a:solidFill>
            <a:prstDash val="solid"/>
          </a:ln>
        </p:spPr>
      </p:sp>
      <p:sp>
        <p:nvSpPr>
          <p:cNvPr id="6" name="Text 4"/>
          <p:cNvSpPr/>
          <p:nvPr/>
        </p:nvSpPr>
        <p:spPr>
          <a:xfrm>
            <a:off x="996696" y="2212848"/>
            <a:ext cx="59436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Relative lead volume by month</a:t>
            </a:r>
            <a:endParaRPr lang="en-US" sz="1300" dirty="0"/>
          </a:p>
        </p:txBody>
      </p:sp>
      <p:graphicFrame>
        <p:nvGraphicFramePr>
          <p:cNvPr id="7" name="Chart 0" descr=""/>
          <p:cNvGraphicFramePr/>
          <p:nvPr/>
        </p:nvGraphicFramePr>
        <p:xfrm>
          <a:off x="886968" y="2487168"/>
          <a:ext cx="6144768" cy="246888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580376" y="2048256"/>
            <a:ext cx="3922776" cy="3054096"/>
          </a:xfrm>
          <a:prstGeom prst="roundRect">
            <a:avLst>
              <a:gd name="adj" fmla="val 2695"/>
            </a:avLst>
          </a:prstGeom>
          <a:solidFill>
            <a:srgbClr val="141414"/>
          </a:solidFill>
          <a:ln/>
        </p:spPr>
      </p:sp>
      <p:sp>
        <p:nvSpPr>
          <p:cNvPr id="9" name="Text 6"/>
          <p:cNvSpPr/>
          <p:nvPr/>
        </p:nvSpPr>
        <p:spPr>
          <a:xfrm>
            <a:off x="7891272" y="2267712"/>
            <a:ext cx="3291840" cy="237744"/>
          </a:xfrm>
          <a:prstGeom prst="rect">
            <a:avLst/>
          </a:prstGeom>
          <a:noFill/>
          <a:ln/>
        </p:spPr>
        <p:txBody>
          <a:bodyPr wrap="square" lIns="0" tIns="0" rIns="0" bIns="0" rtlCol="0" anchor="ctr"/>
          <a:lstStyle/>
          <a:p>
            <a:pPr indent="0" marL="0">
              <a:buNone/>
            </a:pPr>
            <a:r>
              <a:rPr lang="en-US" sz="950" b="1" spc="220" kern="0" dirty="0">
                <a:solidFill>
                  <a:srgbClr val="E08A5F"/>
                </a:solidFill>
                <a:latin typeface="Calibri" pitchFamily="34" charset="0"/>
                <a:ea typeface="Calibri" pitchFamily="34" charset="-122"/>
                <a:cs typeface="Calibri" pitchFamily="34" charset="-120"/>
              </a:rPr>
              <a:t>READ IT LIKE THIS</a:t>
            </a:r>
            <a:endParaRPr lang="en-US" sz="950" dirty="0"/>
          </a:p>
        </p:txBody>
      </p:sp>
      <p:sp>
        <p:nvSpPr>
          <p:cNvPr id="10" name="Shape 7"/>
          <p:cNvSpPr/>
          <p:nvPr/>
        </p:nvSpPr>
        <p:spPr>
          <a:xfrm>
            <a:off x="7891272" y="2642616"/>
            <a:ext cx="237744" cy="237744"/>
          </a:xfrm>
          <a:prstGeom prst="ellipse">
            <a:avLst/>
          </a:prstGeom>
          <a:solidFill>
            <a:srgbClr val="D2703C"/>
          </a:solidFill>
          <a:ln/>
        </p:spPr>
      </p:sp>
      <p:sp>
        <p:nvSpPr>
          <p:cNvPr id="11" name="Text 8"/>
          <p:cNvSpPr/>
          <p:nvPr/>
        </p:nvSpPr>
        <p:spPr>
          <a:xfrm>
            <a:off x="8275320" y="2596896"/>
            <a:ext cx="2834640" cy="274320"/>
          </a:xfrm>
          <a:prstGeom prst="rect">
            <a:avLst/>
          </a:prstGeom>
          <a:noFill/>
          <a:ln/>
        </p:spPr>
        <p:txBody>
          <a:bodyPr wrap="square" lIns="0" tIns="0" rIns="0" bIns="0" rtlCol="0" anchor="ctr"/>
          <a:lstStyle/>
          <a:p>
            <a:pPr indent="0" marL="0">
              <a:buNone/>
            </a:pPr>
            <a:r>
              <a:rPr lang="en-US" sz="1350" b="1" dirty="0">
                <a:solidFill>
                  <a:srgbClr val="F0EBE0"/>
                </a:solidFill>
                <a:latin typeface="Calibri" pitchFamily="34" charset="0"/>
                <a:ea typeface="Calibri" pitchFamily="34" charset="-122"/>
                <a:cs typeface="Calibri" pitchFamily="34" charset="-120"/>
              </a:rPr>
              <a:t>Weeks 1–4</a:t>
            </a:r>
            <a:endParaRPr lang="en-US" sz="1350" dirty="0"/>
          </a:p>
        </p:txBody>
      </p:sp>
      <p:sp>
        <p:nvSpPr>
          <p:cNvPr id="12" name="Text 9"/>
          <p:cNvSpPr/>
          <p:nvPr/>
        </p:nvSpPr>
        <p:spPr>
          <a:xfrm>
            <a:off x="8275320" y="2880360"/>
            <a:ext cx="2880360" cy="493776"/>
          </a:xfrm>
          <a:prstGeom prst="rect">
            <a:avLst/>
          </a:prstGeom>
          <a:noFill/>
          <a:ln/>
        </p:spPr>
        <p:txBody>
          <a:bodyPr wrap="square" lIns="0" tIns="0" rIns="0" bIns="0" rtlCol="0" anchor="t"/>
          <a:lstStyle/>
          <a:p>
            <a:pPr indent="0" marL="0">
              <a:lnSpc>
                <a:spcPct val="114000"/>
              </a:lnSpc>
              <a:buNone/>
            </a:pPr>
            <a:r>
              <a:rPr lang="en-US" sz="1150" dirty="0">
                <a:solidFill>
                  <a:srgbClr val="A8A093"/>
                </a:solidFill>
                <a:latin typeface="Calibri" pitchFamily="34" charset="0"/>
                <a:ea typeface="Calibri" pitchFamily="34" charset="-122"/>
                <a:cs typeface="Calibri" pitchFamily="34" charset="-120"/>
              </a:rPr>
              <a:t>Campaigns go live. Audiences, offers, and creatives run against each other.</a:t>
            </a:r>
            <a:endParaRPr lang="en-US" sz="1150" dirty="0"/>
          </a:p>
        </p:txBody>
      </p:sp>
      <p:sp>
        <p:nvSpPr>
          <p:cNvPr id="13" name="Shape 10"/>
          <p:cNvSpPr/>
          <p:nvPr/>
        </p:nvSpPr>
        <p:spPr>
          <a:xfrm>
            <a:off x="7891272" y="3465576"/>
            <a:ext cx="237744" cy="237744"/>
          </a:xfrm>
          <a:prstGeom prst="ellipse">
            <a:avLst/>
          </a:prstGeom>
          <a:solidFill>
            <a:srgbClr val="D2703C"/>
          </a:solidFill>
          <a:ln/>
        </p:spPr>
      </p:sp>
      <p:sp>
        <p:nvSpPr>
          <p:cNvPr id="14" name="Text 11"/>
          <p:cNvSpPr/>
          <p:nvPr/>
        </p:nvSpPr>
        <p:spPr>
          <a:xfrm>
            <a:off x="8275320" y="3419856"/>
            <a:ext cx="2834640" cy="274320"/>
          </a:xfrm>
          <a:prstGeom prst="rect">
            <a:avLst/>
          </a:prstGeom>
          <a:noFill/>
          <a:ln/>
        </p:spPr>
        <p:txBody>
          <a:bodyPr wrap="square" lIns="0" tIns="0" rIns="0" bIns="0" rtlCol="0" anchor="ctr"/>
          <a:lstStyle/>
          <a:p>
            <a:pPr indent="0" marL="0">
              <a:buNone/>
            </a:pPr>
            <a:r>
              <a:rPr lang="en-US" sz="1350" b="1" dirty="0">
                <a:solidFill>
                  <a:srgbClr val="F0EBE0"/>
                </a:solidFill>
                <a:latin typeface="Calibri" pitchFamily="34" charset="0"/>
                <a:ea typeface="Calibri" pitchFamily="34" charset="-122"/>
                <a:cs typeface="Calibri" pitchFamily="34" charset="-120"/>
              </a:rPr>
              <a:t>Month 2</a:t>
            </a:r>
            <a:endParaRPr lang="en-US" sz="1350" dirty="0"/>
          </a:p>
        </p:txBody>
      </p:sp>
      <p:sp>
        <p:nvSpPr>
          <p:cNvPr id="15" name="Text 12"/>
          <p:cNvSpPr/>
          <p:nvPr/>
        </p:nvSpPr>
        <p:spPr>
          <a:xfrm>
            <a:off x="8275320" y="3703320"/>
            <a:ext cx="2880360" cy="493776"/>
          </a:xfrm>
          <a:prstGeom prst="rect">
            <a:avLst/>
          </a:prstGeom>
          <a:noFill/>
          <a:ln/>
        </p:spPr>
        <p:txBody>
          <a:bodyPr wrap="square" lIns="0" tIns="0" rIns="0" bIns="0" rtlCol="0" anchor="t"/>
          <a:lstStyle/>
          <a:p>
            <a:pPr indent="0" marL="0">
              <a:lnSpc>
                <a:spcPct val="114000"/>
              </a:lnSpc>
              <a:buNone/>
            </a:pPr>
            <a:r>
              <a:rPr lang="en-US" sz="1150" dirty="0">
                <a:solidFill>
                  <a:srgbClr val="A8A093"/>
                </a:solidFill>
                <a:latin typeface="Calibri" pitchFamily="34" charset="0"/>
                <a:ea typeface="Calibri" pitchFamily="34" charset="-122"/>
                <a:cs typeface="Calibri" pitchFamily="34" charset="-120"/>
              </a:rPr>
              <a:t>AI analytics and pixel data show which combination works here.</a:t>
            </a:r>
            <a:endParaRPr lang="en-US" sz="1150" dirty="0"/>
          </a:p>
        </p:txBody>
      </p:sp>
      <p:sp>
        <p:nvSpPr>
          <p:cNvPr id="16" name="Shape 13"/>
          <p:cNvSpPr/>
          <p:nvPr/>
        </p:nvSpPr>
        <p:spPr>
          <a:xfrm>
            <a:off x="7891272" y="4288536"/>
            <a:ext cx="237744" cy="237744"/>
          </a:xfrm>
          <a:prstGeom prst="ellipse">
            <a:avLst/>
          </a:prstGeom>
          <a:solidFill>
            <a:srgbClr val="00A093"/>
          </a:solidFill>
          <a:ln/>
        </p:spPr>
      </p:sp>
      <p:sp>
        <p:nvSpPr>
          <p:cNvPr id="17" name="Text 14"/>
          <p:cNvSpPr/>
          <p:nvPr/>
        </p:nvSpPr>
        <p:spPr>
          <a:xfrm>
            <a:off x="8275320" y="4242816"/>
            <a:ext cx="2834640" cy="274320"/>
          </a:xfrm>
          <a:prstGeom prst="rect">
            <a:avLst/>
          </a:prstGeom>
          <a:noFill/>
          <a:ln/>
        </p:spPr>
        <p:txBody>
          <a:bodyPr wrap="square" lIns="0" tIns="0" rIns="0" bIns="0" rtlCol="0" anchor="ctr"/>
          <a:lstStyle/>
          <a:p>
            <a:pPr indent="0" marL="0">
              <a:buNone/>
            </a:pPr>
            <a:r>
              <a:rPr lang="en-US" sz="1350" b="1" dirty="0">
                <a:solidFill>
                  <a:srgbClr val="F0EBE0"/>
                </a:solidFill>
                <a:latin typeface="Calibri" pitchFamily="34" charset="0"/>
                <a:ea typeface="Calibri" pitchFamily="34" charset="-122"/>
                <a:cs typeface="Calibri" pitchFamily="34" charset="-120"/>
              </a:rPr>
              <a:t>Months 3–6</a:t>
            </a:r>
            <a:endParaRPr lang="en-US" sz="1350" dirty="0"/>
          </a:p>
        </p:txBody>
      </p:sp>
      <p:sp>
        <p:nvSpPr>
          <p:cNvPr id="18" name="Text 15"/>
          <p:cNvSpPr/>
          <p:nvPr/>
        </p:nvSpPr>
        <p:spPr>
          <a:xfrm>
            <a:off x="8275320" y="4526280"/>
            <a:ext cx="2880360" cy="493776"/>
          </a:xfrm>
          <a:prstGeom prst="rect">
            <a:avLst/>
          </a:prstGeom>
          <a:noFill/>
          <a:ln/>
        </p:spPr>
        <p:txBody>
          <a:bodyPr wrap="square" lIns="0" tIns="0" rIns="0" bIns="0" rtlCol="0" anchor="t"/>
          <a:lstStyle/>
          <a:p>
            <a:pPr indent="0" marL="0">
              <a:lnSpc>
                <a:spcPct val="114000"/>
              </a:lnSpc>
              <a:buNone/>
            </a:pPr>
            <a:r>
              <a:rPr lang="en-US" sz="1150" dirty="0">
                <a:solidFill>
                  <a:srgbClr val="A8A093"/>
                </a:solidFill>
                <a:latin typeface="Calibri" pitchFamily="34" charset="0"/>
                <a:ea typeface="Calibri" pitchFamily="34" charset="-122"/>
                <a:cs typeface="Calibri" pitchFamily="34" charset="-120"/>
              </a:rPr>
              <a:t>We make more of what is winning. The bigger numbers show up here.</a:t>
            </a:r>
            <a:endParaRPr lang="en-US" sz="1150" dirty="0"/>
          </a:p>
        </p:txBody>
      </p:sp>
      <p:sp>
        <p:nvSpPr>
          <p:cNvPr id="19" name="Shape 16"/>
          <p:cNvSpPr/>
          <p:nvPr/>
        </p:nvSpPr>
        <p:spPr>
          <a:xfrm>
            <a:off x="685800" y="5230368"/>
            <a:ext cx="10820095" cy="621792"/>
          </a:xfrm>
          <a:prstGeom prst="roundRect">
            <a:avLst>
              <a:gd name="adj" fmla="val 13235"/>
            </a:avLst>
          </a:prstGeom>
          <a:solidFill>
            <a:srgbClr val="F5EFE0"/>
          </a:solidFill>
          <a:ln w="9525">
            <a:solidFill>
              <a:srgbClr val="D9C79A"/>
            </a:solidFill>
            <a:prstDash val="solid"/>
          </a:ln>
        </p:spPr>
      </p:sp>
      <p:sp>
        <p:nvSpPr>
          <p:cNvPr id="20" name="Text 17"/>
          <p:cNvSpPr/>
          <p:nvPr/>
        </p:nvSpPr>
        <p:spPr>
          <a:xfrm>
            <a:off x="1069848" y="5230368"/>
            <a:ext cx="10051999" cy="621792"/>
          </a:xfrm>
          <a:prstGeom prst="rect">
            <a:avLst/>
          </a:prstGeom>
          <a:noFill/>
          <a:ln/>
        </p:spPr>
        <p:txBody>
          <a:bodyPr wrap="square" lIns="0" tIns="0" rIns="0" bIns="0" rtlCol="0" anchor="ctr"/>
          <a:lstStyle/>
          <a:p>
            <a:pPr indent="0" marL="0">
              <a:buNone/>
            </a:pPr>
            <a:r>
              <a:rPr lang="en-US" sz="1250" i="1" dirty="0">
                <a:solidFill>
                  <a:srgbClr val="5C4712"/>
                </a:solidFill>
                <a:latin typeface="Calibri" pitchFamily="34" charset="0"/>
                <a:ea typeface="Calibri" pitchFamily="34" charset="-122"/>
                <a:cs typeface="Calibri" pitchFamily="34" charset="-120"/>
              </a:rPr>
              <a:t>Illustrative shape only — not a forecast of your numbers. Don't be discouraged if month one or two look slow; that is the normal pattern, not a red flag.</a:t>
            </a:r>
            <a:endParaRPr lang="en-US" sz="1250" dirty="0"/>
          </a:p>
        </p:txBody>
      </p:sp>
      <p:sp>
        <p:nvSpPr>
          <p:cNvPr id="21" name="Text 18"/>
          <p:cNvSpPr/>
          <p:nvPr/>
        </p:nvSpPr>
        <p:spPr>
          <a:xfrm>
            <a:off x="685800" y="6327648"/>
            <a:ext cx="5486400" cy="274320"/>
          </a:xfrm>
          <a:prstGeom prst="rect">
            <a:avLst/>
          </a:prstGeom>
          <a:noFill/>
          <a:ln/>
        </p:spPr>
        <p:txBody>
          <a:bodyPr wrap="square" lIns="0" tIns="0" rIns="0" bIns="0" rtlCol="0" anchor="ctr"/>
          <a:lstStyle/>
          <a:p>
            <a:pPr indent="0" marL="0">
              <a:buNone/>
            </a:pPr>
            <a:r>
              <a:rPr lang="en-US" sz="850" spc="160" kern="0" dirty="0">
                <a:solidFill>
                  <a:srgbClr val="9A9080"/>
                </a:solidFill>
                <a:latin typeface="Calibri" pitchFamily="34" charset="0"/>
                <a:ea typeface="Calibri" pitchFamily="34" charset="-122"/>
                <a:cs typeface="Calibri" pitchFamily="34" charset="-120"/>
              </a:rPr>
              <a:t>STAY BOOKED MARKETING  ·  CLIENT KICKOFF</a:t>
            </a:r>
            <a:endParaRPr lang="en-US" sz="850" dirty="0"/>
          </a:p>
        </p:txBody>
      </p:sp>
      <p:sp>
        <p:nvSpPr>
          <p:cNvPr id="22" name="Text 19"/>
          <p:cNvSpPr/>
          <p:nvPr/>
        </p:nvSpPr>
        <p:spPr>
          <a:xfrm>
            <a:off x="10591495" y="6327648"/>
            <a:ext cx="914400" cy="274320"/>
          </a:xfrm>
          <a:prstGeom prst="rect">
            <a:avLst/>
          </a:prstGeom>
          <a:noFill/>
          <a:ln/>
        </p:spPr>
        <p:txBody>
          <a:bodyPr wrap="square" lIns="0" tIns="0" rIns="0" bIns="0" rtlCol="0" anchor="ctr"/>
          <a:lstStyle/>
          <a:p>
            <a:pPr algn="r" indent="0" marL="0">
              <a:buNone/>
            </a:pPr>
            <a:r>
              <a:rPr lang="en-US" sz="850" spc="160" kern="0" dirty="0">
                <a:solidFill>
                  <a:srgbClr val="9A9080"/>
                </a:solidFill>
                <a:latin typeface="Calibri" pitchFamily="34" charset="0"/>
                <a:ea typeface="Calibri" pitchFamily="34" charset="-122"/>
                <a:cs typeface="Calibri" pitchFamily="34" charset="-120"/>
              </a:rPr>
              <a:t>07</a:t>
            </a:r>
            <a:endParaRPr lang="en-US" sz="850" dirty="0"/>
          </a:p>
        </p:txBody>
      </p:sp>
      <p:pic>
        <p:nvPicPr>
          <p:cNvPr id="23" name="Image 0" descr="assets/logo_black.png">    </p:cNvPr>
          <p:cNvPicPr>
            <a:picLocks noChangeAspect="1"/>
          </p:cNvPicPr>
          <p:nvPr/>
        </p:nvPicPr>
        <p:blipFill>
          <a:blip r:embed="rId2">
            <a:alphaModFix amt="22000"/>
          </a:blip>
          <a:stretch>
            <a:fillRect/>
          </a:stretch>
        </p:blipFill>
        <p:spPr>
          <a:xfrm>
            <a:off x="10847527" y="384048"/>
            <a:ext cx="658368" cy="20939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685800" y="566928"/>
            <a:ext cx="7772400" cy="256032"/>
          </a:xfrm>
          <a:prstGeom prst="rect">
            <a:avLst/>
          </a:prstGeom>
          <a:noFill/>
          <a:ln/>
        </p:spPr>
        <p:txBody>
          <a:bodyPr wrap="square" lIns="0" tIns="0" rIns="0" bIns="0" rtlCol="0" anchor="ctr"/>
          <a:lstStyle/>
          <a:p>
            <a:pPr indent="0" marL="0">
              <a:buNone/>
            </a:pPr>
            <a:r>
              <a:rPr lang="en-US" sz="1050" b="1" spc="260" kern="0" dirty="0">
                <a:solidFill>
                  <a:srgbClr val="E08A5F"/>
                </a:solidFill>
                <a:latin typeface="Calibri" pitchFamily="34" charset="0"/>
                <a:ea typeface="Calibri" pitchFamily="34" charset="-122"/>
                <a:cs typeface="Calibri" pitchFamily="34" charset="-120"/>
              </a:rPr>
              <a:t>OUR APPROACH</a:t>
            </a:r>
            <a:endParaRPr lang="en-US" sz="1050" dirty="0"/>
          </a:p>
        </p:txBody>
      </p:sp>
      <p:sp>
        <p:nvSpPr>
          <p:cNvPr id="3" name="Text 1"/>
          <p:cNvSpPr/>
          <p:nvPr/>
        </p:nvSpPr>
        <p:spPr>
          <a:xfrm>
            <a:off x="685800" y="868680"/>
            <a:ext cx="10058400" cy="658368"/>
          </a:xfrm>
          <a:prstGeom prst="rect">
            <a:avLst/>
          </a:prstGeom>
          <a:noFill/>
          <a:ln/>
        </p:spPr>
        <p:txBody>
          <a:bodyPr wrap="square" lIns="0" tIns="0" rIns="0" bIns="0" rtlCol="0" anchor="ctr"/>
          <a:lstStyle/>
          <a:p>
            <a:pPr indent="0" marL="0">
              <a:buNone/>
            </a:pPr>
            <a:r>
              <a:rPr lang="en-US" sz="3400" b="1" dirty="0">
                <a:solidFill>
                  <a:srgbClr val="F0EBE0"/>
                </a:solidFill>
                <a:latin typeface="Cambria" pitchFamily="34" charset="0"/>
                <a:ea typeface="Cambria" pitchFamily="34" charset="-122"/>
                <a:cs typeface="Cambria" pitchFamily="34" charset="-120"/>
              </a:rPr>
              <a:t>Built for your practice, not recycled</a:t>
            </a:r>
            <a:endParaRPr lang="en-US" sz="3400" dirty="0"/>
          </a:p>
        </p:txBody>
      </p:sp>
      <p:sp>
        <p:nvSpPr>
          <p:cNvPr id="4" name="Shape 2"/>
          <p:cNvSpPr/>
          <p:nvPr/>
        </p:nvSpPr>
        <p:spPr>
          <a:xfrm>
            <a:off x="685800" y="1737360"/>
            <a:ext cx="5230368" cy="2212848"/>
          </a:xfrm>
          <a:prstGeom prst="roundRect">
            <a:avLst>
              <a:gd name="adj" fmla="val 3719"/>
            </a:avLst>
          </a:prstGeom>
          <a:solidFill>
            <a:srgbClr val="201E1A"/>
          </a:solidFill>
          <a:ln w="9525">
            <a:solidFill>
              <a:srgbClr val="35302A"/>
            </a:solidFill>
            <a:prstDash val="solid"/>
          </a:ln>
        </p:spPr>
      </p:sp>
      <p:sp>
        <p:nvSpPr>
          <p:cNvPr id="5" name="Text 3"/>
          <p:cNvSpPr/>
          <p:nvPr/>
        </p:nvSpPr>
        <p:spPr>
          <a:xfrm>
            <a:off x="1051560" y="1993392"/>
            <a:ext cx="4480560" cy="237744"/>
          </a:xfrm>
          <a:prstGeom prst="rect">
            <a:avLst/>
          </a:prstGeom>
          <a:noFill/>
          <a:ln/>
        </p:spPr>
        <p:txBody>
          <a:bodyPr wrap="square" lIns="0" tIns="0" rIns="0" bIns="0" rtlCol="0" anchor="ctr"/>
          <a:lstStyle/>
          <a:p>
            <a:pPr indent="0" marL="0">
              <a:buNone/>
            </a:pPr>
            <a:r>
              <a:rPr lang="en-US" sz="950" b="1" spc="220" kern="0" dirty="0">
                <a:solidFill>
                  <a:srgbClr val="7E7568"/>
                </a:solidFill>
                <a:latin typeface="Calibri" pitchFamily="34" charset="0"/>
                <a:ea typeface="Calibri" pitchFamily="34" charset="-122"/>
                <a:cs typeface="Calibri" pitchFamily="34" charset="-120"/>
              </a:rPr>
              <a:t>WHAT WE DON'T DO</a:t>
            </a:r>
            <a:endParaRPr lang="en-US" sz="950" dirty="0"/>
          </a:p>
        </p:txBody>
      </p:sp>
      <p:sp>
        <p:nvSpPr>
          <p:cNvPr id="6" name="Text 4"/>
          <p:cNvSpPr/>
          <p:nvPr/>
        </p:nvSpPr>
        <p:spPr>
          <a:xfrm>
            <a:off x="1051560" y="2249424"/>
            <a:ext cx="4498848" cy="676656"/>
          </a:xfrm>
          <a:prstGeom prst="rect">
            <a:avLst/>
          </a:prstGeom>
          <a:noFill/>
          <a:ln/>
        </p:spPr>
        <p:txBody>
          <a:bodyPr wrap="square" lIns="0" tIns="0" rIns="0" bIns="0" rtlCol="0" anchor="ctr"/>
          <a:lstStyle/>
          <a:p>
            <a:pPr indent="0" marL="0">
              <a:lnSpc>
                <a:spcPct val="98000"/>
              </a:lnSpc>
              <a:buNone/>
            </a:pPr>
            <a:r>
              <a:rPr lang="en-US" sz="2100" b="1" dirty="0">
                <a:solidFill>
                  <a:srgbClr val="8E8578"/>
                </a:solidFill>
                <a:latin typeface="Cambria" pitchFamily="34" charset="0"/>
                <a:ea typeface="Cambria" pitchFamily="34" charset="-122"/>
                <a:cs typeface="Cambria" pitchFamily="34" charset="-120"/>
              </a:rPr>
              <a:t>Reuse a past client's campaign</a:t>
            </a:r>
            <a:endParaRPr lang="en-US" sz="2100" dirty="0"/>
          </a:p>
        </p:txBody>
      </p:sp>
      <p:sp>
        <p:nvSpPr>
          <p:cNvPr id="7" name="Text 5"/>
          <p:cNvSpPr/>
          <p:nvPr/>
        </p:nvSpPr>
        <p:spPr>
          <a:xfrm>
            <a:off x="1051560" y="2980944"/>
            <a:ext cx="4498848" cy="841248"/>
          </a:xfrm>
          <a:prstGeom prst="rect">
            <a:avLst/>
          </a:prstGeom>
          <a:noFill/>
          <a:ln/>
        </p:spPr>
        <p:txBody>
          <a:bodyPr wrap="square" lIns="0" tIns="0" rIns="0" bIns="0" rtlCol="0" anchor="t"/>
          <a:lstStyle/>
          <a:p>
            <a:pPr indent="0" marL="0">
              <a:lnSpc>
                <a:spcPct val="116000"/>
              </a:lnSpc>
              <a:buNone/>
            </a:pPr>
            <a:r>
              <a:rPr lang="en-US" sz="1200" dirty="0">
                <a:solidFill>
                  <a:srgbClr val="8E8578"/>
                </a:solidFill>
                <a:latin typeface="Calibri" pitchFamily="34" charset="0"/>
                <a:ea typeface="Calibri" pitchFamily="34" charset="-122"/>
                <a:cs typeface="Calibri" pitchFamily="34" charset="-120"/>
              </a:rPr>
              <a:t>Just because something worked for another practice does not mean it gets dropped into yours as-is. A different city and a different patient mix make it a different problem.</a:t>
            </a:r>
            <a:endParaRPr lang="en-US" sz="1200" dirty="0"/>
          </a:p>
        </p:txBody>
      </p:sp>
      <p:sp>
        <p:nvSpPr>
          <p:cNvPr id="8" name="Shape 6"/>
          <p:cNvSpPr/>
          <p:nvPr/>
        </p:nvSpPr>
        <p:spPr>
          <a:xfrm>
            <a:off x="6272784" y="1737360"/>
            <a:ext cx="5230368" cy="2212848"/>
          </a:xfrm>
          <a:prstGeom prst="roundRect">
            <a:avLst>
              <a:gd name="adj" fmla="val 3719"/>
            </a:avLst>
          </a:prstGeom>
          <a:solidFill>
            <a:srgbClr val="201E1A"/>
          </a:solidFill>
          <a:ln w="9525">
            <a:solidFill>
              <a:srgbClr val="C0532A"/>
            </a:solidFill>
            <a:prstDash val="solid"/>
          </a:ln>
        </p:spPr>
      </p:sp>
      <p:sp>
        <p:nvSpPr>
          <p:cNvPr id="9" name="Text 7"/>
          <p:cNvSpPr/>
          <p:nvPr/>
        </p:nvSpPr>
        <p:spPr>
          <a:xfrm>
            <a:off x="6638544" y="1993392"/>
            <a:ext cx="4480560" cy="237744"/>
          </a:xfrm>
          <a:prstGeom prst="rect">
            <a:avLst/>
          </a:prstGeom>
          <a:noFill/>
          <a:ln/>
        </p:spPr>
        <p:txBody>
          <a:bodyPr wrap="square" lIns="0" tIns="0" rIns="0" bIns="0" rtlCol="0" anchor="ctr"/>
          <a:lstStyle/>
          <a:p>
            <a:pPr indent="0" marL="0">
              <a:buNone/>
            </a:pPr>
            <a:r>
              <a:rPr lang="en-US" sz="950" b="1" spc="220" kern="0" dirty="0">
                <a:solidFill>
                  <a:srgbClr val="E08A5F"/>
                </a:solidFill>
                <a:latin typeface="Calibri" pitchFamily="34" charset="0"/>
                <a:ea typeface="Calibri" pitchFamily="34" charset="-122"/>
                <a:cs typeface="Calibri" pitchFamily="34" charset="-120"/>
              </a:rPr>
              <a:t>WHAT WE DO</a:t>
            </a:r>
            <a:endParaRPr lang="en-US" sz="950" dirty="0"/>
          </a:p>
        </p:txBody>
      </p:sp>
      <p:sp>
        <p:nvSpPr>
          <p:cNvPr id="10" name="Text 8"/>
          <p:cNvSpPr/>
          <p:nvPr/>
        </p:nvSpPr>
        <p:spPr>
          <a:xfrm>
            <a:off x="6638544" y="2249424"/>
            <a:ext cx="4498848" cy="676656"/>
          </a:xfrm>
          <a:prstGeom prst="rect">
            <a:avLst/>
          </a:prstGeom>
          <a:noFill/>
          <a:ln/>
        </p:spPr>
        <p:txBody>
          <a:bodyPr wrap="square" lIns="0" tIns="0" rIns="0" bIns="0" rtlCol="0" anchor="ctr"/>
          <a:lstStyle/>
          <a:p>
            <a:pPr indent="0" marL="0">
              <a:lnSpc>
                <a:spcPct val="98000"/>
              </a:lnSpc>
              <a:buNone/>
            </a:pPr>
            <a:r>
              <a:rPr lang="en-US" sz="2100" b="1" dirty="0">
                <a:solidFill>
                  <a:srgbClr val="F0EBE0"/>
                </a:solidFill>
                <a:latin typeface="Cambria" pitchFamily="34" charset="0"/>
                <a:ea typeface="Cambria" pitchFamily="34" charset="-122"/>
                <a:cs typeface="Cambria" pitchFamily="34" charset="-120"/>
              </a:rPr>
              <a:t>Treat your account as its own project</a:t>
            </a:r>
            <a:endParaRPr lang="en-US" sz="2100" dirty="0"/>
          </a:p>
        </p:txBody>
      </p:sp>
      <p:sp>
        <p:nvSpPr>
          <p:cNvPr id="11" name="Text 9"/>
          <p:cNvSpPr/>
          <p:nvPr/>
        </p:nvSpPr>
        <p:spPr>
          <a:xfrm>
            <a:off x="6638544" y="2980944"/>
            <a:ext cx="4498848" cy="841248"/>
          </a:xfrm>
          <a:prstGeom prst="rect">
            <a:avLst/>
          </a:prstGeom>
          <a:noFill/>
          <a:ln/>
        </p:spPr>
        <p:txBody>
          <a:bodyPr wrap="square" lIns="0" tIns="0" rIns="0" bIns="0" rtlCol="0" anchor="t"/>
          <a:lstStyle/>
          <a:p>
            <a:pPr indent="0" marL="0">
              <a:lnSpc>
                <a:spcPct val="116000"/>
              </a:lnSpc>
              <a:buNone/>
            </a:pPr>
            <a:r>
              <a:rPr lang="en-US" sz="1200" dirty="0">
                <a:solidFill>
                  <a:srgbClr val="A8A093"/>
                </a:solidFill>
                <a:latin typeface="Calibri" pitchFamily="34" charset="0"/>
                <a:ea typeface="Calibri" pitchFamily="34" charset="-122"/>
                <a:cs typeface="Calibri" pitchFamily="34" charset="-120"/>
              </a:rPr>
              <a:t>Every campaign is built and tested specifically for your area and your audience, from the first ad forward, so you get the best possible product for this practice.</a:t>
            </a:r>
            <a:endParaRPr lang="en-US" sz="1200" dirty="0"/>
          </a:p>
        </p:txBody>
      </p:sp>
      <p:sp>
        <p:nvSpPr>
          <p:cNvPr id="12" name="Text 10"/>
          <p:cNvSpPr/>
          <p:nvPr/>
        </p:nvSpPr>
        <p:spPr>
          <a:xfrm>
            <a:off x="685800" y="4224528"/>
            <a:ext cx="4572000" cy="237744"/>
          </a:xfrm>
          <a:prstGeom prst="rect">
            <a:avLst/>
          </a:prstGeom>
          <a:noFill/>
          <a:ln/>
        </p:spPr>
        <p:txBody>
          <a:bodyPr wrap="square" lIns="0" tIns="0" rIns="0" bIns="0" rtlCol="0" anchor="ctr"/>
          <a:lstStyle/>
          <a:p>
            <a:pPr indent="0" marL="0">
              <a:buNone/>
            </a:pPr>
            <a:r>
              <a:rPr lang="en-US" sz="950" b="1" spc="220" kern="0" dirty="0">
                <a:solidFill>
                  <a:srgbClr val="E08A5F"/>
                </a:solidFill>
                <a:latin typeface="Calibri" pitchFamily="34" charset="0"/>
                <a:ea typeface="Calibri" pitchFamily="34" charset="-122"/>
                <a:cs typeface="Calibri" pitchFamily="34" charset="-120"/>
              </a:rPr>
              <a:t>WHAT WE TEST WITH</a:t>
            </a:r>
            <a:endParaRPr lang="en-US" sz="950" dirty="0"/>
          </a:p>
        </p:txBody>
      </p:sp>
      <p:sp>
        <p:nvSpPr>
          <p:cNvPr id="13" name="Shape 11"/>
          <p:cNvSpPr/>
          <p:nvPr/>
        </p:nvSpPr>
        <p:spPr>
          <a:xfrm>
            <a:off x="685800" y="4526280"/>
            <a:ext cx="3423818" cy="1325880"/>
          </a:xfrm>
          <a:prstGeom prst="roundRect">
            <a:avLst>
              <a:gd name="adj" fmla="val 6207"/>
            </a:avLst>
          </a:prstGeom>
          <a:solidFill>
            <a:srgbClr val="201E1A"/>
          </a:solidFill>
          <a:ln w="9525">
            <a:solidFill>
              <a:srgbClr val="35302A"/>
            </a:solidFill>
            <a:prstDash val="solid"/>
          </a:ln>
        </p:spPr>
      </p:sp>
      <p:sp>
        <p:nvSpPr>
          <p:cNvPr id="14" name="Shape 12"/>
          <p:cNvSpPr/>
          <p:nvPr/>
        </p:nvSpPr>
        <p:spPr>
          <a:xfrm>
            <a:off x="978408" y="4754880"/>
            <a:ext cx="292608" cy="292608"/>
          </a:xfrm>
          <a:prstGeom prst="ellipse">
            <a:avLst/>
          </a:prstGeom>
          <a:solidFill>
            <a:srgbClr val="C0532A"/>
          </a:solidFill>
          <a:ln/>
        </p:spPr>
      </p:sp>
      <p:sp>
        <p:nvSpPr>
          <p:cNvPr id="15" name="Text 13"/>
          <p:cNvSpPr/>
          <p:nvPr/>
        </p:nvSpPr>
        <p:spPr>
          <a:xfrm>
            <a:off x="1380744" y="4754880"/>
            <a:ext cx="2436266" cy="292608"/>
          </a:xfrm>
          <a:prstGeom prst="rect">
            <a:avLst/>
          </a:prstGeom>
          <a:noFill/>
          <a:ln/>
        </p:spPr>
        <p:txBody>
          <a:bodyPr wrap="square" lIns="0" tIns="0" rIns="0" bIns="0" rtlCol="0" anchor="ctr"/>
          <a:lstStyle/>
          <a:p>
            <a:pPr indent="0" marL="0">
              <a:buNone/>
            </a:pPr>
            <a:r>
              <a:rPr lang="en-US" sz="1400" b="1" dirty="0">
                <a:solidFill>
                  <a:srgbClr val="F0EBE0"/>
                </a:solidFill>
                <a:latin typeface="Calibri" pitchFamily="34" charset="0"/>
                <a:ea typeface="Calibri" pitchFamily="34" charset="-122"/>
                <a:cs typeface="Calibri" pitchFamily="34" charset="-120"/>
              </a:rPr>
              <a:t>AI analytics</a:t>
            </a:r>
            <a:endParaRPr lang="en-US" sz="1400" dirty="0"/>
          </a:p>
        </p:txBody>
      </p:sp>
      <p:sp>
        <p:nvSpPr>
          <p:cNvPr id="16" name="Text 14"/>
          <p:cNvSpPr/>
          <p:nvPr/>
        </p:nvSpPr>
        <p:spPr>
          <a:xfrm>
            <a:off x="978408" y="5120640"/>
            <a:ext cx="2838602" cy="621792"/>
          </a:xfrm>
          <a:prstGeom prst="rect">
            <a:avLst/>
          </a:prstGeom>
          <a:noFill/>
          <a:ln/>
        </p:spPr>
        <p:txBody>
          <a:bodyPr wrap="square" lIns="0" tIns="0" rIns="0" bIns="0" rtlCol="0" anchor="t"/>
          <a:lstStyle/>
          <a:p>
            <a:pPr indent="0" marL="0">
              <a:lnSpc>
                <a:spcPct val="114000"/>
              </a:lnSpc>
              <a:buNone/>
            </a:pPr>
            <a:r>
              <a:rPr lang="en-US" sz="1150" dirty="0">
                <a:solidFill>
                  <a:srgbClr val="A8A093"/>
                </a:solidFill>
                <a:latin typeface="Calibri" pitchFamily="34" charset="0"/>
                <a:ea typeface="Calibri" pitchFamily="34" charset="-122"/>
                <a:cs typeface="Calibri" pitchFamily="34" charset="-120"/>
              </a:rPr>
              <a:t>Pattern-finding across every lead and every ad, faster than a human can eyeball it.</a:t>
            </a:r>
            <a:endParaRPr lang="en-US" sz="1150" dirty="0"/>
          </a:p>
        </p:txBody>
      </p:sp>
      <p:sp>
        <p:nvSpPr>
          <p:cNvPr id="17" name="Shape 15"/>
          <p:cNvSpPr/>
          <p:nvPr/>
        </p:nvSpPr>
        <p:spPr>
          <a:xfrm>
            <a:off x="4383938" y="4526280"/>
            <a:ext cx="3423818" cy="1325880"/>
          </a:xfrm>
          <a:prstGeom prst="roundRect">
            <a:avLst>
              <a:gd name="adj" fmla="val 6207"/>
            </a:avLst>
          </a:prstGeom>
          <a:solidFill>
            <a:srgbClr val="201E1A"/>
          </a:solidFill>
          <a:ln w="9525">
            <a:solidFill>
              <a:srgbClr val="35302A"/>
            </a:solidFill>
            <a:prstDash val="solid"/>
          </a:ln>
        </p:spPr>
      </p:sp>
      <p:sp>
        <p:nvSpPr>
          <p:cNvPr id="18" name="Shape 16"/>
          <p:cNvSpPr/>
          <p:nvPr/>
        </p:nvSpPr>
        <p:spPr>
          <a:xfrm>
            <a:off x="4676546" y="4754880"/>
            <a:ext cx="292608" cy="292608"/>
          </a:xfrm>
          <a:prstGeom prst="ellipse">
            <a:avLst/>
          </a:prstGeom>
          <a:solidFill>
            <a:srgbClr val="C0532A"/>
          </a:solidFill>
          <a:ln/>
        </p:spPr>
      </p:sp>
      <p:sp>
        <p:nvSpPr>
          <p:cNvPr id="19" name="Text 17"/>
          <p:cNvSpPr/>
          <p:nvPr/>
        </p:nvSpPr>
        <p:spPr>
          <a:xfrm>
            <a:off x="5078882" y="4754880"/>
            <a:ext cx="2436266" cy="292608"/>
          </a:xfrm>
          <a:prstGeom prst="rect">
            <a:avLst/>
          </a:prstGeom>
          <a:noFill/>
          <a:ln/>
        </p:spPr>
        <p:txBody>
          <a:bodyPr wrap="square" lIns="0" tIns="0" rIns="0" bIns="0" rtlCol="0" anchor="ctr"/>
          <a:lstStyle/>
          <a:p>
            <a:pPr indent="0" marL="0">
              <a:buNone/>
            </a:pPr>
            <a:r>
              <a:rPr lang="en-US" sz="1400" b="1" dirty="0">
                <a:solidFill>
                  <a:srgbClr val="F0EBE0"/>
                </a:solidFill>
                <a:latin typeface="Calibri" pitchFamily="34" charset="0"/>
                <a:ea typeface="Calibri" pitchFamily="34" charset="-122"/>
                <a:cs typeface="Calibri" pitchFamily="34" charset="-120"/>
              </a:rPr>
              <a:t>Pixel data</a:t>
            </a:r>
            <a:endParaRPr lang="en-US" sz="1400" dirty="0"/>
          </a:p>
        </p:txBody>
      </p:sp>
      <p:sp>
        <p:nvSpPr>
          <p:cNvPr id="20" name="Text 18"/>
          <p:cNvSpPr/>
          <p:nvPr/>
        </p:nvSpPr>
        <p:spPr>
          <a:xfrm>
            <a:off x="4676546" y="5120640"/>
            <a:ext cx="2838602" cy="621792"/>
          </a:xfrm>
          <a:prstGeom prst="rect">
            <a:avLst/>
          </a:prstGeom>
          <a:noFill/>
          <a:ln/>
        </p:spPr>
        <p:txBody>
          <a:bodyPr wrap="square" lIns="0" tIns="0" rIns="0" bIns="0" rtlCol="0" anchor="t"/>
          <a:lstStyle/>
          <a:p>
            <a:pPr indent="0" marL="0">
              <a:lnSpc>
                <a:spcPct val="114000"/>
              </a:lnSpc>
              <a:buNone/>
            </a:pPr>
            <a:r>
              <a:rPr lang="en-US" sz="1150" dirty="0">
                <a:solidFill>
                  <a:srgbClr val="A8A093"/>
                </a:solidFill>
                <a:latin typeface="Calibri" pitchFamily="34" charset="0"/>
                <a:ea typeface="Calibri" pitchFamily="34" charset="-122"/>
                <a:cs typeface="Calibri" pitchFamily="34" charset="-120"/>
              </a:rPr>
              <a:t>Real behaviour from your own traffic, feeding the platforms better targeting signals.</a:t>
            </a:r>
            <a:endParaRPr lang="en-US" sz="1150" dirty="0"/>
          </a:p>
        </p:txBody>
      </p:sp>
      <p:sp>
        <p:nvSpPr>
          <p:cNvPr id="21" name="Shape 19"/>
          <p:cNvSpPr/>
          <p:nvPr/>
        </p:nvSpPr>
        <p:spPr>
          <a:xfrm>
            <a:off x="8082077" y="4526280"/>
            <a:ext cx="3423818" cy="1325880"/>
          </a:xfrm>
          <a:prstGeom prst="roundRect">
            <a:avLst>
              <a:gd name="adj" fmla="val 6207"/>
            </a:avLst>
          </a:prstGeom>
          <a:solidFill>
            <a:srgbClr val="201E1A"/>
          </a:solidFill>
          <a:ln w="9525">
            <a:solidFill>
              <a:srgbClr val="35302A"/>
            </a:solidFill>
            <a:prstDash val="solid"/>
          </a:ln>
        </p:spPr>
      </p:sp>
      <p:sp>
        <p:nvSpPr>
          <p:cNvPr id="22" name="Shape 20"/>
          <p:cNvSpPr/>
          <p:nvPr/>
        </p:nvSpPr>
        <p:spPr>
          <a:xfrm>
            <a:off x="8374685" y="4754880"/>
            <a:ext cx="292608" cy="292608"/>
          </a:xfrm>
          <a:prstGeom prst="ellipse">
            <a:avLst/>
          </a:prstGeom>
          <a:solidFill>
            <a:srgbClr val="C0532A"/>
          </a:solidFill>
          <a:ln/>
        </p:spPr>
      </p:sp>
      <p:sp>
        <p:nvSpPr>
          <p:cNvPr id="23" name="Text 21"/>
          <p:cNvSpPr/>
          <p:nvPr/>
        </p:nvSpPr>
        <p:spPr>
          <a:xfrm>
            <a:off x="8777021" y="4754880"/>
            <a:ext cx="2436266" cy="292608"/>
          </a:xfrm>
          <a:prstGeom prst="rect">
            <a:avLst/>
          </a:prstGeom>
          <a:noFill/>
          <a:ln/>
        </p:spPr>
        <p:txBody>
          <a:bodyPr wrap="square" lIns="0" tIns="0" rIns="0" bIns="0" rtlCol="0" anchor="ctr"/>
          <a:lstStyle/>
          <a:p>
            <a:pPr indent="0" marL="0">
              <a:buNone/>
            </a:pPr>
            <a:r>
              <a:rPr lang="en-US" sz="1400" b="1" dirty="0">
                <a:solidFill>
                  <a:srgbClr val="F0EBE0"/>
                </a:solidFill>
                <a:latin typeface="Calibri" pitchFamily="34" charset="0"/>
                <a:ea typeface="Calibri" pitchFamily="34" charset="-122"/>
                <a:cs typeface="Calibri" pitchFamily="34" charset="-120"/>
              </a:rPr>
              <a:t>Structured testing</a:t>
            </a:r>
            <a:endParaRPr lang="en-US" sz="1400" dirty="0"/>
          </a:p>
        </p:txBody>
      </p:sp>
      <p:sp>
        <p:nvSpPr>
          <p:cNvPr id="24" name="Text 22"/>
          <p:cNvSpPr/>
          <p:nvPr/>
        </p:nvSpPr>
        <p:spPr>
          <a:xfrm>
            <a:off x="8374685" y="5120640"/>
            <a:ext cx="2838602" cy="621792"/>
          </a:xfrm>
          <a:prstGeom prst="rect">
            <a:avLst/>
          </a:prstGeom>
          <a:noFill/>
          <a:ln/>
        </p:spPr>
        <p:txBody>
          <a:bodyPr wrap="square" lIns="0" tIns="0" rIns="0" bIns="0" rtlCol="0" anchor="t"/>
          <a:lstStyle/>
          <a:p>
            <a:pPr indent="0" marL="0">
              <a:lnSpc>
                <a:spcPct val="114000"/>
              </a:lnSpc>
              <a:buNone/>
            </a:pPr>
            <a:r>
              <a:rPr lang="en-US" sz="1150" dirty="0">
                <a:solidFill>
                  <a:srgbClr val="A8A093"/>
                </a:solidFill>
                <a:latin typeface="Calibri" pitchFamily="34" charset="0"/>
                <a:ea typeface="Calibri" pitchFamily="34" charset="-122"/>
                <a:cs typeface="Calibri" pitchFamily="34" charset="-120"/>
              </a:rPr>
              <a:t>Deliberate head-to-head tests, so we know why something won.</a:t>
            </a:r>
            <a:endParaRPr lang="en-US" sz="1150" dirty="0"/>
          </a:p>
        </p:txBody>
      </p:sp>
      <p:sp>
        <p:nvSpPr>
          <p:cNvPr id="25" name="Text 23"/>
          <p:cNvSpPr/>
          <p:nvPr/>
        </p:nvSpPr>
        <p:spPr>
          <a:xfrm>
            <a:off x="685800" y="6327648"/>
            <a:ext cx="5486400" cy="274320"/>
          </a:xfrm>
          <a:prstGeom prst="rect">
            <a:avLst/>
          </a:prstGeom>
          <a:noFill/>
          <a:ln/>
        </p:spPr>
        <p:txBody>
          <a:bodyPr wrap="square" lIns="0" tIns="0" rIns="0" bIns="0" rtlCol="0" anchor="ctr"/>
          <a:lstStyle/>
          <a:p>
            <a:pPr indent="0" marL="0">
              <a:buNone/>
            </a:pPr>
            <a:r>
              <a:rPr lang="en-US" sz="850" spc="160" kern="0" dirty="0">
                <a:solidFill>
                  <a:srgbClr val="5C554A"/>
                </a:solidFill>
                <a:latin typeface="Calibri" pitchFamily="34" charset="0"/>
                <a:ea typeface="Calibri" pitchFamily="34" charset="-122"/>
                <a:cs typeface="Calibri" pitchFamily="34" charset="-120"/>
              </a:rPr>
              <a:t>STAY BOOKED MARKETING  ·  CLIENT KICKOFF</a:t>
            </a:r>
            <a:endParaRPr lang="en-US" sz="850" dirty="0"/>
          </a:p>
        </p:txBody>
      </p:sp>
      <p:sp>
        <p:nvSpPr>
          <p:cNvPr id="26" name="Text 24"/>
          <p:cNvSpPr/>
          <p:nvPr/>
        </p:nvSpPr>
        <p:spPr>
          <a:xfrm>
            <a:off x="10591495" y="6327648"/>
            <a:ext cx="914400" cy="274320"/>
          </a:xfrm>
          <a:prstGeom prst="rect">
            <a:avLst/>
          </a:prstGeom>
          <a:noFill/>
          <a:ln/>
        </p:spPr>
        <p:txBody>
          <a:bodyPr wrap="square" lIns="0" tIns="0" rIns="0" bIns="0" rtlCol="0" anchor="ctr"/>
          <a:lstStyle/>
          <a:p>
            <a:pPr algn="r" indent="0" marL="0">
              <a:buNone/>
            </a:pPr>
            <a:r>
              <a:rPr lang="en-US" sz="850" spc="160" kern="0" dirty="0">
                <a:solidFill>
                  <a:srgbClr val="5C554A"/>
                </a:solidFill>
                <a:latin typeface="Calibri" pitchFamily="34" charset="0"/>
                <a:ea typeface="Calibri" pitchFamily="34" charset="-122"/>
                <a:cs typeface="Calibri" pitchFamily="34" charset="-120"/>
              </a:rPr>
              <a:t>08</a:t>
            </a:r>
            <a:endParaRPr lang="en-US" sz="850" dirty="0"/>
          </a:p>
        </p:txBody>
      </p:sp>
      <p:pic>
        <p:nvPicPr>
          <p:cNvPr id="27" name="Image 0" descr="assets/logo_cream.png">    </p:cNvPr>
          <p:cNvPicPr>
            <a:picLocks noChangeAspect="1"/>
          </p:cNvPicPr>
          <p:nvPr/>
        </p:nvPicPr>
        <p:blipFill>
          <a:blip r:embed="rId1">
            <a:alphaModFix amt="45000"/>
          </a:blip>
          <a:stretch>
            <a:fillRect/>
          </a:stretch>
        </p:blipFill>
        <p:spPr>
          <a:xfrm>
            <a:off x="10847527" y="384048"/>
            <a:ext cx="658368" cy="20939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EBE0"/>
        </a:solidFill>
      </p:bgPr>
    </p:bg>
    <p:spTree>
      <p:nvGrpSpPr>
        <p:cNvPr id="1" name=""/>
        <p:cNvGrpSpPr/>
        <p:nvPr/>
      </p:nvGrpSpPr>
      <p:grpSpPr>
        <a:xfrm>
          <a:off x="0" y="0"/>
          <a:ext cx="0" cy="0"/>
          <a:chOff x="0" y="0"/>
          <a:chExt cx="0" cy="0"/>
        </a:xfrm>
      </p:grpSpPr>
      <p:sp>
        <p:nvSpPr>
          <p:cNvPr id="2" name="Text 0"/>
          <p:cNvSpPr/>
          <p:nvPr/>
        </p:nvSpPr>
        <p:spPr>
          <a:xfrm>
            <a:off x="685800" y="566928"/>
            <a:ext cx="7772400" cy="256032"/>
          </a:xfrm>
          <a:prstGeom prst="rect">
            <a:avLst/>
          </a:prstGeom>
          <a:noFill/>
          <a:ln/>
        </p:spPr>
        <p:txBody>
          <a:bodyPr wrap="square" lIns="0" tIns="0" rIns="0" bIns="0" rtlCol="0" anchor="ctr"/>
          <a:lstStyle/>
          <a:p>
            <a:pPr indent="0" marL="0">
              <a:buNone/>
            </a:pPr>
            <a:r>
              <a:rPr lang="en-US" sz="1050" b="1" spc="260" kern="0" dirty="0">
                <a:solidFill>
                  <a:srgbClr val="C0532A"/>
                </a:solidFill>
                <a:latin typeface="Calibri" pitchFamily="34" charset="0"/>
                <a:ea typeface="Calibri" pitchFamily="34" charset="-122"/>
                <a:cs typeface="Calibri" pitchFamily="34" charset="-120"/>
              </a:rPr>
              <a:t>AD SPEND &amp; BILLING</a:t>
            </a:r>
            <a:endParaRPr lang="en-US" sz="1050" dirty="0"/>
          </a:p>
        </p:txBody>
      </p:sp>
      <p:sp>
        <p:nvSpPr>
          <p:cNvPr id="3" name="Text 1"/>
          <p:cNvSpPr/>
          <p:nvPr/>
        </p:nvSpPr>
        <p:spPr>
          <a:xfrm>
            <a:off x="685800" y="868680"/>
            <a:ext cx="10058400" cy="658368"/>
          </a:xfrm>
          <a:prstGeom prst="rect">
            <a:avLst/>
          </a:prstGeom>
          <a:noFill/>
          <a:ln/>
        </p:spPr>
        <p:txBody>
          <a:bodyPr wrap="square" lIns="0" tIns="0" rIns="0" bIns="0" rtlCol="0" anchor="ctr"/>
          <a:lstStyle/>
          <a:p>
            <a:pPr indent="0" marL="0">
              <a:buNone/>
            </a:pPr>
            <a:r>
              <a:rPr lang="en-US" sz="3400" b="1" dirty="0">
                <a:solidFill>
                  <a:srgbClr val="141414"/>
                </a:solidFill>
                <a:latin typeface="Cambria" pitchFamily="34" charset="0"/>
                <a:ea typeface="Cambria" pitchFamily="34" charset="-122"/>
                <a:cs typeface="Cambria" pitchFamily="34" charset="-120"/>
              </a:rPr>
              <a:t>What it costs each month</a:t>
            </a:r>
            <a:endParaRPr lang="en-US" sz="3400" dirty="0"/>
          </a:p>
        </p:txBody>
      </p:sp>
      <p:sp>
        <p:nvSpPr>
          <p:cNvPr id="4" name="Shape 2"/>
          <p:cNvSpPr/>
          <p:nvPr/>
        </p:nvSpPr>
        <p:spPr>
          <a:xfrm>
            <a:off x="685800" y="1691640"/>
            <a:ext cx="3423818" cy="1700784"/>
          </a:xfrm>
          <a:prstGeom prst="roundRect">
            <a:avLst>
              <a:gd name="adj" fmla="val 4839"/>
            </a:avLst>
          </a:prstGeom>
          <a:solidFill>
            <a:srgbClr val="FBFAF6"/>
          </a:solidFill>
          <a:ln w="9525">
            <a:solidFill>
              <a:srgbClr val="C9C2B4"/>
            </a:solidFill>
            <a:prstDash val="solid"/>
          </a:ln>
        </p:spPr>
      </p:sp>
      <p:sp>
        <p:nvSpPr>
          <p:cNvPr id="5" name="Text 3"/>
          <p:cNvSpPr/>
          <p:nvPr/>
        </p:nvSpPr>
        <p:spPr>
          <a:xfrm>
            <a:off x="960120" y="1828800"/>
            <a:ext cx="2875178" cy="713232"/>
          </a:xfrm>
          <a:prstGeom prst="rect">
            <a:avLst/>
          </a:prstGeom>
          <a:noFill/>
          <a:ln/>
        </p:spPr>
        <p:txBody>
          <a:bodyPr wrap="square" lIns="0" tIns="0" rIns="0" bIns="0" rtlCol="0" anchor="ctr"/>
          <a:lstStyle/>
          <a:p>
            <a:pPr indent="0" marL="0">
              <a:buNone/>
            </a:pPr>
            <a:r>
              <a:rPr lang="en-US" sz="4400" b="1" dirty="0">
                <a:solidFill>
                  <a:srgbClr val="C0532A"/>
                </a:solidFill>
                <a:latin typeface="Cambria" pitchFamily="34" charset="0"/>
                <a:ea typeface="Cambria" pitchFamily="34" charset="-122"/>
                <a:cs typeface="Cambria" pitchFamily="34" charset="-120"/>
              </a:rPr>
              <a:t>$1,500</a:t>
            </a:r>
            <a:endParaRPr lang="en-US" sz="4400" dirty="0"/>
          </a:p>
        </p:txBody>
      </p:sp>
      <p:sp>
        <p:nvSpPr>
          <p:cNvPr id="6" name="Text 4"/>
          <p:cNvSpPr/>
          <p:nvPr/>
        </p:nvSpPr>
        <p:spPr>
          <a:xfrm>
            <a:off x="960120" y="2560320"/>
            <a:ext cx="2875178" cy="274320"/>
          </a:xfrm>
          <a:prstGeom prst="rect">
            <a:avLst/>
          </a:prstGeom>
          <a:noFill/>
          <a:ln/>
        </p:spPr>
        <p:txBody>
          <a:bodyPr wrap="square" lIns="0" tIns="0" rIns="0" bIns="0" rtlCol="0" anchor="ctr"/>
          <a:lstStyle/>
          <a:p>
            <a:pPr indent="0" marL="0">
              <a:buNone/>
            </a:pPr>
            <a:r>
              <a:rPr lang="en-US" sz="1400" b="1" dirty="0">
                <a:solidFill>
                  <a:srgbClr val="141414"/>
                </a:solidFill>
                <a:latin typeface="Calibri" pitchFamily="34" charset="0"/>
                <a:ea typeface="Calibri" pitchFamily="34" charset="-122"/>
                <a:cs typeface="Calibri" pitchFamily="34" charset="-120"/>
              </a:rPr>
              <a:t>Ad spend</a:t>
            </a:r>
            <a:endParaRPr lang="en-US" sz="1400" dirty="0"/>
          </a:p>
        </p:txBody>
      </p:sp>
      <p:sp>
        <p:nvSpPr>
          <p:cNvPr id="7" name="Text 5"/>
          <p:cNvSpPr/>
          <p:nvPr/>
        </p:nvSpPr>
        <p:spPr>
          <a:xfrm>
            <a:off x="960120" y="2834640"/>
            <a:ext cx="2875178" cy="402336"/>
          </a:xfrm>
          <a:prstGeom prst="rect">
            <a:avLst/>
          </a:prstGeom>
          <a:noFill/>
          <a:ln/>
        </p:spPr>
        <p:txBody>
          <a:bodyPr wrap="square" lIns="0" tIns="0" rIns="0" bIns="0" rtlCol="0" anchor="t"/>
          <a:lstStyle/>
          <a:p>
            <a:pPr indent="0" marL="0">
              <a:lnSpc>
                <a:spcPct val="110000"/>
              </a:lnSpc>
              <a:buNone/>
            </a:pPr>
            <a:r>
              <a:rPr lang="en-US" sz="1150" dirty="0">
                <a:solidFill>
                  <a:srgbClr val="6E6656"/>
                </a:solidFill>
                <a:latin typeface="Calibri" pitchFamily="34" charset="0"/>
                <a:ea typeface="Calibri" pitchFamily="34" charset="-122"/>
                <a:cs typeface="Calibri" pitchFamily="34" charset="-120"/>
              </a:rPr>
              <a:t>Paid by you, directly to the platform</a:t>
            </a:r>
            <a:endParaRPr lang="en-US" sz="1150" dirty="0"/>
          </a:p>
        </p:txBody>
      </p:sp>
      <p:sp>
        <p:nvSpPr>
          <p:cNvPr id="8" name="Shape 6"/>
          <p:cNvSpPr/>
          <p:nvPr/>
        </p:nvSpPr>
        <p:spPr>
          <a:xfrm>
            <a:off x="4383938" y="1691640"/>
            <a:ext cx="3423818" cy="1700784"/>
          </a:xfrm>
          <a:prstGeom prst="roundRect">
            <a:avLst>
              <a:gd name="adj" fmla="val 4839"/>
            </a:avLst>
          </a:prstGeom>
          <a:solidFill>
            <a:srgbClr val="141414"/>
          </a:solidFill>
          <a:ln/>
        </p:spPr>
      </p:sp>
      <p:sp>
        <p:nvSpPr>
          <p:cNvPr id="9" name="Text 7"/>
          <p:cNvSpPr/>
          <p:nvPr/>
        </p:nvSpPr>
        <p:spPr>
          <a:xfrm>
            <a:off x="4658258" y="1828800"/>
            <a:ext cx="2875178" cy="713232"/>
          </a:xfrm>
          <a:prstGeom prst="rect">
            <a:avLst/>
          </a:prstGeom>
          <a:noFill/>
          <a:ln/>
        </p:spPr>
        <p:txBody>
          <a:bodyPr wrap="square" lIns="0" tIns="0" rIns="0" bIns="0" rtlCol="0" anchor="ctr"/>
          <a:lstStyle/>
          <a:p>
            <a:pPr indent="0" marL="0">
              <a:buNone/>
            </a:pPr>
            <a:r>
              <a:rPr lang="en-US" sz="4400" b="1" dirty="0">
                <a:solidFill>
                  <a:srgbClr val="CFB48E"/>
                </a:solidFill>
                <a:latin typeface="Cambria" pitchFamily="34" charset="0"/>
                <a:ea typeface="Cambria" pitchFamily="34" charset="-122"/>
                <a:cs typeface="Cambria" pitchFamily="34" charset="-120"/>
              </a:rPr>
              <a:t>$3,500</a:t>
            </a:r>
            <a:endParaRPr lang="en-US" sz="4400" dirty="0"/>
          </a:p>
        </p:txBody>
      </p:sp>
      <p:sp>
        <p:nvSpPr>
          <p:cNvPr id="10" name="Text 8"/>
          <p:cNvSpPr/>
          <p:nvPr/>
        </p:nvSpPr>
        <p:spPr>
          <a:xfrm>
            <a:off x="4658258" y="2560320"/>
            <a:ext cx="2875178" cy="274320"/>
          </a:xfrm>
          <a:prstGeom prst="rect">
            <a:avLst/>
          </a:prstGeom>
          <a:noFill/>
          <a:ln/>
        </p:spPr>
        <p:txBody>
          <a:bodyPr wrap="square" lIns="0" tIns="0" rIns="0" bIns="0" rtlCol="0" anchor="ctr"/>
          <a:lstStyle/>
          <a:p>
            <a:pPr indent="0" marL="0">
              <a:buNone/>
            </a:pPr>
            <a:r>
              <a:rPr lang="en-US" sz="1400" b="1" dirty="0">
                <a:solidFill>
                  <a:srgbClr val="F0EBE0"/>
                </a:solidFill>
                <a:latin typeface="Calibri" pitchFamily="34" charset="0"/>
                <a:ea typeface="Calibri" pitchFamily="34" charset="-122"/>
                <a:cs typeface="Calibri" pitchFamily="34" charset="-120"/>
              </a:rPr>
              <a:t>Combined monthly total</a:t>
            </a:r>
            <a:endParaRPr lang="en-US" sz="1400" dirty="0"/>
          </a:p>
        </p:txBody>
      </p:sp>
      <p:sp>
        <p:nvSpPr>
          <p:cNvPr id="11" name="Text 9"/>
          <p:cNvSpPr/>
          <p:nvPr/>
        </p:nvSpPr>
        <p:spPr>
          <a:xfrm>
            <a:off x="4658258" y="2834640"/>
            <a:ext cx="2875178" cy="402336"/>
          </a:xfrm>
          <a:prstGeom prst="rect">
            <a:avLst/>
          </a:prstGeom>
          <a:noFill/>
          <a:ln/>
        </p:spPr>
        <p:txBody>
          <a:bodyPr wrap="square" lIns="0" tIns="0" rIns="0" bIns="0" rtlCol="0" anchor="t"/>
          <a:lstStyle/>
          <a:p>
            <a:pPr indent="0" marL="0">
              <a:lnSpc>
                <a:spcPct val="110000"/>
              </a:lnSpc>
              <a:buNone/>
            </a:pPr>
            <a:r>
              <a:rPr lang="en-US" sz="1150" dirty="0">
                <a:solidFill>
                  <a:srgbClr val="A8A093"/>
                </a:solidFill>
                <a:latin typeface="Calibri" pitchFamily="34" charset="0"/>
                <a:ea typeface="Calibri" pitchFamily="34" charset="-122"/>
                <a:cs typeface="Calibri" pitchFamily="34" charset="-120"/>
              </a:rPr>
              <a:t>Ad spend plus the retainer</a:t>
            </a:r>
            <a:endParaRPr lang="en-US" sz="1150" dirty="0"/>
          </a:p>
        </p:txBody>
      </p:sp>
      <p:sp>
        <p:nvSpPr>
          <p:cNvPr id="12" name="Shape 10"/>
          <p:cNvSpPr/>
          <p:nvPr/>
        </p:nvSpPr>
        <p:spPr>
          <a:xfrm>
            <a:off x="8082077" y="1691640"/>
            <a:ext cx="3423818" cy="1700784"/>
          </a:xfrm>
          <a:prstGeom prst="roundRect">
            <a:avLst>
              <a:gd name="adj" fmla="val 4839"/>
            </a:avLst>
          </a:prstGeom>
          <a:solidFill>
            <a:srgbClr val="FBFAF6"/>
          </a:solidFill>
          <a:ln w="9525">
            <a:solidFill>
              <a:srgbClr val="C9C2B4"/>
            </a:solidFill>
            <a:prstDash val="solid"/>
          </a:ln>
        </p:spPr>
      </p:sp>
      <p:sp>
        <p:nvSpPr>
          <p:cNvPr id="13" name="Text 11"/>
          <p:cNvSpPr/>
          <p:nvPr/>
        </p:nvSpPr>
        <p:spPr>
          <a:xfrm>
            <a:off x="8356397" y="1828800"/>
            <a:ext cx="2875178" cy="713232"/>
          </a:xfrm>
          <a:prstGeom prst="rect">
            <a:avLst/>
          </a:prstGeom>
          <a:noFill/>
          <a:ln/>
        </p:spPr>
        <p:txBody>
          <a:bodyPr wrap="square" lIns="0" tIns="0" rIns="0" bIns="0" rtlCol="0" anchor="ctr"/>
          <a:lstStyle/>
          <a:p>
            <a:pPr indent="0" marL="0">
              <a:buNone/>
            </a:pPr>
            <a:r>
              <a:rPr lang="en-US" sz="4400" b="1" dirty="0">
                <a:solidFill>
                  <a:srgbClr val="C0532A"/>
                </a:solidFill>
                <a:latin typeface="Cambria" pitchFamily="34" charset="0"/>
                <a:ea typeface="Cambria" pitchFamily="34" charset="-122"/>
                <a:cs typeface="Cambria" pitchFamily="34" charset="-120"/>
              </a:rPr>
              <a:t>$0</a:t>
            </a:r>
            <a:endParaRPr lang="en-US" sz="4400" dirty="0"/>
          </a:p>
        </p:txBody>
      </p:sp>
      <p:sp>
        <p:nvSpPr>
          <p:cNvPr id="14" name="Text 12"/>
          <p:cNvSpPr/>
          <p:nvPr/>
        </p:nvSpPr>
        <p:spPr>
          <a:xfrm>
            <a:off x="8356397" y="2560320"/>
            <a:ext cx="2875178" cy="274320"/>
          </a:xfrm>
          <a:prstGeom prst="rect">
            <a:avLst/>
          </a:prstGeom>
          <a:noFill/>
          <a:ln/>
        </p:spPr>
        <p:txBody>
          <a:bodyPr wrap="square" lIns="0" tIns="0" rIns="0" bIns="0" rtlCol="0" anchor="ctr"/>
          <a:lstStyle/>
          <a:p>
            <a:pPr indent="0" marL="0">
              <a:buNone/>
            </a:pPr>
            <a:r>
              <a:rPr lang="en-US" sz="1400" b="1" dirty="0">
                <a:solidFill>
                  <a:srgbClr val="141414"/>
                </a:solidFill>
                <a:latin typeface="Calibri" pitchFamily="34" charset="0"/>
                <a:ea typeface="Calibri" pitchFamily="34" charset="-122"/>
                <a:cs typeface="Calibri" pitchFamily="34" charset="-120"/>
              </a:rPr>
              <a:t>Startup fee</a:t>
            </a:r>
            <a:endParaRPr lang="en-US" sz="1400" dirty="0"/>
          </a:p>
        </p:txBody>
      </p:sp>
      <p:sp>
        <p:nvSpPr>
          <p:cNvPr id="15" name="Text 13"/>
          <p:cNvSpPr/>
          <p:nvPr/>
        </p:nvSpPr>
        <p:spPr>
          <a:xfrm>
            <a:off x="8356397" y="2834640"/>
            <a:ext cx="2875178" cy="402336"/>
          </a:xfrm>
          <a:prstGeom prst="rect">
            <a:avLst/>
          </a:prstGeom>
          <a:noFill/>
          <a:ln/>
        </p:spPr>
        <p:txBody>
          <a:bodyPr wrap="square" lIns="0" tIns="0" rIns="0" bIns="0" rtlCol="0" anchor="t"/>
          <a:lstStyle/>
          <a:p>
            <a:pPr indent="0" marL="0">
              <a:lnSpc>
                <a:spcPct val="110000"/>
              </a:lnSpc>
              <a:buNone/>
            </a:pPr>
            <a:r>
              <a:rPr lang="en-US" sz="1150" dirty="0">
                <a:solidFill>
                  <a:srgbClr val="6E6656"/>
                </a:solidFill>
                <a:latin typeface="Calibri" pitchFamily="34" charset="0"/>
                <a:ea typeface="Calibri" pitchFamily="34" charset="-122"/>
                <a:cs typeface="Calibri" pitchFamily="34" charset="-120"/>
              </a:rPr>
              <a:t>No onboarding charge to begin</a:t>
            </a:r>
            <a:endParaRPr lang="en-US" sz="1150" dirty="0"/>
          </a:p>
        </p:txBody>
      </p:sp>
      <p:sp>
        <p:nvSpPr>
          <p:cNvPr id="16" name="Shape 14"/>
          <p:cNvSpPr/>
          <p:nvPr/>
        </p:nvSpPr>
        <p:spPr>
          <a:xfrm>
            <a:off x="685800" y="3639312"/>
            <a:ext cx="10820095" cy="2212848"/>
          </a:xfrm>
          <a:prstGeom prst="roundRect">
            <a:avLst>
              <a:gd name="adj" fmla="val 3719"/>
            </a:avLst>
          </a:prstGeom>
          <a:solidFill>
            <a:srgbClr val="FBFAF6"/>
          </a:solidFill>
          <a:ln w="9525">
            <a:solidFill>
              <a:srgbClr val="C9C2B4"/>
            </a:solidFill>
            <a:prstDash val="solid"/>
          </a:ln>
        </p:spPr>
      </p:sp>
      <p:sp>
        <p:nvSpPr>
          <p:cNvPr id="17" name="Text 15"/>
          <p:cNvSpPr/>
          <p:nvPr/>
        </p:nvSpPr>
        <p:spPr>
          <a:xfrm>
            <a:off x="1014984" y="3840480"/>
            <a:ext cx="64008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Where the $3,500 goes each month</a:t>
            </a:r>
            <a:endParaRPr lang="en-US" sz="1300" dirty="0"/>
          </a:p>
        </p:txBody>
      </p:sp>
      <p:sp>
        <p:nvSpPr>
          <p:cNvPr id="18" name="Shape 16"/>
          <p:cNvSpPr/>
          <p:nvPr/>
        </p:nvSpPr>
        <p:spPr>
          <a:xfrm>
            <a:off x="1051560" y="4224528"/>
            <a:ext cx="4311919" cy="786384"/>
          </a:xfrm>
          <a:prstGeom prst="rect">
            <a:avLst/>
          </a:prstGeom>
          <a:solidFill>
            <a:srgbClr val="D2703C"/>
          </a:solidFill>
          <a:ln/>
        </p:spPr>
      </p:sp>
      <p:sp>
        <p:nvSpPr>
          <p:cNvPr id="19" name="Text 17"/>
          <p:cNvSpPr/>
          <p:nvPr/>
        </p:nvSpPr>
        <p:spPr>
          <a:xfrm>
            <a:off x="1051560" y="4224528"/>
            <a:ext cx="4311919" cy="786384"/>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$1,500</a:t>
            </a:r>
            <a:endParaRPr lang="en-US" sz="2200" dirty="0"/>
          </a:p>
        </p:txBody>
      </p:sp>
      <p:sp>
        <p:nvSpPr>
          <p:cNvPr id="20" name="Text 18"/>
          <p:cNvSpPr/>
          <p:nvPr/>
        </p:nvSpPr>
        <p:spPr>
          <a:xfrm>
            <a:off x="1051560" y="5157216"/>
            <a:ext cx="4311919" cy="310896"/>
          </a:xfrm>
          <a:prstGeom prst="rect">
            <a:avLst/>
          </a:prstGeom>
          <a:noFill/>
          <a:ln/>
        </p:spPr>
        <p:txBody>
          <a:bodyPr wrap="square" lIns="0" tIns="0" rIns="0" bIns="0" rtlCol="0" anchor="ctr"/>
          <a:lstStyle/>
          <a:p>
            <a:pPr algn="ctr" indent="0" marL="0">
              <a:buNone/>
            </a:pPr>
            <a:r>
              <a:rPr lang="en-US" sz="1150" dirty="0">
                <a:solidFill>
                  <a:srgbClr val="3A3A3A"/>
                </a:solidFill>
                <a:latin typeface="Calibri" pitchFamily="34" charset="0"/>
                <a:ea typeface="Calibri" pitchFamily="34" charset="-122"/>
                <a:cs typeface="Calibri" pitchFamily="34" charset="-120"/>
              </a:rPr>
              <a:t>43%  ·  Ad spend — the platform bills your card directly</a:t>
            </a:r>
            <a:endParaRPr lang="en-US" sz="1150" dirty="0"/>
          </a:p>
        </p:txBody>
      </p:sp>
      <p:sp>
        <p:nvSpPr>
          <p:cNvPr id="21" name="Shape 19"/>
          <p:cNvSpPr/>
          <p:nvPr/>
        </p:nvSpPr>
        <p:spPr>
          <a:xfrm>
            <a:off x="5390911" y="4224528"/>
            <a:ext cx="5749225" cy="786384"/>
          </a:xfrm>
          <a:prstGeom prst="rect">
            <a:avLst/>
          </a:prstGeom>
          <a:solidFill>
            <a:srgbClr val="141414"/>
          </a:solidFill>
          <a:ln/>
        </p:spPr>
      </p:sp>
      <p:sp>
        <p:nvSpPr>
          <p:cNvPr id="22" name="Text 20"/>
          <p:cNvSpPr/>
          <p:nvPr/>
        </p:nvSpPr>
        <p:spPr>
          <a:xfrm>
            <a:off x="5390911" y="4224528"/>
            <a:ext cx="5749225" cy="786384"/>
          </a:xfrm>
          <a:prstGeom prst="rect">
            <a:avLst/>
          </a:prstGeom>
          <a:noFill/>
          <a:ln/>
        </p:spPr>
        <p:txBody>
          <a:bodyPr wrap="square" lIns="0" tIns="0" rIns="0" bIns="0" rtlCol="0" anchor="ctr"/>
          <a:lstStyle/>
          <a:p>
            <a:pPr algn="ctr" indent="0" marL="0">
              <a:buNone/>
            </a:pPr>
            <a:r>
              <a:rPr lang="en-US" sz="2200" b="1" dirty="0">
                <a:solidFill>
                  <a:srgbClr val="CFB48E"/>
                </a:solidFill>
                <a:latin typeface="Cambria" pitchFamily="34" charset="0"/>
                <a:ea typeface="Cambria" pitchFamily="34" charset="-122"/>
                <a:cs typeface="Cambria" pitchFamily="34" charset="-120"/>
              </a:rPr>
              <a:t>$2,000</a:t>
            </a:r>
            <a:endParaRPr lang="en-US" sz="2200" dirty="0"/>
          </a:p>
        </p:txBody>
      </p:sp>
      <p:sp>
        <p:nvSpPr>
          <p:cNvPr id="23" name="Text 21"/>
          <p:cNvSpPr/>
          <p:nvPr/>
        </p:nvSpPr>
        <p:spPr>
          <a:xfrm>
            <a:off x="5390911" y="5157216"/>
            <a:ext cx="5749225" cy="310896"/>
          </a:xfrm>
          <a:prstGeom prst="rect">
            <a:avLst/>
          </a:prstGeom>
          <a:noFill/>
          <a:ln/>
        </p:spPr>
        <p:txBody>
          <a:bodyPr wrap="square" lIns="0" tIns="0" rIns="0" bIns="0" rtlCol="0" anchor="ctr"/>
          <a:lstStyle/>
          <a:p>
            <a:pPr algn="ctr" indent="0" marL="0">
              <a:buNone/>
            </a:pPr>
            <a:r>
              <a:rPr lang="en-US" sz="1150" dirty="0">
                <a:solidFill>
                  <a:srgbClr val="3A3A3A"/>
                </a:solidFill>
                <a:latin typeface="Calibri" pitchFamily="34" charset="0"/>
                <a:ea typeface="Calibri" pitchFamily="34" charset="-122"/>
                <a:cs typeface="Calibri" pitchFamily="34" charset="-120"/>
              </a:rPr>
              <a:t>57%  ·  Retainer — invoiced by Stay Booked</a:t>
            </a:r>
            <a:endParaRPr lang="en-US" sz="1150" dirty="0"/>
          </a:p>
        </p:txBody>
      </p:sp>
      <p:sp>
        <p:nvSpPr>
          <p:cNvPr id="24" name="Text 22"/>
          <p:cNvSpPr/>
          <p:nvPr/>
        </p:nvSpPr>
        <p:spPr>
          <a:xfrm>
            <a:off x="685800" y="6327648"/>
            <a:ext cx="5486400" cy="274320"/>
          </a:xfrm>
          <a:prstGeom prst="rect">
            <a:avLst/>
          </a:prstGeom>
          <a:noFill/>
          <a:ln/>
        </p:spPr>
        <p:txBody>
          <a:bodyPr wrap="square" lIns="0" tIns="0" rIns="0" bIns="0" rtlCol="0" anchor="ctr"/>
          <a:lstStyle/>
          <a:p>
            <a:pPr indent="0" marL="0">
              <a:buNone/>
            </a:pPr>
            <a:r>
              <a:rPr lang="en-US" sz="850" spc="160" kern="0" dirty="0">
                <a:solidFill>
                  <a:srgbClr val="9A9080"/>
                </a:solidFill>
                <a:latin typeface="Calibri" pitchFamily="34" charset="0"/>
                <a:ea typeface="Calibri" pitchFamily="34" charset="-122"/>
                <a:cs typeface="Calibri" pitchFamily="34" charset="-120"/>
              </a:rPr>
              <a:t>STAY BOOKED MARKETING  ·  CLIENT KICKOFF</a:t>
            </a:r>
            <a:endParaRPr lang="en-US" sz="850" dirty="0"/>
          </a:p>
        </p:txBody>
      </p:sp>
      <p:sp>
        <p:nvSpPr>
          <p:cNvPr id="25" name="Text 23"/>
          <p:cNvSpPr/>
          <p:nvPr/>
        </p:nvSpPr>
        <p:spPr>
          <a:xfrm>
            <a:off x="10591495" y="6327648"/>
            <a:ext cx="914400" cy="274320"/>
          </a:xfrm>
          <a:prstGeom prst="rect">
            <a:avLst/>
          </a:prstGeom>
          <a:noFill/>
          <a:ln/>
        </p:spPr>
        <p:txBody>
          <a:bodyPr wrap="square" lIns="0" tIns="0" rIns="0" bIns="0" rtlCol="0" anchor="ctr"/>
          <a:lstStyle/>
          <a:p>
            <a:pPr algn="r" indent="0" marL="0">
              <a:buNone/>
            </a:pPr>
            <a:r>
              <a:rPr lang="en-US" sz="850" spc="160" kern="0" dirty="0">
                <a:solidFill>
                  <a:srgbClr val="9A9080"/>
                </a:solidFill>
                <a:latin typeface="Calibri" pitchFamily="34" charset="0"/>
                <a:ea typeface="Calibri" pitchFamily="34" charset="-122"/>
                <a:cs typeface="Calibri" pitchFamily="34" charset="-120"/>
              </a:rPr>
              <a:t>09</a:t>
            </a:r>
            <a:endParaRPr lang="en-US" sz="850" dirty="0"/>
          </a:p>
        </p:txBody>
      </p:sp>
      <p:pic>
        <p:nvPicPr>
          <p:cNvPr id="26" name="Image 0" descr="assets/logo_black.png">    </p:cNvPr>
          <p:cNvPicPr>
            <a:picLocks noChangeAspect="1"/>
          </p:cNvPicPr>
          <p:nvPr/>
        </p:nvPicPr>
        <p:blipFill>
          <a:blip r:embed="rId1">
            <a:alphaModFix amt="22000"/>
          </a:blip>
          <a:stretch>
            <a:fillRect/>
          </a:stretch>
        </p:blipFill>
        <p:spPr>
          <a:xfrm>
            <a:off x="10847527" y="384048"/>
            <a:ext cx="658368" cy="20939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EBE0"/>
        </a:solidFill>
      </p:bgPr>
    </p:bg>
    <p:spTree>
      <p:nvGrpSpPr>
        <p:cNvPr id="1" name=""/>
        <p:cNvGrpSpPr/>
        <p:nvPr/>
      </p:nvGrpSpPr>
      <p:grpSpPr>
        <a:xfrm>
          <a:off x="0" y="0"/>
          <a:ext cx="0" cy="0"/>
          <a:chOff x="0" y="0"/>
          <a:chExt cx="0" cy="0"/>
        </a:xfrm>
      </p:grpSpPr>
      <p:sp>
        <p:nvSpPr>
          <p:cNvPr id="2" name="Text 0"/>
          <p:cNvSpPr/>
          <p:nvPr/>
        </p:nvSpPr>
        <p:spPr>
          <a:xfrm>
            <a:off x="685800" y="566928"/>
            <a:ext cx="7772400" cy="256032"/>
          </a:xfrm>
          <a:prstGeom prst="rect">
            <a:avLst/>
          </a:prstGeom>
          <a:noFill/>
          <a:ln/>
        </p:spPr>
        <p:txBody>
          <a:bodyPr wrap="square" lIns="0" tIns="0" rIns="0" bIns="0" rtlCol="0" anchor="ctr"/>
          <a:lstStyle/>
          <a:p>
            <a:pPr indent="0" marL="0">
              <a:buNone/>
            </a:pPr>
            <a:r>
              <a:rPr lang="en-US" sz="1050" b="1" spc="260" kern="0" dirty="0">
                <a:solidFill>
                  <a:srgbClr val="C0532A"/>
                </a:solidFill>
                <a:latin typeface="Calibri" pitchFamily="34" charset="0"/>
                <a:ea typeface="Calibri" pitchFamily="34" charset="-122"/>
                <a:cs typeface="Calibri" pitchFamily="34" charset="-120"/>
              </a:rPr>
              <a:t>THE 90-DAY MATH</a:t>
            </a:r>
            <a:endParaRPr lang="en-US" sz="1050" dirty="0"/>
          </a:p>
        </p:txBody>
      </p:sp>
      <p:sp>
        <p:nvSpPr>
          <p:cNvPr id="3" name="Text 1"/>
          <p:cNvSpPr/>
          <p:nvPr/>
        </p:nvSpPr>
        <p:spPr>
          <a:xfrm>
            <a:off x="685800" y="868680"/>
            <a:ext cx="10058400" cy="658368"/>
          </a:xfrm>
          <a:prstGeom prst="rect">
            <a:avLst/>
          </a:prstGeom>
          <a:noFill/>
          <a:ln/>
        </p:spPr>
        <p:txBody>
          <a:bodyPr wrap="square" lIns="0" tIns="0" rIns="0" bIns="0" rtlCol="0" anchor="ctr"/>
          <a:lstStyle/>
          <a:p>
            <a:pPr indent="0" marL="0">
              <a:buNone/>
            </a:pPr>
            <a:r>
              <a:rPr lang="en-US" sz="3400" b="1" dirty="0">
                <a:solidFill>
                  <a:srgbClr val="141414"/>
                </a:solidFill>
                <a:latin typeface="Cambria" pitchFamily="34" charset="0"/>
                <a:ea typeface="Cambria" pitchFamily="34" charset="-122"/>
                <a:cs typeface="Cambria" pitchFamily="34" charset="-120"/>
              </a:rPr>
              <a:t>What the guarantee is worth</a:t>
            </a:r>
            <a:endParaRPr lang="en-US" sz="3400" dirty="0"/>
          </a:p>
        </p:txBody>
      </p:sp>
      <p:sp>
        <p:nvSpPr>
          <p:cNvPr id="4" name="Text 2"/>
          <p:cNvSpPr/>
          <p:nvPr/>
        </p:nvSpPr>
        <p:spPr>
          <a:xfrm>
            <a:off x="685800" y="1572768"/>
            <a:ext cx="9509760" cy="292608"/>
          </a:xfrm>
          <a:prstGeom prst="rect">
            <a:avLst/>
          </a:prstGeom>
          <a:noFill/>
          <a:ln/>
        </p:spPr>
        <p:txBody>
          <a:bodyPr wrap="square" lIns="0" tIns="0" rIns="0" bIns="0" rtlCol="0" anchor="ctr"/>
          <a:lstStyle/>
          <a:p>
            <a:pPr indent="0" marL="0">
              <a:buNone/>
            </a:pPr>
            <a:r>
              <a:rPr lang="en-US" sz="1350" dirty="0">
                <a:solidFill>
                  <a:srgbClr val="6E6656"/>
                </a:solidFill>
                <a:latin typeface="Calibri" pitchFamily="34" charset="0"/>
                <a:ea typeface="Calibri" pitchFamily="34" charset="-122"/>
                <a:cs typeface="Calibri" pitchFamily="34" charset="-120"/>
              </a:rPr>
              <a:t>The guarantee puts a ceiling on what a qualified lead can cost you in the first 90 days.</a:t>
            </a:r>
            <a:endParaRPr lang="en-US" sz="1350" dirty="0"/>
          </a:p>
        </p:txBody>
      </p:sp>
      <p:sp>
        <p:nvSpPr>
          <p:cNvPr id="5" name="Shape 3"/>
          <p:cNvSpPr/>
          <p:nvPr/>
        </p:nvSpPr>
        <p:spPr>
          <a:xfrm>
            <a:off x="685800" y="2048256"/>
            <a:ext cx="6537960" cy="3803904"/>
          </a:xfrm>
          <a:prstGeom prst="roundRect">
            <a:avLst>
              <a:gd name="adj" fmla="val 2163"/>
            </a:avLst>
          </a:prstGeom>
          <a:solidFill>
            <a:srgbClr val="FBFAF6"/>
          </a:solidFill>
          <a:ln w="9525">
            <a:solidFill>
              <a:srgbClr val="C9C2B4"/>
            </a:solidFill>
            <a:prstDash val="solid"/>
          </a:ln>
        </p:spPr>
      </p:sp>
      <p:sp>
        <p:nvSpPr>
          <p:cNvPr id="6" name="Text 4"/>
          <p:cNvSpPr/>
          <p:nvPr/>
        </p:nvSpPr>
        <p:spPr>
          <a:xfrm>
            <a:off x="996696" y="2231136"/>
            <a:ext cx="59436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Cumulative investment across the guarantee window</a:t>
            </a:r>
            <a:endParaRPr lang="en-US" sz="1300" dirty="0"/>
          </a:p>
        </p:txBody>
      </p:sp>
      <p:graphicFrame>
        <p:nvGraphicFramePr>
          <p:cNvPr id="7" name="Chart 0" descr=""/>
          <p:cNvGraphicFramePr/>
          <p:nvPr/>
        </p:nvGraphicFramePr>
        <p:xfrm>
          <a:off x="886968" y="2542032"/>
          <a:ext cx="6144768" cy="301752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580376" y="2048256"/>
            <a:ext cx="3922776" cy="2157984"/>
          </a:xfrm>
          <a:prstGeom prst="roundRect">
            <a:avLst>
              <a:gd name="adj" fmla="val 3814"/>
            </a:avLst>
          </a:prstGeom>
          <a:solidFill>
            <a:srgbClr val="141414"/>
          </a:solidFill>
          <a:ln/>
        </p:spPr>
      </p:sp>
      <p:sp>
        <p:nvSpPr>
          <p:cNvPr id="9" name="Text 6"/>
          <p:cNvSpPr/>
          <p:nvPr/>
        </p:nvSpPr>
        <p:spPr>
          <a:xfrm>
            <a:off x="7891272" y="2286000"/>
            <a:ext cx="3383280" cy="237744"/>
          </a:xfrm>
          <a:prstGeom prst="rect">
            <a:avLst/>
          </a:prstGeom>
          <a:noFill/>
          <a:ln/>
        </p:spPr>
        <p:txBody>
          <a:bodyPr wrap="square" lIns="0" tIns="0" rIns="0" bIns="0" rtlCol="0" anchor="ctr"/>
          <a:lstStyle/>
          <a:p>
            <a:pPr indent="0" marL="0">
              <a:buNone/>
            </a:pPr>
            <a:r>
              <a:rPr lang="en-US" sz="950" b="1" spc="200" kern="0" dirty="0">
                <a:solidFill>
                  <a:srgbClr val="E08A5F"/>
                </a:solidFill>
                <a:latin typeface="Calibri" pitchFamily="34" charset="0"/>
                <a:ea typeface="Calibri" pitchFamily="34" charset="-122"/>
                <a:cs typeface="Calibri" pitchFamily="34" charset="-120"/>
              </a:rPr>
              <a:t>CEILING PER QUALIFIED LEAD</a:t>
            </a:r>
            <a:endParaRPr lang="en-US" sz="950" dirty="0"/>
          </a:p>
        </p:txBody>
      </p:sp>
      <p:sp>
        <p:nvSpPr>
          <p:cNvPr id="10" name="Text 7"/>
          <p:cNvSpPr/>
          <p:nvPr/>
        </p:nvSpPr>
        <p:spPr>
          <a:xfrm>
            <a:off x="7891272" y="2560320"/>
            <a:ext cx="3383280" cy="786384"/>
          </a:xfrm>
          <a:prstGeom prst="rect">
            <a:avLst/>
          </a:prstGeom>
          <a:noFill/>
          <a:ln/>
        </p:spPr>
        <p:txBody>
          <a:bodyPr wrap="square" lIns="0" tIns="0" rIns="0" bIns="0" rtlCol="0" anchor="ctr"/>
          <a:lstStyle/>
          <a:p>
            <a:pPr indent="0" marL="0">
              <a:buNone/>
            </a:pPr>
            <a:r>
              <a:rPr lang="en-US" sz="5200" b="1" dirty="0">
                <a:solidFill>
                  <a:srgbClr val="CFB48E"/>
                </a:solidFill>
                <a:latin typeface="Cambria" pitchFamily="34" charset="0"/>
                <a:ea typeface="Cambria" pitchFamily="34" charset="-122"/>
                <a:cs typeface="Cambria" pitchFamily="34" charset="-120"/>
              </a:rPr>
              <a:t>$700</a:t>
            </a:r>
            <a:endParaRPr lang="en-US" sz="5200" dirty="0"/>
          </a:p>
        </p:txBody>
      </p:sp>
      <p:sp>
        <p:nvSpPr>
          <p:cNvPr id="11" name="Text 8"/>
          <p:cNvSpPr/>
          <p:nvPr/>
        </p:nvSpPr>
        <p:spPr>
          <a:xfrm>
            <a:off x="7891272" y="3383280"/>
            <a:ext cx="3310128" cy="658368"/>
          </a:xfrm>
          <a:prstGeom prst="rect">
            <a:avLst/>
          </a:prstGeom>
          <a:noFill/>
          <a:ln/>
        </p:spPr>
        <p:txBody>
          <a:bodyPr wrap="square" lIns="0" tIns="0" rIns="0" bIns="0" rtlCol="0" anchor="t"/>
          <a:lstStyle/>
          <a:p>
            <a:pPr indent="0" marL="0">
              <a:lnSpc>
                <a:spcPct val="116000"/>
              </a:lnSpc>
              <a:buNone/>
            </a:pPr>
            <a:r>
              <a:rPr lang="en-US" sz="1150" dirty="0">
                <a:solidFill>
                  <a:srgbClr val="A8A093"/>
                </a:solidFill>
                <a:latin typeface="Calibri" pitchFamily="34" charset="0"/>
                <a:ea typeface="Calibri" pitchFamily="34" charset="-122"/>
                <a:cs typeface="Calibri" pitchFamily="34" charset="-120"/>
              </a:rPr>
              <a:t>$10,500 over 90 days ÷ 15 guaranteed leads. Deliver more than 15 and the real number drops from there.</a:t>
            </a:r>
            <a:endParaRPr lang="en-US" sz="1150" dirty="0"/>
          </a:p>
        </p:txBody>
      </p:sp>
      <p:sp>
        <p:nvSpPr>
          <p:cNvPr id="12" name="Shape 9"/>
          <p:cNvSpPr/>
          <p:nvPr/>
        </p:nvSpPr>
        <p:spPr>
          <a:xfrm>
            <a:off x="7580376" y="4370832"/>
            <a:ext cx="3922776" cy="1481328"/>
          </a:xfrm>
          <a:prstGeom prst="roundRect">
            <a:avLst>
              <a:gd name="adj" fmla="val 5556"/>
            </a:avLst>
          </a:prstGeom>
          <a:solidFill>
            <a:srgbClr val="FBFAF6"/>
          </a:solidFill>
          <a:ln w="9525">
            <a:solidFill>
              <a:srgbClr val="C9C2B4"/>
            </a:solidFill>
            <a:prstDash val="solid"/>
          </a:ln>
        </p:spPr>
      </p:sp>
      <p:sp>
        <p:nvSpPr>
          <p:cNvPr id="13" name="Text 10"/>
          <p:cNvSpPr/>
          <p:nvPr/>
        </p:nvSpPr>
        <p:spPr>
          <a:xfrm>
            <a:off x="7891272" y="4553712"/>
            <a:ext cx="3383280" cy="292608"/>
          </a:xfrm>
          <a:prstGeom prst="rect">
            <a:avLst/>
          </a:prstGeom>
          <a:noFill/>
          <a:ln/>
        </p:spPr>
        <p:txBody>
          <a:bodyPr wrap="square" lIns="0" tIns="0" rIns="0" bIns="0" rtlCol="0" anchor="ctr"/>
          <a:lstStyle/>
          <a:p>
            <a:pPr indent="0" marL="0">
              <a:buNone/>
            </a:pPr>
            <a:r>
              <a:rPr lang="en-US" sz="1800" b="1" dirty="0">
                <a:solidFill>
                  <a:srgbClr val="141414"/>
                </a:solidFill>
                <a:latin typeface="Cambria" pitchFamily="34" charset="0"/>
                <a:ea typeface="Cambria" pitchFamily="34" charset="-122"/>
                <a:cs typeface="Cambria" pitchFamily="34" charset="-120"/>
              </a:rPr>
              <a:t>Confirm today</a:t>
            </a:r>
            <a:endParaRPr lang="en-US" sz="1800" dirty="0"/>
          </a:p>
        </p:txBody>
      </p:sp>
      <p:sp>
        <p:nvSpPr>
          <p:cNvPr id="14" name="Text 11"/>
          <p:cNvSpPr/>
          <p:nvPr/>
        </p:nvSpPr>
        <p:spPr>
          <a:xfrm>
            <a:off x="7891272" y="4901184"/>
            <a:ext cx="3310128" cy="786384"/>
          </a:xfrm>
          <a:prstGeom prst="rect">
            <a:avLst/>
          </a:prstGeom>
          <a:noFill/>
          <a:ln/>
        </p:spPr>
        <p:txBody>
          <a:bodyPr wrap="square" lIns="0" tIns="0" rIns="0" bIns="0" rtlCol="0" anchor="t"/>
          <a:lstStyle/>
          <a:p>
            <a:pPr marL="342900" indent="-342900">
              <a:lnSpc>
                <a:spcPct val="112000"/>
              </a:lnSpc>
              <a:spcAft>
                <a:spcPts val="300"/>
              </a:spcAft>
              <a:buSzPct val="100000"/>
              <a:buChar char="–"/>
            </a:pPr>
            <a:r>
              <a:rPr lang="en-US" sz="1200" dirty="0">
                <a:solidFill>
                  <a:srgbClr val="3A3A3A"/>
                </a:solidFill>
                <a:latin typeface="Calibri" pitchFamily="34" charset="0"/>
                <a:ea typeface="Calibri" pitchFamily="34" charset="-122"/>
                <a:cs typeface="Calibri" pitchFamily="34" charset="-120"/>
              </a:rPr>
              <a:t>Billing start date</a:t>
            </a:r>
            <a:endParaRPr lang="en-US" sz="1200" dirty="0"/>
          </a:p>
          <a:p>
            <a:pPr marL="342900" indent="-342900">
              <a:lnSpc>
                <a:spcPct val="112000"/>
              </a:lnSpc>
              <a:spcAft>
                <a:spcPts val="300"/>
              </a:spcAft>
              <a:buSzPct val="100000"/>
              <a:buChar char="–"/>
            </a:pPr>
            <a:r>
              <a:rPr lang="en-US" sz="1200" dirty="0">
                <a:solidFill>
                  <a:srgbClr val="3A3A3A"/>
                </a:solidFill>
                <a:latin typeface="Calibri" pitchFamily="34" charset="0"/>
                <a:ea typeface="Calibri" pitchFamily="34" charset="-122"/>
                <a:cs typeface="Calibri" pitchFamily="34" charset="-120"/>
              </a:rPr>
              <a:t>How you want to be invoiced</a:t>
            </a:r>
            <a:endParaRPr lang="en-US" sz="1200" dirty="0"/>
          </a:p>
          <a:p>
            <a:pPr marL="342900" indent="-342900">
              <a:lnSpc>
                <a:spcPct val="112000"/>
              </a:lnSpc>
              <a:spcAft>
                <a:spcPts val="300"/>
              </a:spcAft>
              <a:buSzPct val="100000"/>
              <a:buChar char="–"/>
            </a:pPr>
            <a:r>
              <a:rPr lang="en-US" sz="1200" dirty="0">
                <a:solidFill>
                  <a:srgbClr val="3A3A3A"/>
                </a:solidFill>
                <a:latin typeface="Calibri" pitchFamily="34" charset="0"/>
                <a:ea typeface="Calibri" pitchFamily="34" charset="-122"/>
                <a:cs typeface="Calibri" pitchFamily="34" charset="-120"/>
              </a:rPr>
              <a:t>When campaigns go live</a:t>
            </a:r>
            <a:endParaRPr lang="en-US" sz="1200" dirty="0"/>
          </a:p>
        </p:txBody>
      </p:sp>
      <p:sp>
        <p:nvSpPr>
          <p:cNvPr id="15" name="Text 12"/>
          <p:cNvSpPr/>
          <p:nvPr/>
        </p:nvSpPr>
        <p:spPr>
          <a:xfrm>
            <a:off x="685800" y="6327648"/>
            <a:ext cx="5486400" cy="274320"/>
          </a:xfrm>
          <a:prstGeom prst="rect">
            <a:avLst/>
          </a:prstGeom>
          <a:noFill/>
          <a:ln/>
        </p:spPr>
        <p:txBody>
          <a:bodyPr wrap="square" lIns="0" tIns="0" rIns="0" bIns="0" rtlCol="0" anchor="ctr"/>
          <a:lstStyle/>
          <a:p>
            <a:pPr indent="0" marL="0">
              <a:buNone/>
            </a:pPr>
            <a:r>
              <a:rPr lang="en-US" sz="850" spc="160" kern="0" dirty="0">
                <a:solidFill>
                  <a:srgbClr val="9A9080"/>
                </a:solidFill>
                <a:latin typeface="Calibri" pitchFamily="34" charset="0"/>
                <a:ea typeface="Calibri" pitchFamily="34" charset="-122"/>
                <a:cs typeface="Calibri" pitchFamily="34" charset="-120"/>
              </a:rPr>
              <a:t>STAY BOOKED MARKETING  ·  CLIENT KICKOFF</a:t>
            </a:r>
            <a:endParaRPr lang="en-US" sz="850" dirty="0"/>
          </a:p>
        </p:txBody>
      </p:sp>
      <p:sp>
        <p:nvSpPr>
          <p:cNvPr id="16" name="Text 13"/>
          <p:cNvSpPr/>
          <p:nvPr/>
        </p:nvSpPr>
        <p:spPr>
          <a:xfrm>
            <a:off x="10591495" y="6327648"/>
            <a:ext cx="914400" cy="274320"/>
          </a:xfrm>
          <a:prstGeom prst="rect">
            <a:avLst/>
          </a:prstGeom>
          <a:noFill/>
          <a:ln/>
        </p:spPr>
        <p:txBody>
          <a:bodyPr wrap="square" lIns="0" tIns="0" rIns="0" bIns="0" rtlCol="0" anchor="ctr"/>
          <a:lstStyle/>
          <a:p>
            <a:pPr algn="r" indent="0" marL="0">
              <a:buNone/>
            </a:pPr>
            <a:r>
              <a:rPr lang="en-US" sz="850" spc="160" kern="0" dirty="0">
                <a:solidFill>
                  <a:srgbClr val="9A9080"/>
                </a:solidFill>
                <a:latin typeface="Calibri" pitchFamily="34" charset="0"/>
                <a:ea typeface="Calibri" pitchFamily="34" charset="-122"/>
                <a:cs typeface="Calibri" pitchFamily="34" charset="-120"/>
              </a:rPr>
              <a:t>10</a:t>
            </a:r>
            <a:endParaRPr lang="en-US" sz="850" dirty="0"/>
          </a:p>
        </p:txBody>
      </p:sp>
      <p:pic>
        <p:nvPicPr>
          <p:cNvPr id="17" name="Image 0" descr="assets/logo_black.png">    </p:cNvPr>
          <p:cNvPicPr>
            <a:picLocks noChangeAspect="1"/>
          </p:cNvPicPr>
          <p:nvPr/>
        </p:nvPicPr>
        <p:blipFill>
          <a:blip r:embed="rId2">
            <a:alphaModFix amt="22000"/>
          </a:blip>
          <a:stretch>
            <a:fillRect/>
          </a:stretch>
        </p:blipFill>
        <p:spPr>
          <a:xfrm>
            <a:off x="10847527" y="384048"/>
            <a:ext cx="658368" cy="20939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EBE0"/>
        </a:solidFill>
      </p:bgPr>
    </p:bg>
    <p:spTree>
      <p:nvGrpSpPr>
        <p:cNvPr id="1" name=""/>
        <p:cNvGrpSpPr/>
        <p:nvPr/>
      </p:nvGrpSpPr>
      <p:grpSpPr>
        <a:xfrm>
          <a:off x="0" y="0"/>
          <a:ext cx="0" cy="0"/>
          <a:chOff x="0" y="0"/>
          <a:chExt cx="0" cy="0"/>
        </a:xfrm>
      </p:grpSpPr>
      <p:sp>
        <p:nvSpPr>
          <p:cNvPr id="2" name="Text 0"/>
          <p:cNvSpPr/>
          <p:nvPr/>
        </p:nvSpPr>
        <p:spPr>
          <a:xfrm>
            <a:off x="685800" y="566928"/>
            <a:ext cx="7772400" cy="256032"/>
          </a:xfrm>
          <a:prstGeom prst="rect">
            <a:avLst/>
          </a:prstGeom>
          <a:noFill/>
          <a:ln/>
        </p:spPr>
        <p:txBody>
          <a:bodyPr wrap="square" lIns="0" tIns="0" rIns="0" bIns="0" rtlCol="0" anchor="ctr"/>
          <a:lstStyle/>
          <a:p>
            <a:pPr indent="0" marL="0">
              <a:buNone/>
            </a:pPr>
            <a:r>
              <a:rPr lang="en-US" sz="1050" b="1" spc="260" kern="0" dirty="0">
                <a:solidFill>
                  <a:srgbClr val="C0532A"/>
                </a:solidFill>
                <a:latin typeface="Calibri" pitchFamily="34" charset="0"/>
                <a:ea typeface="Calibri" pitchFamily="34" charset="-122"/>
                <a:cs typeface="Calibri" pitchFamily="34" charset="-120"/>
              </a:rPr>
              <a:t>TROUBLESHOOTING</a:t>
            </a:r>
            <a:endParaRPr lang="en-US" sz="1050" dirty="0"/>
          </a:p>
        </p:txBody>
      </p:sp>
      <p:sp>
        <p:nvSpPr>
          <p:cNvPr id="3" name="Text 1"/>
          <p:cNvSpPr/>
          <p:nvPr/>
        </p:nvSpPr>
        <p:spPr>
          <a:xfrm>
            <a:off x="685800" y="868680"/>
            <a:ext cx="10058400" cy="658368"/>
          </a:xfrm>
          <a:prstGeom prst="rect">
            <a:avLst/>
          </a:prstGeom>
          <a:noFill/>
          <a:ln/>
        </p:spPr>
        <p:txBody>
          <a:bodyPr wrap="square" lIns="0" tIns="0" rIns="0" bIns="0" rtlCol="0" anchor="ctr"/>
          <a:lstStyle/>
          <a:p>
            <a:pPr indent="0" marL="0">
              <a:buNone/>
            </a:pPr>
            <a:r>
              <a:rPr lang="en-US" sz="3400" b="1" dirty="0">
                <a:solidFill>
                  <a:srgbClr val="141414"/>
                </a:solidFill>
                <a:latin typeface="Cambria" pitchFamily="34" charset="0"/>
                <a:ea typeface="Cambria" pitchFamily="34" charset="-122"/>
                <a:cs typeface="Cambria" pitchFamily="34" charset="-120"/>
              </a:rPr>
              <a:t>If leads underperform</a:t>
            </a:r>
            <a:endParaRPr lang="en-US" sz="3400" dirty="0"/>
          </a:p>
        </p:txBody>
      </p:sp>
      <p:sp>
        <p:nvSpPr>
          <p:cNvPr id="4" name="Text 2"/>
          <p:cNvSpPr/>
          <p:nvPr/>
        </p:nvSpPr>
        <p:spPr>
          <a:xfrm>
            <a:off x="685800" y="1572768"/>
            <a:ext cx="9144000" cy="292608"/>
          </a:xfrm>
          <a:prstGeom prst="rect">
            <a:avLst/>
          </a:prstGeom>
          <a:noFill/>
          <a:ln/>
        </p:spPr>
        <p:txBody>
          <a:bodyPr wrap="square" lIns="0" tIns="0" rIns="0" bIns="0" rtlCol="0" anchor="ctr"/>
          <a:lstStyle/>
          <a:p>
            <a:pPr indent="0" marL="0">
              <a:buNone/>
            </a:pPr>
            <a:r>
              <a:rPr lang="en-US" sz="1350" dirty="0">
                <a:solidFill>
                  <a:srgbClr val="6E6656"/>
                </a:solidFill>
                <a:latin typeface="Calibri" pitchFamily="34" charset="0"/>
                <a:ea typeface="Calibri" pitchFamily="34" charset="-122"/>
                <a:cs typeface="Calibri" pitchFamily="34" charset="-120"/>
              </a:rPr>
              <a:t>There is an active process behind this, and it starts immediately. Nobody is waiting and hoping.</a:t>
            </a:r>
            <a:endParaRPr lang="en-US" sz="1350" dirty="0"/>
          </a:p>
        </p:txBody>
      </p:sp>
      <p:sp>
        <p:nvSpPr>
          <p:cNvPr id="5" name="Shape 3"/>
          <p:cNvSpPr/>
          <p:nvPr/>
        </p:nvSpPr>
        <p:spPr>
          <a:xfrm>
            <a:off x="685800" y="2103120"/>
            <a:ext cx="3423818" cy="2377440"/>
          </a:xfrm>
          <a:prstGeom prst="roundRect">
            <a:avLst>
              <a:gd name="adj" fmla="val 3462"/>
            </a:avLst>
          </a:prstGeom>
          <a:solidFill>
            <a:srgbClr val="FBFAF6"/>
          </a:solidFill>
          <a:ln w="9525">
            <a:solidFill>
              <a:srgbClr val="C9C2B4"/>
            </a:solidFill>
            <a:prstDash val="solid"/>
          </a:ln>
        </p:spPr>
      </p:sp>
      <p:sp>
        <p:nvSpPr>
          <p:cNvPr id="6" name="Text 4"/>
          <p:cNvSpPr/>
          <p:nvPr/>
        </p:nvSpPr>
        <p:spPr>
          <a:xfrm>
            <a:off x="978408" y="2395728"/>
            <a:ext cx="512064" cy="512064"/>
          </a:xfrm>
          <a:prstGeom prst="ellipse">
            <a:avLst/>
          </a:prstGeom>
          <a:solidFill>
            <a:srgbClr val="C0532A"/>
          </a:solidFill>
          <a:ln/>
        </p:spPr>
        <p:txBody>
          <a:bodyPr wrap="square" lIns="0" tIns="0" rIns="0" bIns="0" rtlCol="0" anchor="ctr"/>
          <a:lstStyle/>
          <a:p>
            <a:pPr algn="ctr" indent="0" marL="0">
              <a:buNone/>
            </a:pPr>
            <a:r>
              <a:rPr lang="en-US" sz="1250" b="1" dirty="0">
                <a:solidFill>
                  <a:srgbClr val="FBFAF6"/>
                </a:solidFill>
                <a:latin typeface="Calibri" pitchFamily="34" charset="0"/>
                <a:ea typeface="Calibri" pitchFamily="34" charset="-122"/>
                <a:cs typeface="Calibri" pitchFamily="34" charset="-120"/>
              </a:rPr>
              <a:t>01</a:t>
            </a:r>
            <a:endParaRPr lang="en-US" sz="1250" dirty="0"/>
          </a:p>
        </p:txBody>
      </p:sp>
      <p:sp>
        <p:nvSpPr>
          <p:cNvPr id="7" name="Text 5"/>
          <p:cNvSpPr/>
          <p:nvPr/>
        </p:nvSpPr>
        <p:spPr>
          <a:xfrm>
            <a:off x="978408" y="3054096"/>
            <a:ext cx="2838602" cy="347472"/>
          </a:xfrm>
          <a:prstGeom prst="rect">
            <a:avLst/>
          </a:prstGeom>
          <a:noFill/>
          <a:ln/>
        </p:spPr>
        <p:txBody>
          <a:bodyPr wrap="square" lIns="0" tIns="0" rIns="0" bIns="0" rtlCol="0" anchor="ctr"/>
          <a:lstStyle/>
          <a:p>
            <a:pPr indent="0" marL="0">
              <a:buNone/>
            </a:pPr>
            <a:r>
              <a:rPr lang="en-US" sz="2000" b="1" dirty="0">
                <a:solidFill>
                  <a:srgbClr val="141414"/>
                </a:solidFill>
                <a:latin typeface="Cambria" pitchFamily="34" charset="0"/>
                <a:ea typeface="Cambria" pitchFamily="34" charset="-122"/>
                <a:cs typeface="Cambria" pitchFamily="34" charset="-120"/>
              </a:rPr>
              <a:t>Adjust targeting</a:t>
            </a:r>
            <a:endParaRPr lang="en-US" sz="2000" dirty="0"/>
          </a:p>
        </p:txBody>
      </p:sp>
      <p:sp>
        <p:nvSpPr>
          <p:cNvPr id="8" name="Text 6"/>
          <p:cNvSpPr/>
          <p:nvPr/>
        </p:nvSpPr>
        <p:spPr>
          <a:xfrm>
            <a:off x="978408" y="3456432"/>
            <a:ext cx="2838602" cy="914400"/>
          </a:xfrm>
          <a:prstGeom prst="rect">
            <a:avLst/>
          </a:prstGeom>
          <a:noFill/>
          <a:ln/>
        </p:spPr>
        <p:txBody>
          <a:bodyPr wrap="square" lIns="0" tIns="0" rIns="0" bIns="0" rtlCol="0" anchor="t"/>
          <a:lstStyle/>
          <a:p>
            <a:pPr indent="0" marL="0">
              <a:lnSpc>
                <a:spcPct val="118000"/>
              </a:lnSpc>
              <a:buNone/>
            </a:pPr>
            <a:r>
              <a:rPr lang="en-US" sz="1250" dirty="0">
                <a:solidFill>
                  <a:srgbClr val="3A3A3A"/>
                </a:solidFill>
                <a:latin typeface="Calibri" pitchFamily="34" charset="0"/>
                <a:ea typeface="Calibri" pitchFamily="34" charset="-122"/>
                <a:cs typeface="Calibri" pitchFamily="34" charset="-120"/>
              </a:rPr>
              <a:t>Tighten or widen the radius, shift age and interest sets, and re-weight toward the segments actually converting.</a:t>
            </a:r>
            <a:endParaRPr lang="en-US" sz="1250" dirty="0"/>
          </a:p>
        </p:txBody>
      </p:sp>
      <p:sp>
        <p:nvSpPr>
          <p:cNvPr id="9" name="Shape 7"/>
          <p:cNvSpPr/>
          <p:nvPr/>
        </p:nvSpPr>
        <p:spPr>
          <a:xfrm>
            <a:off x="4383938" y="2103120"/>
            <a:ext cx="3423818" cy="2377440"/>
          </a:xfrm>
          <a:prstGeom prst="roundRect">
            <a:avLst>
              <a:gd name="adj" fmla="val 3462"/>
            </a:avLst>
          </a:prstGeom>
          <a:solidFill>
            <a:srgbClr val="FBFAF6"/>
          </a:solidFill>
          <a:ln w="9525">
            <a:solidFill>
              <a:srgbClr val="C9C2B4"/>
            </a:solidFill>
            <a:prstDash val="solid"/>
          </a:ln>
        </p:spPr>
      </p:sp>
      <p:sp>
        <p:nvSpPr>
          <p:cNvPr id="10" name="Text 8"/>
          <p:cNvSpPr/>
          <p:nvPr/>
        </p:nvSpPr>
        <p:spPr>
          <a:xfrm>
            <a:off x="4676546" y="2395728"/>
            <a:ext cx="512064" cy="512064"/>
          </a:xfrm>
          <a:prstGeom prst="ellipse">
            <a:avLst/>
          </a:prstGeom>
          <a:solidFill>
            <a:srgbClr val="C0532A"/>
          </a:solidFill>
          <a:ln/>
        </p:spPr>
        <p:txBody>
          <a:bodyPr wrap="square" lIns="0" tIns="0" rIns="0" bIns="0" rtlCol="0" anchor="ctr"/>
          <a:lstStyle/>
          <a:p>
            <a:pPr algn="ctr" indent="0" marL="0">
              <a:buNone/>
            </a:pPr>
            <a:r>
              <a:rPr lang="en-US" sz="1250" b="1" dirty="0">
                <a:solidFill>
                  <a:srgbClr val="FBFAF6"/>
                </a:solidFill>
                <a:latin typeface="Calibri" pitchFamily="34" charset="0"/>
                <a:ea typeface="Calibri" pitchFamily="34" charset="-122"/>
                <a:cs typeface="Calibri" pitchFamily="34" charset="-120"/>
              </a:rPr>
              <a:t>02</a:t>
            </a:r>
            <a:endParaRPr lang="en-US" sz="1250" dirty="0"/>
          </a:p>
        </p:txBody>
      </p:sp>
      <p:sp>
        <p:nvSpPr>
          <p:cNvPr id="11" name="Text 9"/>
          <p:cNvSpPr/>
          <p:nvPr/>
        </p:nvSpPr>
        <p:spPr>
          <a:xfrm>
            <a:off x="4676546" y="3054096"/>
            <a:ext cx="2838602" cy="347472"/>
          </a:xfrm>
          <a:prstGeom prst="rect">
            <a:avLst/>
          </a:prstGeom>
          <a:noFill/>
          <a:ln/>
        </p:spPr>
        <p:txBody>
          <a:bodyPr wrap="square" lIns="0" tIns="0" rIns="0" bIns="0" rtlCol="0" anchor="ctr"/>
          <a:lstStyle/>
          <a:p>
            <a:pPr indent="0" marL="0">
              <a:buNone/>
            </a:pPr>
            <a:r>
              <a:rPr lang="en-US" sz="2000" b="1" dirty="0">
                <a:solidFill>
                  <a:srgbClr val="141414"/>
                </a:solidFill>
                <a:latin typeface="Cambria" pitchFamily="34" charset="0"/>
                <a:ea typeface="Cambria" pitchFamily="34" charset="-122"/>
                <a:cs typeface="Cambria" pitchFamily="34" charset="-120"/>
              </a:rPr>
              <a:t>Swap creative</a:t>
            </a:r>
            <a:endParaRPr lang="en-US" sz="2000" dirty="0"/>
          </a:p>
        </p:txBody>
      </p:sp>
      <p:sp>
        <p:nvSpPr>
          <p:cNvPr id="12" name="Text 10"/>
          <p:cNvSpPr/>
          <p:nvPr/>
        </p:nvSpPr>
        <p:spPr>
          <a:xfrm>
            <a:off x="4676546" y="3456432"/>
            <a:ext cx="2838602" cy="914400"/>
          </a:xfrm>
          <a:prstGeom prst="rect">
            <a:avLst/>
          </a:prstGeom>
          <a:noFill/>
          <a:ln/>
        </p:spPr>
        <p:txBody>
          <a:bodyPr wrap="square" lIns="0" tIns="0" rIns="0" bIns="0" rtlCol="0" anchor="t"/>
          <a:lstStyle/>
          <a:p>
            <a:pPr indent="0" marL="0">
              <a:lnSpc>
                <a:spcPct val="118000"/>
              </a:lnSpc>
              <a:buNone/>
            </a:pPr>
            <a:r>
              <a:rPr lang="en-US" sz="1250" dirty="0">
                <a:solidFill>
                  <a:srgbClr val="3A3A3A"/>
                </a:solidFill>
                <a:latin typeface="Calibri" pitchFamily="34" charset="0"/>
                <a:ea typeface="Calibri" pitchFamily="34" charset="-122"/>
                <a:cs typeface="Calibri" pitchFamily="34" charset="-120"/>
              </a:rPr>
              <a:t>New images, new hooks, new angles. Creative fatigue is the most common reason a campaign goes quiet.</a:t>
            </a:r>
            <a:endParaRPr lang="en-US" sz="1250" dirty="0"/>
          </a:p>
        </p:txBody>
      </p:sp>
      <p:sp>
        <p:nvSpPr>
          <p:cNvPr id="13" name="Shape 11"/>
          <p:cNvSpPr/>
          <p:nvPr/>
        </p:nvSpPr>
        <p:spPr>
          <a:xfrm>
            <a:off x="8082077" y="2103120"/>
            <a:ext cx="3423818" cy="2377440"/>
          </a:xfrm>
          <a:prstGeom prst="roundRect">
            <a:avLst>
              <a:gd name="adj" fmla="val 3462"/>
            </a:avLst>
          </a:prstGeom>
          <a:solidFill>
            <a:srgbClr val="FBFAF6"/>
          </a:solidFill>
          <a:ln w="9525">
            <a:solidFill>
              <a:srgbClr val="C9C2B4"/>
            </a:solidFill>
            <a:prstDash val="solid"/>
          </a:ln>
        </p:spPr>
      </p:sp>
      <p:sp>
        <p:nvSpPr>
          <p:cNvPr id="14" name="Text 12"/>
          <p:cNvSpPr/>
          <p:nvPr/>
        </p:nvSpPr>
        <p:spPr>
          <a:xfrm>
            <a:off x="8374685" y="2395728"/>
            <a:ext cx="512064" cy="512064"/>
          </a:xfrm>
          <a:prstGeom prst="ellipse">
            <a:avLst/>
          </a:prstGeom>
          <a:solidFill>
            <a:srgbClr val="C0532A"/>
          </a:solidFill>
          <a:ln/>
        </p:spPr>
        <p:txBody>
          <a:bodyPr wrap="square" lIns="0" tIns="0" rIns="0" bIns="0" rtlCol="0" anchor="ctr"/>
          <a:lstStyle/>
          <a:p>
            <a:pPr algn="ctr" indent="0" marL="0">
              <a:buNone/>
            </a:pPr>
            <a:r>
              <a:rPr lang="en-US" sz="1250" b="1" dirty="0">
                <a:solidFill>
                  <a:srgbClr val="FBFAF6"/>
                </a:solidFill>
                <a:latin typeface="Calibri" pitchFamily="34" charset="0"/>
                <a:ea typeface="Calibri" pitchFamily="34" charset="-122"/>
                <a:cs typeface="Calibri" pitchFamily="34" charset="-120"/>
              </a:rPr>
              <a:t>03</a:t>
            </a:r>
            <a:endParaRPr lang="en-US" sz="1250" dirty="0"/>
          </a:p>
        </p:txBody>
      </p:sp>
      <p:sp>
        <p:nvSpPr>
          <p:cNvPr id="15" name="Text 13"/>
          <p:cNvSpPr/>
          <p:nvPr/>
        </p:nvSpPr>
        <p:spPr>
          <a:xfrm>
            <a:off x="8374685" y="3054096"/>
            <a:ext cx="2838602" cy="347472"/>
          </a:xfrm>
          <a:prstGeom prst="rect">
            <a:avLst/>
          </a:prstGeom>
          <a:noFill/>
          <a:ln/>
        </p:spPr>
        <p:txBody>
          <a:bodyPr wrap="square" lIns="0" tIns="0" rIns="0" bIns="0" rtlCol="0" anchor="ctr"/>
          <a:lstStyle/>
          <a:p>
            <a:pPr indent="0" marL="0">
              <a:buNone/>
            </a:pPr>
            <a:r>
              <a:rPr lang="en-US" sz="2000" b="1" dirty="0">
                <a:solidFill>
                  <a:srgbClr val="141414"/>
                </a:solidFill>
                <a:latin typeface="Cambria" pitchFamily="34" charset="0"/>
                <a:ea typeface="Cambria" pitchFamily="34" charset="-122"/>
                <a:cs typeface="Cambria" pitchFamily="34" charset="-120"/>
              </a:rPr>
              <a:t>Test new offers</a:t>
            </a:r>
            <a:endParaRPr lang="en-US" sz="2000" dirty="0"/>
          </a:p>
        </p:txBody>
      </p:sp>
      <p:sp>
        <p:nvSpPr>
          <p:cNvPr id="16" name="Text 14"/>
          <p:cNvSpPr/>
          <p:nvPr/>
        </p:nvSpPr>
        <p:spPr>
          <a:xfrm>
            <a:off x="8374685" y="3456432"/>
            <a:ext cx="2838602" cy="914400"/>
          </a:xfrm>
          <a:prstGeom prst="rect">
            <a:avLst/>
          </a:prstGeom>
          <a:noFill/>
          <a:ln/>
        </p:spPr>
        <p:txBody>
          <a:bodyPr wrap="square" lIns="0" tIns="0" rIns="0" bIns="0" rtlCol="0" anchor="t"/>
          <a:lstStyle/>
          <a:p>
            <a:pPr indent="0" marL="0">
              <a:lnSpc>
                <a:spcPct val="118000"/>
              </a:lnSpc>
              <a:buNone/>
            </a:pPr>
            <a:r>
              <a:rPr lang="en-US" sz="1250" dirty="0">
                <a:solidFill>
                  <a:srgbClr val="3A3A3A"/>
                </a:solidFill>
                <a:latin typeface="Calibri" pitchFamily="34" charset="0"/>
                <a:ea typeface="Calibri" pitchFamily="34" charset="-122"/>
                <a:cs typeface="Calibri" pitchFamily="34" charset="-120"/>
              </a:rPr>
              <a:t>Change what the ad actually asks for — a consult, a callback, an availability check — until one clears.</a:t>
            </a:r>
            <a:endParaRPr lang="en-US" sz="1250" dirty="0"/>
          </a:p>
        </p:txBody>
      </p:sp>
      <p:sp>
        <p:nvSpPr>
          <p:cNvPr id="17" name="Shape 15"/>
          <p:cNvSpPr/>
          <p:nvPr/>
        </p:nvSpPr>
        <p:spPr>
          <a:xfrm>
            <a:off x="685800" y="4736592"/>
            <a:ext cx="10820095" cy="1115568"/>
          </a:xfrm>
          <a:prstGeom prst="roundRect">
            <a:avLst>
              <a:gd name="adj" fmla="val 7377"/>
            </a:avLst>
          </a:prstGeom>
          <a:solidFill>
            <a:srgbClr val="141414"/>
          </a:solidFill>
          <a:ln/>
        </p:spPr>
      </p:sp>
      <p:sp>
        <p:nvSpPr>
          <p:cNvPr id="18" name="Text 16"/>
          <p:cNvSpPr/>
          <p:nvPr/>
        </p:nvSpPr>
        <p:spPr>
          <a:xfrm>
            <a:off x="1069848" y="4736592"/>
            <a:ext cx="10051999" cy="1115568"/>
          </a:xfrm>
          <a:prstGeom prst="rect">
            <a:avLst/>
          </a:prstGeom>
          <a:noFill/>
          <a:ln/>
        </p:spPr>
        <p:txBody>
          <a:bodyPr wrap="square" lIns="0" tIns="0" rIns="0" bIns="0" rtlCol="0" anchor="ctr"/>
          <a:lstStyle/>
          <a:p>
            <a:pPr indent="0" marL="0">
              <a:buNone/>
            </a:pPr>
            <a:r>
              <a:rPr lang="en-US" sz="1800" i="1" dirty="0">
                <a:solidFill>
                  <a:srgbClr val="CFB48E"/>
                </a:solidFill>
                <a:latin typeface="Cambria" pitchFamily="34" charset="0"/>
                <a:ea typeface="Cambria" pitchFamily="34" charset="-122"/>
                <a:cs typeface="Cambria" pitchFamily="34" charset="-120"/>
              </a:rPr>
              <a:t>You will hear about it from us first — underperformance shows up in the weekly meeting, with the fix already proposed.</a:t>
            </a:r>
            <a:endParaRPr lang="en-US" sz="1800" dirty="0"/>
          </a:p>
        </p:txBody>
      </p:sp>
      <p:sp>
        <p:nvSpPr>
          <p:cNvPr id="19" name="Text 17"/>
          <p:cNvSpPr/>
          <p:nvPr/>
        </p:nvSpPr>
        <p:spPr>
          <a:xfrm>
            <a:off x="685800" y="6327648"/>
            <a:ext cx="5486400" cy="274320"/>
          </a:xfrm>
          <a:prstGeom prst="rect">
            <a:avLst/>
          </a:prstGeom>
          <a:noFill/>
          <a:ln/>
        </p:spPr>
        <p:txBody>
          <a:bodyPr wrap="square" lIns="0" tIns="0" rIns="0" bIns="0" rtlCol="0" anchor="ctr"/>
          <a:lstStyle/>
          <a:p>
            <a:pPr indent="0" marL="0">
              <a:buNone/>
            </a:pPr>
            <a:r>
              <a:rPr lang="en-US" sz="850" spc="160" kern="0" dirty="0">
                <a:solidFill>
                  <a:srgbClr val="9A9080"/>
                </a:solidFill>
                <a:latin typeface="Calibri" pitchFamily="34" charset="0"/>
                <a:ea typeface="Calibri" pitchFamily="34" charset="-122"/>
                <a:cs typeface="Calibri" pitchFamily="34" charset="-120"/>
              </a:rPr>
              <a:t>STAY BOOKED MARKETING  ·  CLIENT KICKOFF</a:t>
            </a:r>
            <a:endParaRPr lang="en-US" sz="850" dirty="0"/>
          </a:p>
        </p:txBody>
      </p:sp>
      <p:sp>
        <p:nvSpPr>
          <p:cNvPr id="20" name="Text 18"/>
          <p:cNvSpPr/>
          <p:nvPr/>
        </p:nvSpPr>
        <p:spPr>
          <a:xfrm>
            <a:off x="10591495" y="6327648"/>
            <a:ext cx="914400" cy="274320"/>
          </a:xfrm>
          <a:prstGeom prst="rect">
            <a:avLst/>
          </a:prstGeom>
          <a:noFill/>
          <a:ln/>
        </p:spPr>
        <p:txBody>
          <a:bodyPr wrap="square" lIns="0" tIns="0" rIns="0" bIns="0" rtlCol="0" anchor="ctr"/>
          <a:lstStyle/>
          <a:p>
            <a:pPr algn="r" indent="0" marL="0">
              <a:buNone/>
            </a:pPr>
            <a:r>
              <a:rPr lang="en-US" sz="850" spc="160" kern="0" dirty="0">
                <a:solidFill>
                  <a:srgbClr val="9A9080"/>
                </a:solidFill>
                <a:latin typeface="Calibri" pitchFamily="34" charset="0"/>
                <a:ea typeface="Calibri" pitchFamily="34" charset="-122"/>
                <a:cs typeface="Calibri" pitchFamily="34" charset="-120"/>
              </a:rPr>
              <a:t>11</a:t>
            </a:r>
            <a:endParaRPr lang="en-US" sz="850" dirty="0"/>
          </a:p>
        </p:txBody>
      </p:sp>
      <p:pic>
        <p:nvPicPr>
          <p:cNvPr id="21" name="Image 0" descr="assets/logo_black.png">    </p:cNvPr>
          <p:cNvPicPr>
            <a:picLocks noChangeAspect="1"/>
          </p:cNvPicPr>
          <p:nvPr/>
        </p:nvPicPr>
        <p:blipFill>
          <a:blip r:embed="rId1">
            <a:alphaModFix amt="22000"/>
          </a:blip>
          <a:stretch>
            <a:fillRect/>
          </a:stretch>
        </p:blipFill>
        <p:spPr>
          <a:xfrm>
            <a:off x="10847527" y="384048"/>
            <a:ext cx="658368" cy="20939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414"/>
        </a:solidFill>
      </p:bgPr>
    </p:bg>
    <p:spTree>
      <p:nvGrpSpPr>
        <p:cNvPr id="1" name=""/>
        <p:cNvGrpSpPr/>
        <p:nvPr/>
      </p:nvGrpSpPr>
      <p:grpSpPr>
        <a:xfrm>
          <a:off x="0" y="0"/>
          <a:ext cx="0" cy="0"/>
          <a:chOff x="0" y="0"/>
          <a:chExt cx="0" cy="0"/>
        </a:xfrm>
      </p:grpSpPr>
      <p:sp>
        <p:nvSpPr>
          <p:cNvPr id="2" name="Shape 0"/>
          <p:cNvSpPr/>
          <p:nvPr/>
        </p:nvSpPr>
        <p:spPr>
          <a:xfrm>
            <a:off x="8366760" y="1051560"/>
            <a:ext cx="3383280" cy="3383280"/>
          </a:xfrm>
          <a:prstGeom prst="ellipse">
            <a:avLst/>
          </a:prstGeom>
          <a:ln w="19050">
            <a:solidFill>
              <a:srgbClr val="0B272A"/>
            </a:solidFill>
            <a:prstDash val="solid"/>
          </a:ln>
        </p:spPr>
      </p:sp>
      <p:sp>
        <p:nvSpPr>
          <p:cNvPr id="3" name="Text 1"/>
          <p:cNvSpPr/>
          <p:nvPr/>
        </p:nvSpPr>
        <p:spPr>
          <a:xfrm>
            <a:off x="8366760" y="1051560"/>
            <a:ext cx="3383280" cy="3383280"/>
          </a:xfrm>
          <a:prstGeom prst="rect">
            <a:avLst/>
          </a:prstGeom>
          <a:noFill/>
          <a:ln/>
        </p:spPr>
        <p:txBody>
          <a:bodyPr wrap="square" lIns="0" tIns="0" rIns="0" bIns="0" rtlCol="0" anchor="ctr"/>
          <a:lstStyle/>
          <a:p>
            <a:pPr algn="ctr" indent="0" marL="0">
              <a:buNone/>
            </a:pPr>
            <a:r>
              <a:rPr lang="en-US" sz="12800" b="1" dirty="0">
                <a:solidFill>
                  <a:srgbClr val="0B272A"/>
                </a:solidFill>
                <a:latin typeface="Cambria" pitchFamily="34" charset="0"/>
                <a:ea typeface="Cambria" pitchFamily="34" charset="-122"/>
                <a:cs typeface="Cambria" pitchFamily="34" charset="-120"/>
              </a:rPr>
              <a:t>02</a:t>
            </a:r>
            <a:endParaRPr lang="en-US" sz="12800" dirty="0"/>
          </a:p>
        </p:txBody>
      </p:sp>
      <p:sp>
        <p:nvSpPr>
          <p:cNvPr id="4" name="Text 2"/>
          <p:cNvSpPr/>
          <p:nvPr/>
        </p:nvSpPr>
        <p:spPr>
          <a:xfrm>
            <a:off x="685800" y="1417320"/>
            <a:ext cx="6400800" cy="274320"/>
          </a:xfrm>
          <a:prstGeom prst="rect">
            <a:avLst/>
          </a:prstGeom>
          <a:noFill/>
          <a:ln/>
        </p:spPr>
        <p:txBody>
          <a:bodyPr wrap="square" lIns="0" tIns="0" rIns="0" bIns="0" rtlCol="0" anchor="ctr"/>
          <a:lstStyle/>
          <a:p>
            <a:pPr indent="0" marL="0">
              <a:buNone/>
            </a:pPr>
            <a:r>
              <a:rPr lang="en-US" sz="1100" b="1" spc="320" kern="0" dirty="0">
                <a:solidFill>
                  <a:srgbClr val="5FA8A0"/>
                </a:solidFill>
                <a:latin typeface="Calibri" pitchFamily="34" charset="0"/>
                <a:ea typeface="Calibri" pitchFamily="34" charset="-122"/>
                <a:cs typeface="Calibri" pitchFamily="34" charset="-120"/>
              </a:rPr>
              <a:t>PART TWO OF THREE</a:t>
            </a:r>
            <a:endParaRPr lang="en-US" sz="1100" dirty="0"/>
          </a:p>
        </p:txBody>
      </p:sp>
      <p:sp>
        <p:nvSpPr>
          <p:cNvPr id="5" name="Text 3"/>
          <p:cNvSpPr/>
          <p:nvPr/>
        </p:nvSpPr>
        <p:spPr>
          <a:xfrm>
            <a:off x="685800" y="1847088"/>
            <a:ext cx="713232" cy="713232"/>
          </a:xfrm>
          <a:prstGeom prst="ellipse">
            <a:avLst/>
          </a:prstGeom>
          <a:solidFill>
            <a:srgbClr val="0F5257"/>
          </a:solidFill>
          <a:ln/>
        </p:spPr>
        <p:txBody>
          <a:bodyPr wrap="square" lIns="0" tIns="0" rIns="0" bIns="0" rtlCol="0" anchor="ctr"/>
          <a:lstStyle/>
          <a:p>
            <a:pPr algn="ctr" indent="0" marL="0">
              <a:buNone/>
            </a:pPr>
            <a:r>
              <a:rPr lang="en-US" sz="1700" b="1" dirty="0">
                <a:solidFill>
                  <a:srgbClr val="F0EBE0"/>
                </a:solidFill>
                <a:latin typeface="Calibri" pitchFamily="34" charset="0"/>
                <a:ea typeface="Calibri" pitchFamily="34" charset="-122"/>
                <a:cs typeface="Calibri" pitchFamily="34" charset="-120"/>
              </a:rPr>
              <a:t>02</a:t>
            </a:r>
            <a:endParaRPr lang="en-US" sz="1700" dirty="0"/>
          </a:p>
        </p:txBody>
      </p:sp>
      <p:sp>
        <p:nvSpPr>
          <p:cNvPr id="6" name="Text 4"/>
          <p:cNvSpPr/>
          <p:nvPr/>
        </p:nvSpPr>
        <p:spPr>
          <a:xfrm>
            <a:off x="1618488" y="1847088"/>
            <a:ext cx="6675120" cy="713232"/>
          </a:xfrm>
          <a:prstGeom prst="rect">
            <a:avLst/>
          </a:prstGeom>
          <a:noFill/>
          <a:ln/>
        </p:spPr>
        <p:txBody>
          <a:bodyPr wrap="square" lIns="0" tIns="0" rIns="0" bIns="0" rtlCol="0" anchor="ctr"/>
          <a:lstStyle/>
          <a:p>
            <a:pPr indent="0" marL="0">
              <a:buNone/>
            </a:pPr>
            <a:r>
              <a:rPr lang="en-US" sz="3400" b="1" dirty="0">
                <a:solidFill>
                  <a:srgbClr val="F0EBE0"/>
                </a:solidFill>
                <a:latin typeface="Cambria" pitchFamily="34" charset="0"/>
                <a:ea typeface="Cambria" pitchFamily="34" charset="-122"/>
                <a:cs typeface="Cambria" pitchFamily="34" charset="-120"/>
              </a:rPr>
              <a:t>Relationship &amp; Operations</a:t>
            </a:r>
            <a:endParaRPr lang="en-US" sz="3400" dirty="0"/>
          </a:p>
        </p:txBody>
      </p:sp>
      <p:sp>
        <p:nvSpPr>
          <p:cNvPr id="7" name="Text 5"/>
          <p:cNvSpPr/>
          <p:nvPr/>
        </p:nvSpPr>
        <p:spPr>
          <a:xfrm>
            <a:off x="685800" y="2761488"/>
            <a:ext cx="7680960" cy="365760"/>
          </a:xfrm>
          <a:prstGeom prst="rect">
            <a:avLst/>
          </a:prstGeom>
          <a:noFill/>
          <a:ln/>
        </p:spPr>
        <p:txBody>
          <a:bodyPr wrap="square" lIns="0" tIns="0" rIns="0" bIns="0" rtlCol="0" anchor="ctr"/>
          <a:lstStyle/>
          <a:p>
            <a:pPr indent="0" marL="0">
              <a:buNone/>
            </a:pPr>
            <a:r>
              <a:rPr lang="en-US" sz="1900" i="1" dirty="0">
                <a:solidFill>
                  <a:srgbClr val="5FA8A0"/>
                </a:solidFill>
                <a:latin typeface="Cambria" pitchFamily="34" charset="0"/>
                <a:ea typeface="Cambria" pitchFamily="34" charset="-122"/>
                <a:cs typeface="Cambria" pitchFamily="34" charset="-120"/>
              </a:rPr>
              <a:t>Reporting cadence, communication, and lead handling</a:t>
            </a:r>
            <a:endParaRPr lang="en-US" sz="1900" dirty="0"/>
          </a:p>
        </p:txBody>
      </p:sp>
      <p:sp>
        <p:nvSpPr>
          <p:cNvPr id="8" name="Text 6"/>
          <p:cNvSpPr/>
          <p:nvPr/>
        </p:nvSpPr>
        <p:spPr>
          <a:xfrm>
            <a:off x="685800" y="3273552"/>
            <a:ext cx="7132320" cy="603504"/>
          </a:xfrm>
          <a:prstGeom prst="rect">
            <a:avLst/>
          </a:prstGeom>
          <a:noFill/>
          <a:ln/>
        </p:spPr>
        <p:txBody>
          <a:bodyPr wrap="square" lIns="0" tIns="0" rIns="0" bIns="0" rtlCol="0" anchor="t"/>
          <a:lstStyle/>
          <a:p>
            <a:pPr indent="0" marL="0">
              <a:lnSpc>
                <a:spcPct val="120000"/>
              </a:lnSpc>
              <a:buNone/>
            </a:pPr>
            <a:r>
              <a:rPr lang="en-US" sz="1350" dirty="0">
                <a:solidFill>
                  <a:srgbClr val="A8A093"/>
                </a:solidFill>
                <a:latin typeface="Calibri" pitchFamily="34" charset="0"/>
                <a:ea typeface="Calibri" pitchFamily="34" charset="-122"/>
                <a:cs typeface="Calibri" pitchFamily="34" charset="-120"/>
              </a:rPr>
              <a:t>How the two teams actually work together week to week — who talks to whom, how fast leads move, and what happens after a lead lands.</a:t>
            </a:r>
            <a:endParaRPr lang="en-US" sz="1350" dirty="0"/>
          </a:p>
        </p:txBody>
      </p:sp>
      <p:sp>
        <p:nvSpPr>
          <p:cNvPr id="9" name="Shape 7"/>
          <p:cNvSpPr/>
          <p:nvPr/>
        </p:nvSpPr>
        <p:spPr>
          <a:xfrm>
            <a:off x="685800" y="4617720"/>
            <a:ext cx="3454298" cy="868680"/>
          </a:xfrm>
          <a:prstGeom prst="roundRect">
            <a:avLst>
              <a:gd name="adj" fmla="val 9474"/>
            </a:avLst>
          </a:prstGeom>
          <a:solidFill>
            <a:srgbClr val="201E1A"/>
          </a:solidFill>
          <a:ln w="9525">
            <a:solidFill>
              <a:srgbClr val="35302A"/>
            </a:solidFill>
            <a:prstDash val="solid"/>
          </a:ln>
        </p:spPr>
      </p:sp>
      <p:sp>
        <p:nvSpPr>
          <p:cNvPr id="10" name="Text 8"/>
          <p:cNvSpPr/>
          <p:nvPr/>
        </p:nvSpPr>
        <p:spPr>
          <a:xfrm>
            <a:off x="905256" y="4754880"/>
            <a:ext cx="914400" cy="201168"/>
          </a:xfrm>
          <a:prstGeom prst="rect">
            <a:avLst/>
          </a:prstGeom>
          <a:noFill/>
          <a:ln/>
        </p:spPr>
        <p:txBody>
          <a:bodyPr wrap="square" lIns="0" tIns="0" rIns="0" bIns="0" rtlCol="0" anchor="ctr"/>
          <a:lstStyle/>
          <a:p>
            <a:pPr indent="0" marL="0">
              <a:buNone/>
            </a:pPr>
            <a:r>
              <a:rPr lang="en-US" sz="900" b="1" spc="160" kern="0" dirty="0">
                <a:solidFill>
                  <a:srgbClr val="5FA8A0"/>
                </a:solidFill>
                <a:latin typeface="Calibri" pitchFamily="34" charset="0"/>
                <a:ea typeface="Calibri" pitchFamily="34" charset="-122"/>
                <a:cs typeface="Calibri" pitchFamily="34" charset="-120"/>
              </a:rPr>
              <a:t>01</a:t>
            </a:r>
            <a:endParaRPr lang="en-US" sz="900" dirty="0"/>
          </a:p>
        </p:txBody>
      </p:sp>
      <p:sp>
        <p:nvSpPr>
          <p:cNvPr id="11" name="Text 9"/>
          <p:cNvSpPr/>
          <p:nvPr/>
        </p:nvSpPr>
        <p:spPr>
          <a:xfrm>
            <a:off x="905256" y="4974336"/>
            <a:ext cx="3015386" cy="402336"/>
          </a:xfrm>
          <a:prstGeom prst="rect">
            <a:avLst/>
          </a:prstGeom>
          <a:noFill/>
          <a:ln/>
        </p:spPr>
        <p:txBody>
          <a:bodyPr wrap="square" lIns="0" tIns="0" rIns="0" bIns="0" rtlCol="0" anchor="ctr"/>
          <a:lstStyle/>
          <a:p>
            <a:pPr indent="0" marL="0">
              <a:buNone/>
            </a:pPr>
            <a:r>
              <a:rPr lang="en-US" sz="1250" b="1" dirty="0">
                <a:solidFill>
                  <a:srgbClr val="F0EBE0"/>
                </a:solidFill>
                <a:latin typeface="Calibri" pitchFamily="34" charset="0"/>
                <a:ea typeface="Calibri" pitchFamily="34" charset="-122"/>
                <a:cs typeface="Calibri" pitchFamily="34" charset="-120"/>
              </a:rPr>
              <a:t>Reporting &amp; Communication</a:t>
            </a:r>
            <a:endParaRPr lang="en-US" sz="1250" dirty="0"/>
          </a:p>
        </p:txBody>
      </p:sp>
      <p:sp>
        <p:nvSpPr>
          <p:cNvPr id="12" name="Shape 10"/>
          <p:cNvSpPr/>
          <p:nvPr/>
        </p:nvSpPr>
        <p:spPr>
          <a:xfrm>
            <a:off x="4368698" y="4617720"/>
            <a:ext cx="3454298" cy="868680"/>
          </a:xfrm>
          <a:prstGeom prst="roundRect">
            <a:avLst>
              <a:gd name="adj" fmla="val 9474"/>
            </a:avLst>
          </a:prstGeom>
          <a:solidFill>
            <a:srgbClr val="201E1A"/>
          </a:solidFill>
          <a:ln w="9525">
            <a:solidFill>
              <a:srgbClr val="35302A"/>
            </a:solidFill>
            <a:prstDash val="solid"/>
          </a:ln>
        </p:spPr>
      </p:sp>
      <p:sp>
        <p:nvSpPr>
          <p:cNvPr id="13" name="Text 11"/>
          <p:cNvSpPr/>
          <p:nvPr/>
        </p:nvSpPr>
        <p:spPr>
          <a:xfrm>
            <a:off x="4588154" y="4754880"/>
            <a:ext cx="914400" cy="201168"/>
          </a:xfrm>
          <a:prstGeom prst="rect">
            <a:avLst/>
          </a:prstGeom>
          <a:noFill/>
          <a:ln/>
        </p:spPr>
        <p:txBody>
          <a:bodyPr wrap="square" lIns="0" tIns="0" rIns="0" bIns="0" rtlCol="0" anchor="ctr"/>
          <a:lstStyle/>
          <a:p>
            <a:pPr indent="0" marL="0">
              <a:buNone/>
            </a:pPr>
            <a:r>
              <a:rPr lang="en-US" sz="900" b="1" spc="160" kern="0" dirty="0">
                <a:solidFill>
                  <a:srgbClr val="5FA8A0"/>
                </a:solidFill>
                <a:latin typeface="Calibri" pitchFamily="34" charset="0"/>
                <a:ea typeface="Calibri" pitchFamily="34" charset="-122"/>
                <a:cs typeface="Calibri" pitchFamily="34" charset="-120"/>
              </a:rPr>
              <a:t>02</a:t>
            </a:r>
            <a:endParaRPr lang="en-US" sz="900" dirty="0"/>
          </a:p>
        </p:txBody>
      </p:sp>
      <p:sp>
        <p:nvSpPr>
          <p:cNvPr id="14" name="Text 12"/>
          <p:cNvSpPr/>
          <p:nvPr/>
        </p:nvSpPr>
        <p:spPr>
          <a:xfrm>
            <a:off x="4588154" y="4974336"/>
            <a:ext cx="3015386" cy="402336"/>
          </a:xfrm>
          <a:prstGeom prst="rect">
            <a:avLst/>
          </a:prstGeom>
          <a:noFill/>
          <a:ln/>
        </p:spPr>
        <p:txBody>
          <a:bodyPr wrap="square" lIns="0" tIns="0" rIns="0" bIns="0" rtlCol="0" anchor="ctr"/>
          <a:lstStyle/>
          <a:p>
            <a:pPr indent="0" marL="0">
              <a:buNone/>
            </a:pPr>
            <a:r>
              <a:rPr lang="en-US" sz="1250" b="1" dirty="0">
                <a:solidFill>
                  <a:srgbClr val="F0EBE0"/>
                </a:solidFill>
                <a:latin typeface="Calibri" pitchFamily="34" charset="0"/>
                <a:ea typeface="Calibri" pitchFamily="34" charset="-122"/>
                <a:cs typeface="Calibri" pitchFamily="34" charset="-120"/>
              </a:rPr>
              <a:t>Lead Handling</a:t>
            </a:r>
            <a:endParaRPr lang="en-US" sz="1250" dirty="0"/>
          </a:p>
        </p:txBody>
      </p:sp>
      <p:sp>
        <p:nvSpPr>
          <p:cNvPr id="15" name="Shape 13"/>
          <p:cNvSpPr/>
          <p:nvPr/>
        </p:nvSpPr>
        <p:spPr>
          <a:xfrm>
            <a:off x="8051597" y="4617720"/>
            <a:ext cx="3454298" cy="868680"/>
          </a:xfrm>
          <a:prstGeom prst="roundRect">
            <a:avLst>
              <a:gd name="adj" fmla="val 9474"/>
            </a:avLst>
          </a:prstGeom>
          <a:solidFill>
            <a:srgbClr val="201E1A"/>
          </a:solidFill>
          <a:ln w="9525">
            <a:solidFill>
              <a:srgbClr val="35302A"/>
            </a:solidFill>
            <a:prstDash val="solid"/>
          </a:ln>
        </p:spPr>
      </p:sp>
      <p:sp>
        <p:nvSpPr>
          <p:cNvPr id="16" name="Text 14"/>
          <p:cNvSpPr/>
          <p:nvPr/>
        </p:nvSpPr>
        <p:spPr>
          <a:xfrm>
            <a:off x="8271053" y="4754880"/>
            <a:ext cx="914400" cy="201168"/>
          </a:xfrm>
          <a:prstGeom prst="rect">
            <a:avLst/>
          </a:prstGeom>
          <a:noFill/>
          <a:ln/>
        </p:spPr>
        <p:txBody>
          <a:bodyPr wrap="square" lIns="0" tIns="0" rIns="0" bIns="0" rtlCol="0" anchor="ctr"/>
          <a:lstStyle/>
          <a:p>
            <a:pPr indent="0" marL="0">
              <a:buNone/>
            </a:pPr>
            <a:r>
              <a:rPr lang="en-US" sz="900" b="1" spc="160" kern="0" dirty="0">
                <a:solidFill>
                  <a:srgbClr val="5FA8A0"/>
                </a:solidFill>
                <a:latin typeface="Calibri" pitchFamily="34" charset="0"/>
                <a:ea typeface="Calibri" pitchFamily="34" charset="-122"/>
                <a:cs typeface="Calibri" pitchFamily="34" charset="-120"/>
              </a:rPr>
              <a:t>03</a:t>
            </a:r>
            <a:endParaRPr lang="en-US" sz="900" dirty="0"/>
          </a:p>
        </p:txBody>
      </p:sp>
      <p:sp>
        <p:nvSpPr>
          <p:cNvPr id="17" name="Text 15"/>
          <p:cNvSpPr/>
          <p:nvPr/>
        </p:nvSpPr>
        <p:spPr>
          <a:xfrm>
            <a:off x="8271053" y="4974336"/>
            <a:ext cx="3015386" cy="402336"/>
          </a:xfrm>
          <a:prstGeom prst="rect">
            <a:avLst/>
          </a:prstGeom>
          <a:noFill/>
          <a:ln/>
        </p:spPr>
        <p:txBody>
          <a:bodyPr wrap="square" lIns="0" tIns="0" rIns="0" bIns="0" rtlCol="0" anchor="ctr"/>
          <a:lstStyle/>
          <a:p>
            <a:pPr indent="0" marL="0">
              <a:buNone/>
            </a:pPr>
            <a:r>
              <a:rPr lang="en-US" sz="1250" b="1" dirty="0">
                <a:solidFill>
                  <a:srgbClr val="F0EBE0"/>
                </a:solidFill>
                <a:latin typeface="Calibri" pitchFamily="34" charset="0"/>
                <a:ea typeface="Calibri" pitchFamily="34" charset="-122"/>
                <a:cs typeface="Calibri" pitchFamily="34" charset="-120"/>
              </a:rPr>
              <a:t>Relationship Building</a:t>
            </a:r>
            <a:endParaRPr lang="en-US" sz="1250" dirty="0"/>
          </a:p>
        </p:txBody>
      </p:sp>
      <p:sp>
        <p:nvSpPr>
          <p:cNvPr id="18" name="Text 16"/>
          <p:cNvSpPr/>
          <p:nvPr/>
        </p:nvSpPr>
        <p:spPr>
          <a:xfrm>
            <a:off x="685800" y="6327648"/>
            <a:ext cx="5486400" cy="274320"/>
          </a:xfrm>
          <a:prstGeom prst="rect">
            <a:avLst/>
          </a:prstGeom>
          <a:noFill/>
          <a:ln/>
        </p:spPr>
        <p:txBody>
          <a:bodyPr wrap="square" lIns="0" tIns="0" rIns="0" bIns="0" rtlCol="0" anchor="ctr"/>
          <a:lstStyle/>
          <a:p>
            <a:pPr indent="0" marL="0">
              <a:buNone/>
            </a:pPr>
            <a:r>
              <a:rPr lang="en-US" sz="850" spc="160" kern="0" dirty="0">
                <a:solidFill>
                  <a:srgbClr val="5C554A"/>
                </a:solidFill>
                <a:latin typeface="Calibri" pitchFamily="34" charset="0"/>
                <a:ea typeface="Calibri" pitchFamily="34" charset="-122"/>
                <a:cs typeface="Calibri" pitchFamily="34" charset="-120"/>
              </a:rPr>
              <a:t>STAY BOOKED MARKETING  ·  CLIENT KICKOFF</a:t>
            </a:r>
            <a:endParaRPr lang="en-US" sz="850" dirty="0"/>
          </a:p>
        </p:txBody>
      </p:sp>
      <p:sp>
        <p:nvSpPr>
          <p:cNvPr id="19" name="Text 17"/>
          <p:cNvSpPr/>
          <p:nvPr/>
        </p:nvSpPr>
        <p:spPr>
          <a:xfrm>
            <a:off x="10591495" y="6327648"/>
            <a:ext cx="914400" cy="274320"/>
          </a:xfrm>
          <a:prstGeom prst="rect">
            <a:avLst/>
          </a:prstGeom>
          <a:noFill/>
          <a:ln/>
        </p:spPr>
        <p:txBody>
          <a:bodyPr wrap="square" lIns="0" tIns="0" rIns="0" bIns="0" rtlCol="0" anchor="ctr"/>
          <a:lstStyle/>
          <a:p>
            <a:pPr algn="r" indent="0" marL="0">
              <a:buNone/>
            </a:pPr>
            <a:r>
              <a:rPr lang="en-US" sz="850" spc="160" kern="0" dirty="0">
                <a:solidFill>
                  <a:srgbClr val="5C554A"/>
                </a:solidFill>
                <a:latin typeface="Calibri" pitchFamily="34" charset="0"/>
                <a:ea typeface="Calibri" pitchFamily="34" charset="-122"/>
                <a:cs typeface="Calibri" pitchFamily="34" charset="-120"/>
              </a:rPr>
              <a:t>12</a:t>
            </a:r>
            <a:endParaRPr lang="en-US" sz="850" dirty="0"/>
          </a:p>
        </p:txBody>
      </p:sp>
      <p:pic>
        <p:nvPicPr>
          <p:cNvPr id="20" name="Image 0" descr="assets/logo_cream.png">    </p:cNvPr>
          <p:cNvPicPr>
            <a:picLocks noChangeAspect="1"/>
          </p:cNvPicPr>
          <p:nvPr/>
        </p:nvPicPr>
        <p:blipFill>
          <a:blip r:embed="rId1">
            <a:alphaModFix amt="45000"/>
          </a:blip>
          <a:stretch>
            <a:fillRect/>
          </a:stretch>
        </p:blipFill>
        <p:spPr>
          <a:xfrm>
            <a:off x="10847527" y="384048"/>
            <a:ext cx="658368" cy="20939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EBE0"/>
        </a:solidFill>
      </p:bgPr>
    </p:bg>
    <p:spTree>
      <p:nvGrpSpPr>
        <p:cNvPr id="1" name=""/>
        <p:cNvGrpSpPr/>
        <p:nvPr/>
      </p:nvGrpSpPr>
      <p:grpSpPr>
        <a:xfrm>
          <a:off x="0" y="0"/>
          <a:ext cx="0" cy="0"/>
          <a:chOff x="0" y="0"/>
          <a:chExt cx="0" cy="0"/>
        </a:xfrm>
      </p:grpSpPr>
      <p:sp>
        <p:nvSpPr>
          <p:cNvPr id="2" name="Text 0"/>
          <p:cNvSpPr/>
          <p:nvPr/>
        </p:nvSpPr>
        <p:spPr>
          <a:xfrm>
            <a:off x="685800" y="566928"/>
            <a:ext cx="7772400" cy="256032"/>
          </a:xfrm>
          <a:prstGeom prst="rect">
            <a:avLst/>
          </a:prstGeom>
          <a:noFill/>
          <a:ln/>
        </p:spPr>
        <p:txBody>
          <a:bodyPr wrap="square" lIns="0" tIns="0" rIns="0" bIns="0" rtlCol="0" anchor="ctr"/>
          <a:lstStyle/>
          <a:p>
            <a:pPr indent="0" marL="0">
              <a:buNone/>
            </a:pPr>
            <a:r>
              <a:rPr lang="en-US" sz="1050" b="1" spc="260" kern="0" dirty="0">
                <a:solidFill>
                  <a:srgbClr val="0F5257"/>
                </a:solidFill>
                <a:latin typeface="Calibri" pitchFamily="34" charset="0"/>
                <a:ea typeface="Calibri" pitchFamily="34" charset="-122"/>
                <a:cs typeface="Calibri" pitchFamily="34" charset="-120"/>
              </a:rPr>
              <a:t>REPORTING &amp; COMMUNICATION</a:t>
            </a:r>
            <a:endParaRPr lang="en-US" sz="1050" dirty="0"/>
          </a:p>
        </p:txBody>
      </p:sp>
      <p:sp>
        <p:nvSpPr>
          <p:cNvPr id="3" name="Text 1"/>
          <p:cNvSpPr/>
          <p:nvPr/>
        </p:nvSpPr>
        <p:spPr>
          <a:xfrm>
            <a:off x="685800" y="868680"/>
            <a:ext cx="10058400" cy="658368"/>
          </a:xfrm>
          <a:prstGeom prst="rect">
            <a:avLst/>
          </a:prstGeom>
          <a:noFill/>
          <a:ln/>
        </p:spPr>
        <p:txBody>
          <a:bodyPr wrap="square" lIns="0" tIns="0" rIns="0" bIns="0" rtlCol="0" anchor="ctr"/>
          <a:lstStyle/>
          <a:p>
            <a:pPr indent="0" marL="0">
              <a:buNone/>
            </a:pPr>
            <a:r>
              <a:rPr lang="en-US" sz="3400" b="1" dirty="0">
                <a:solidFill>
                  <a:srgbClr val="141414"/>
                </a:solidFill>
                <a:latin typeface="Cambria" pitchFamily="34" charset="0"/>
                <a:ea typeface="Cambria" pitchFamily="34" charset="-122"/>
                <a:cs typeface="Cambria" pitchFamily="34" charset="-120"/>
              </a:rPr>
              <a:t>How we stay in sync</a:t>
            </a:r>
            <a:endParaRPr lang="en-US" sz="3400" dirty="0"/>
          </a:p>
        </p:txBody>
      </p:sp>
      <p:sp>
        <p:nvSpPr>
          <p:cNvPr id="4" name="Shape 2"/>
          <p:cNvSpPr/>
          <p:nvPr/>
        </p:nvSpPr>
        <p:spPr>
          <a:xfrm>
            <a:off x="685800" y="1737360"/>
            <a:ext cx="5852160" cy="4114800"/>
          </a:xfrm>
          <a:prstGeom prst="roundRect">
            <a:avLst>
              <a:gd name="adj" fmla="val 2000"/>
            </a:avLst>
          </a:prstGeom>
          <a:solidFill>
            <a:srgbClr val="141414"/>
          </a:solidFill>
          <a:ln/>
        </p:spPr>
      </p:sp>
      <p:sp>
        <p:nvSpPr>
          <p:cNvPr id="5" name="Text 3"/>
          <p:cNvSpPr/>
          <p:nvPr/>
        </p:nvSpPr>
        <p:spPr>
          <a:xfrm>
            <a:off x="1069848" y="2029968"/>
            <a:ext cx="512064" cy="512064"/>
          </a:xfrm>
          <a:prstGeom prst="ellipse">
            <a:avLst/>
          </a:prstGeom>
          <a:solidFill>
            <a:srgbClr val="0F5257"/>
          </a:solidFill>
          <a:ln/>
        </p:spPr>
        <p:txBody>
          <a:bodyPr wrap="square" lIns="0" tIns="0" rIns="0" bIns="0" rtlCol="0" anchor="ctr"/>
          <a:lstStyle/>
          <a:p>
            <a:pPr algn="ctr" indent="0" marL="0">
              <a:buNone/>
            </a:pPr>
            <a:r>
              <a:rPr lang="en-US" sz="1250" b="1" dirty="0">
                <a:solidFill>
                  <a:srgbClr val="F0EBE0"/>
                </a:solidFill>
                <a:latin typeface="Calibri" pitchFamily="34" charset="0"/>
                <a:ea typeface="Calibri" pitchFamily="34" charset="-122"/>
                <a:cs typeface="Calibri" pitchFamily="34" charset="-120"/>
              </a:rPr>
              <a:t>01</a:t>
            </a:r>
            <a:endParaRPr lang="en-US" sz="1250" dirty="0"/>
          </a:p>
        </p:txBody>
      </p:sp>
      <p:sp>
        <p:nvSpPr>
          <p:cNvPr id="6" name="Text 4"/>
          <p:cNvSpPr/>
          <p:nvPr/>
        </p:nvSpPr>
        <p:spPr>
          <a:xfrm>
            <a:off x="1728216" y="2029968"/>
            <a:ext cx="4480560" cy="512064"/>
          </a:xfrm>
          <a:prstGeom prst="rect">
            <a:avLst/>
          </a:prstGeom>
          <a:noFill/>
          <a:ln/>
        </p:spPr>
        <p:txBody>
          <a:bodyPr wrap="square" lIns="0" tIns="0" rIns="0" bIns="0" rtlCol="0" anchor="ctr"/>
          <a:lstStyle/>
          <a:p>
            <a:pPr indent="0" marL="0">
              <a:buNone/>
            </a:pPr>
            <a:r>
              <a:rPr lang="en-US" sz="2600" b="1" dirty="0">
                <a:solidFill>
                  <a:srgbClr val="F0EBE0"/>
                </a:solidFill>
                <a:latin typeface="Cambria" pitchFamily="34" charset="0"/>
                <a:ea typeface="Cambria" pitchFamily="34" charset="-122"/>
                <a:cs typeface="Cambria" pitchFamily="34" charset="-120"/>
              </a:rPr>
              <a:t>A weekly meeting</a:t>
            </a:r>
            <a:endParaRPr lang="en-US" sz="2600" dirty="0"/>
          </a:p>
        </p:txBody>
      </p:sp>
      <p:sp>
        <p:nvSpPr>
          <p:cNvPr id="7" name="Text 5"/>
          <p:cNvSpPr/>
          <p:nvPr/>
        </p:nvSpPr>
        <p:spPr>
          <a:xfrm>
            <a:off x="1069848" y="2688336"/>
            <a:ext cx="5084064" cy="566928"/>
          </a:xfrm>
          <a:prstGeom prst="rect">
            <a:avLst/>
          </a:prstGeom>
          <a:noFill/>
          <a:ln/>
        </p:spPr>
        <p:txBody>
          <a:bodyPr wrap="square" lIns="0" tIns="0" rIns="0" bIns="0" rtlCol="0" anchor="t"/>
          <a:lstStyle/>
          <a:p>
            <a:pPr indent="0" marL="0">
              <a:lnSpc>
                <a:spcPct val="118000"/>
              </a:lnSpc>
              <a:buNone/>
            </a:pPr>
            <a:r>
              <a:rPr lang="en-US" sz="1300" dirty="0">
                <a:solidFill>
                  <a:srgbClr val="A8A093"/>
                </a:solidFill>
                <a:latin typeface="Calibri" pitchFamily="34" charset="0"/>
                <a:ea typeface="Calibri" pitchFamily="34" charset="-122"/>
                <a:cs typeface="Calibri" pitchFamily="34" charset="-120"/>
              </a:rPr>
              <a:t>Stay Booked presents live analytics — screen shared, real numbers, not a recap of last month's news.</a:t>
            </a:r>
            <a:endParaRPr lang="en-US" sz="1300" dirty="0"/>
          </a:p>
        </p:txBody>
      </p:sp>
      <p:sp>
        <p:nvSpPr>
          <p:cNvPr id="8" name="Shape 6"/>
          <p:cNvSpPr/>
          <p:nvPr/>
        </p:nvSpPr>
        <p:spPr>
          <a:xfrm>
            <a:off x="1069848" y="3465576"/>
            <a:ext cx="256032" cy="256032"/>
          </a:xfrm>
          <a:prstGeom prst="ellipse">
            <a:avLst/>
          </a:prstGeom>
          <a:solidFill>
            <a:srgbClr val="00A093"/>
          </a:solidFill>
          <a:ln/>
        </p:spPr>
      </p:sp>
      <p:sp>
        <p:nvSpPr>
          <p:cNvPr id="9" name="Text 7"/>
          <p:cNvSpPr/>
          <p:nvPr/>
        </p:nvSpPr>
        <p:spPr>
          <a:xfrm>
            <a:off x="1490472" y="3383280"/>
            <a:ext cx="4663440" cy="292608"/>
          </a:xfrm>
          <a:prstGeom prst="rect">
            <a:avLst/>
          </a:prstGeom>
          <a:noFill/>
          <a:ln/>
        </p:spPr>
        <p:txBody>
          <a:bodyPr wrap="square" lIns="0" tIns="0" rIns="0" bIns="0" rtlCol="0" anchor="ctr"/>
          <a:lstStyle/>
          <a:p>
            <a:pPr indent="0" marL="0">
              <a:buNone/>
            </a:pPr>
            <a:r>
              <a:rPr lang="en-US" sz="1400" b="1" dirty="0">
                <a:solidFill>
                  <a:srgbClr val="F0EBE0"/>
                </a:solidFill>
                <a:latin typeface="Calibri" pitchFamily="34" charset="0"/>
                <a:ea typeface="Calibri" pitchFamily="34" charset="-122"/>
                <a:cs typeface="Calibri" pitchFamily="34" charset="-120"/>
              </a:rPr>
              <a:t>What's working</a:t>
            </a:r>
            <a:endParaRPr lang="en-US" sz="1400" dirty="0"/>
          </a:p>
        </p:txBody>
      </p:sp>
      <p:sp>
        <p:nvSpPr>
          <p:cNvPr id="10" name="Text 8"/>
          <p:cNvSpPr/>
          <p:nvPr/>
        </p:nvSpPr>
        <p:spPr>
          <a:xfrm>
            <a:off x="1490472" y="3675888"/>
            <a:ext cx="4663440" cy="402336"/>
          </a:xfrm>
          <a:prstGeom prst="rect">
            <a:avLst/>
          </a:prstGeom>
          <a:noFill/>
          <a:ln/>
        </p:spPr>
        <p:txBody>
          <a:bodyPr wrap="square" lIns="0" tIns="0" rIns="0" bIns="0" rtlCol="0" anchor="t"/>
          <a:lstStyle/>
          <a:p>
            <a:pPr indent="0" marL="0">
              <a:lnSpc>
                <a:spcPct val="114000"/>
              </a:lnSpc>
              <a:buNone/>
            </a:pPr>
            <a:r>
              <a:rPr lang="en-US" sz="1200" dirty="0">
                <a:solidFill>
                  <a:srgbClr val="A8A093"/>
                </a:solidFill>
                <a:latin typeface="Calibri" pitchFamily="34" charset="0"/>
                <a:ea typeface="Calibri" pitchFamily="34" charset="-122"/>
                <a:cs typeface="Calibri" pitchFamily="34" charset="-120"/>
              </a:rPr>
              <a:t>The ads, audiences, and offers producing qualified leads right now.</a:t>
            </a:r>
            <a:endParaRPr lang="en-US" sz="1200" dirty="0"/>
          </a:p>
        </p:txBody>
      </p:sp>
      <p:sp>
        <p:nvSpPr>
          <p:cNvPr id="11" name="Shape 9"/>
          <p:cNvSpPr/>
          <p:nvPr/>
        </p:nvSpPr>
        <p:spPr>
          <a:xfrm>
            <a:off x="1069848" y="4251960"/>
            <a:ext cx="256032" cy="256032"/>
          </a:xfrm>
          <a:prstGeom prst="ellipse">
            <a:avLst/>
          </a:prstGeom>
          <a:solidFill>
            <a:srgbClr val="00A093"/>
          </a:solidFill>
          <a:ln/>
        </p:spPr>
      </p:sp>
      <p:sp>
        <p:nvSpPr>
          <p:cNvPr id="12" name="Text 10"/>
          <p:cNvSpPr/>
          <p:nvPr/>
        </p:nvSpPr>
        <p:spPr>
          <a:xfrm>
            <a:off x="1490472" y="4169664"/>
            <a:ext cx="4663440" cy="292608"/>
          </a:xfrm>
          <a:prstGeom prst="rect">
            <a:avLst/>
          </a:prstGeom>
          <a:noFill/>
          <a:ln/>
        </p:spPr>
        <p:txBody>
          <a:bodyPr wrap="square" lIns="0" tIns="0" rIns="0" bIns="0" rtlCol="0" anchor="ctr"/>
          <a:lstStyle/>
          <a:p>
            <a:pPr indent="0" marL="0">
              <a:buNone/>
            </a:pPr>
            <a:r>
              <a:rPr lang="en-US" sz="1400" b="1" dirty="0">
                <a:solidFill>
                  <a:srgbClr val="F0EBE0"/>
                </a:solidFill>
                <a:latin typeface="Calibri" pitchFamily="34" charset="0"/>
                <a:ea typeface="Calibri" pitchFamily="34" charset="-122"/>
                <a:cs typeface="Calibri" pitchFamily="34" charset="-120"/>
              </a:rPr>
              <a:t>What isn't</a:t>
            </a:r>
            <a:endParaRPr lang="en-US" sz="1400" dirty="0"/>
          </a:p>
        </p:txBody>
      </p:sp>
      <p:sp>
        <p:nvSpPr>
          <p:cNvPr id="13" name="Text 11"/>
          <p:cNvSpPr/>
          <p:nvPr/>
        </p:nvSpPr>
        <p:spPr>
          <a:xfrm>
            <a:off x="1490472" y="4462272"/>
            <a:ext cx="4663440" cy="402336"/>
          </a:xfrm>
          <a:prstGeom prst="rect">
            <a:avLst/>
          </a:prstGeom>
          <a:noFill/>
          <a:ln/>
        </p:spPr>
        <p:txBody>
          <a:bodyPr wrap="square" lIns="0" tIns="0" rIns="0" bIns="0" rtlCol="0" anchor="t"/>
          <a:lstStyle/>
          <a:p>
            <a:pPr indent="0" marL="0">
              <a:lnSpc>
                <a:spcPct val="114000"/>
              </a:lnSpc>
              <a:buNone/>
            </a:pPr>
            <a:r>
              <a:rPr lang="en-US" sz="1200" dirty="0">
                <a:solidFill>
                  <a:srgbClr val="A8A093"/>
                </a:solidFill>
                <a:latin typeface="Calibri" pitchFamily="34" charset="0"/>
                <a:ea typeface="Calibri" pitchFamily="34" charset="-122"/>
                <a:cs typeface="Calibri" pitchFamily="34" charset="-120"/>
              </a:rPr>
              <a:t>Named plainly, with the numbers behind it.</a:t>
            </a:r>
            <a:endParaRPr lang="en-US" sz="1200" dirty="0"/>
          </a:p>
        </p:txBody>
      </p:sp>
      <p:sp>
        <p:nvSpPr>
          <p:cNvPr id="14" name="Shape 12"/>
          <p:cNvSpPr/>
          <p:nvPr/>
        </p:nvSpPr>
        <p:spPr>
          <a:xfrm>
            <a:off x="1069848" y="5038344"/>
            <a:ext cx="256032" cy="256032"/>
          </a:xfrm>
          <a:prstGeom prst="ellipse">
            <a:avLst/>
          </a:prstGeom>
          <a:solidFill>
            <a:srgbClr val="00A093"/>
          </a:solidFill>
          <a:ln/>
        </p:spPr>
      </p:sp>
      <p:sp>
        <p:nvSpPr>
          <p:cNvPr id="15" name="Text 13"/>
          <p:cNvSpPr/>
          <p:nvPr/>
        </p:nvSpPr>
        <p:spPr>
          <a:xfrm>
            <a:off x="1490472" y="4956048"/>
            <a:ext cx="4663440" cy="292608"/>
          </a:xfrm>
          <a:prstGeom prst="rect">
            <a:avLst/>
          </a:prstGeom>
          <a:noFill/>
          <a:ln/>
        </p:spPr>
        <p:txBody>
          <a:bodyPr wrap="square" lIns="0" tIns="0" rIns="0" bIns="0" rtlCol="0" anchor="ctr"/>
          <a:lstStyle/>
          <a:p>
            <a:pPr indent="0" marL="0">
              <a:buNone/>
            </a:pPr>
            <a:r>
              <a:rPr lang="en-US" sz="1400" b="1" dirty="0">
                <a:solidFill>
                  <a:srgbClr val="F0EBE0"/>
                </a:solidFill>
                <a:latin typeface="Calibri" pitchFamily="34" charset="0"/>
                <a:ea typeface="Calibri" pitchFamily="34" charset="-122"/>
                <a:cs typeface="Calibri" pitchFamily="34" charset="-120"/>
              </a:rPr>
              <a:t>What's being adjusted</a:t>
            </a:r>
            <a:endParaRPr lang="en-US" sz="1400" dirty="0"/>
          </a:p>
        </p:txBody>
      </p:sp>
      <p:sp>
        <p:nvSpPr>
          <p:cNvPr id="16" name="Text 14"/>
          <p:cNvSpPr/>
          <p:nvPr/>
        </p:nvSpPr>
        <p:spPr>
          <a:xfrm>
            <a:off x="1490472" y="5248656"/>
            <a:ext cx="4663440" cy="402336"/>
          </a:xfrm>
          <a:prstGeom prst="rect">
            <a:avLst/>
          </a:prstGeom>
          <a:noFill/>
          <a:ln/>
        </p:spPr>
        <p:txBody>
          <a:bodyPr wrap="square" lIns="0" tIns="0" rIns="0" bIns="0" rtlCol="0" anchor="t"/>
          <a:lstStyle/>
          <a:p>
            <a:pPr indent="0" marL="0">
              <a:lnSpc>
                <a:spcPct val="114000"/>
              </a:lnSpc>
              <a:buNone/>
            </a:pPr>
            <a:r>
              <a:rPr lang="en-US" sz="1200" dirty="0">
                <a:solidFill>
                  <a:srgbClr val="A8A093"/>
                </a:solidFill>
                <a:latin typeface="Calibri" pitchFamily="34" charset="0"/>
                <a:ea typeface="Calibri" pitchFamily="34" charset="-122"/>
                <a:cs typeface="Calibri" pitchFamily="34" charset="-120"/>
              </a:rPr>
              <a:t>The specific changes going in this week, and why.</a:t>
            </a:r>
            <a:endParaRPr lang="en-US" sz="1200" dirty="0"/>
          </a:p>
        </p:txBody>
      </p:sp>
      <p:sp>
        <p:nvSpPr>
          <p:cNvPr id="17" name="Shape 15"/>
          <p:cNvSpPr/>
          <p:nvPr/>
        </p:nvSpPr>
        <p:spPr>
          <a:xfrm>
            <a:off x="6894576" y="1737360"/>
            <a:ext cx="4608576" cy="1956816"/>
          </a:xfrm>
          <a:prstGeom prst="roundRect">
            <a:avLst>
              <a:gd name="adj" fmla="val 4206"/>
            </a:avLst>
          </a:prstGeom>
          <a:solidFill>
            <a:srgbClr val="FBFAF6"/>
          </a:solidFill>
          <a:ln w="9525">
            <a:solidFill>
              <a:srgbClr val="C9C2B4"/>
            </a:solidFill>
            <a:prstDash val="solid"/>
          </a:ln>
        </p:spPr>
      </p:sp>
      <p:sp>
        <p:nvSpPr>
          <p:cNvPr id="18" name="Text 16"/>
          <p:cNvSpPr/>
          <p:nvPr/>
        </p:nvSpPr>
        <p:spPr>
          <a:xfrm>
            <a:off x="7205472" y="2011680"/>
            <a:ext cx="457200" cy="457200"/>
          </a:xfrm>
          <a:prstGeom prst="ellipse">
            <a:avLst/>
          </a:prstGeom>
          <a:solidFill>
            <a:srgbClr val="0F5257"/>
          </a:solidFill>
          <a:ln/>
        </p:spPr>
        <p:txBody>
          <a:bodyPr wrap="square" lIns="0" tIns="0" rIns="0" bIns="0" rtlCol="0" anchor="ctr"/>
          <a:lstStyle/>
          <a:p>
            <a:pPr algn="ctr" indent="0" marL="0">
              <a:buNone/>
            </a:pPr>
            <a:r>
              <a:rPr lang="en-US" sz="1200" b="1" dirty="0">
                <a:solidFill>
                  <a:srgbClr val="FBFAF6"/>
                </a:solidFill>
                <a:latin typeface="Calibri" pitchFamily="34" charset="0"/>
                <a:ea typeface="Calibri" pitchFamily="34" charset="-122"/>
                <a:cs typeface="Calibri" pitchFamily="34" charset="-120"/>
              </a:rPr>
              <a:t>02</a:t>
            </a:r>
            <a:endParaRPr lang="en-US" sz="1200" dirty="0"/>
          </a:p>
        </p:txBody>
      </p:sp>
      <p:sp>
        <p:nvSpPr>
          <p:cNvPr id="19" name="Text 17"/>
          <p:cNvSpPr/>
          <p:nvPr/>
        </p:nvSpPr>
        <p:spPr>
          <a:xfrm>
            <a:off x="7790688" y="2011680"/>
            <a:ext cx="3383280" cy="457200"/>
          </a:xfrm>
          <a:prstGeom prst="rect">
            <a:avLst/>
          </a:prstGeom>
          <a:noFill/>
          <a:ln/>
        </p:spPr>
        <p:txBody>
          <a:bodyPr wrap="square" lIns="0" tIns="0" rIns="0" bIns="0" rtlCol="0" anchor="ctr"/>
          <a:lstStyle/>
          <a:p>
            <a:pPr indent="0" marL="0">
              <a:buNone/>
            </a:pPr>
            <a:r>
              <a:rPr lang="en-US" sz="2000" b="1" dirty="0">
                <a:solidFill>
                  <a:srgbClr val="141414"/>
                </a:solidFill>
                <a:latin typeface="Cambria" pitchFamily="34" charset="0"/>
                <a:ea typeface="Cambria" pitchFamily="34" charset="-122"/>
                <a:cs typeface="Cambria" pitchFamily="34" charset="-120"/>
              </a:rPr>
              <a:t>Between meetings</a:t>
            </a:r>
            <a:endParaRPr lang="en-US" sz="2000" dirty="0"/>
          </a:p>
        </p:txBody>
      </p:sp>
      <p:sp>
        <p:nvSpPr>
          <p:cNvPr id="20" name="Text 18"/>
          <p:cNvSpPr/>
          <p:nvPr/>
        </p:nvSpPr>
        <p:spPr>
          <a:xfrm>
            <a:off x="7205472" y="2560320"/>
            <a:ext cx="3986784" cy="548640"/>
          </a:xfrm>
          <a:prstGeom prst="rect">
            <a:avLst/>
          </a:prstGeom>
          <a:noFill/>
          <a:ln/>
        </p:spPr>
        <p:txBody>
          <a:bodyPr wrap="square" lIns="0" tIns="0" rIns="0" bIns="0" rtlCol="0" anchor="t"/>
          <a:lstStyle/>
          <a:p>
            <a:pPr indent="0" marL="0">
              <a:lnSpc>
                <a:spcPct val="118000"/>
              </a:lnSpc>
              <a:buNone/>
            </a:pPr>
            <a:r>
              <a:rPr lang="en-US" sz="1250" dirty="0">
                <a:solidFill>
                  <a:srgbClr val="3A3A3A"/>
                </a:solidFill>
                <a:latin typeface="Calibri" pitchFamily="34" charset="0"/>
                <a:ea typeface="Calibri" pitchFamily="34" charset="-122"/>
                <a:cs typeface="Calibri" pitchFamily="34" charset="-120"/>
              </a:rPr>
              <a:t>Your choice of channel — text is what we recommend, and it gets answered fastest.</a:t>
            </a:r>
            <a:endParaRPr lang="en-US" sz="1250" dirty="0"/>
          </a:p>
        </p:txBody>
      </p:sp>
      <p:sp>
        <p:nvSpPr>
          <p:cNvPr id="21" name="Text 19"/>
          <p:cNvSpPr/>
          <p:nvPr/>
        </p:nvSpPr>
        <p:spPr>
          <a:xfrm>
            <a:off x="7205472" y="3218688"/>
            <a:ext cx="3986784" cy="274320"/>
          </a:xfrm>
          <a:prstGeom prst="rect">
            <a:avLst/>
          </a:prstGeom>
          <a:noFill/>
          <a:ln/>
        </p:spPr>
        <p:txBody>
          <a:bodyPr wrap="square" lIns="0" tIns="0" rIns="0" bIns="0" rtlCol="0" anchor="ctr"/>
          <a:lstStyle/>
          <a:p>
            <a:pPr indent="0" marL="0">
              <a:buNone/>
            </a:pPr>
            <a:r>
              <a:rPr lang="en-US" sz="1200" b="1" dirty="0">
                <a:solidFill>
                  <a:srgbClr val="0F5257"/>
                </a:solidFill>
                <a:latin typeface="Calibri" pitchFamily="34" charset="0"/>
                <a:ea typeface="Calibri" pitchFamily="34" charset="-122"/>
                <a:cs typeface="Calibri" pitchFamily="34" charset="-120"/>
              </a:rPr>
              <a:t>Confirm today:  text, email, or phone?</a:t>
            </a:r>
            <a:endParaRPr lang="en-US" sz="1200" dirty="0"/>
          </a:p>
        </p:txBody>
      </p:sp>
      <p:sp>
        <p:nvSpPr>
          <p:cNvPr id="22" name="Shape 20"/>
          <p:cNvSpPr/>
          <p:nvPr/>
        </p:nvSpPr>
        <p:spPr>
          <a:xfrm>
            <a:off x="6894576" y="3895344"/>
            <a:ext cx="4608576" cy="1956816"/>
          </a:xfrm>
          <a:prstGeom prst="roundRect">
            <a:avLst>
              <a:gd name="adj" fmla="val 4206"/>
            </a:avLst>
          </a:prstGeom>
          <a:solidFill>
            <a:srgbClr val="FBFAF6"/>
          </a:solidFill>
          <a:ln w="9525">
            <a:solidFill>
              <a:srgbClr val="C9C2B4"/>
            </a:solidFill>
            <a:prstDash val="solid"/>
          </a:ln>
        </p:spPr>
      </p:sp>
      <p:sp>
        <p:nvSpPr>
          <p:cNvPr id="23" name="Text 21"/>
          <p:cNvSpPr/>
          <p:nvPr/>
        </p:nvSpPr>
        <p:spPr>
          <a:xfrm>
            <a:off x="7205472" y="4169664"/>
            <a:ext cx="457200" cy="457200"/>
          </a:xfrm>
          <a:prstGeom prst="ellipse">
            <a:avLst/>
          </a:prstGeom>
          <a:solidFill>
            <a:srgbClr val="0F5257"/>
          </a:solidFill>
          <a:ln/>
        </p:spPr>
        <p:txBody>
          <a:bodyPr wrap="square" lIns="0" tIns="0" rIns="0" bIns="0" rtlCol="0" anchor="ctr"/>
          <a:lstStyle/>
          <a:p>
            <a:pPr algn="ctr" indent="0" marL="0">
              <a:buNone/>
            </a:pPr>
            <a:r>
              <a:rPr lang="en-US" sz="1200" b="1" dirty="0">
                <a:solidFill>
                  <a:srgbClr val="FBFAF6"/>
                </a:solidFill>
                <a:latin typeface="Calibri" pitchFamily="34" charset="0"/>
                <a:ea typeface="Calibri" pitchFamily="34" charset="-122"/>
                <a:cs typeface="Calibri" pitchFamily="34" charset="-120"/>
              </a:rPr>
              <a:t>03</a:t>
            </a:r>
            <a:endParaRPr lang="en-US" sz="1200" dirty="0"/>
          </a:p>
        </p:txBody>
      </p:sp>
      <p:sp>
        <p:nvSpPr>
          <p:cNvPr id="24" name="Text 22"/>
          <p:cNvSpPr/>
          <p:nvPr/>
        </p:nvSpPr>
        <p:spPr>
          <a:xfrm>
            <a:off x="7790688" y="4169664"/>
            <a:ext cx="3383280" cy="457200"/>
          </a:xfrm>
          <a:prstGeom prst="rect">
            <a:avLst/>
          </a:prstGeom>
          <a:noFill/>
          <a:ln/>
        </p:spPr>
        <p:txBody>
          <a:bodyPr wrap="square" lIns="0" tIns="0" rIns="0" bIns="0" rtlCol="0" anchor="ctr"/>
          <a:lstStyle/>
          <a:p>
            <a:pPr indent="0" marL="0">
              <a:buNone/>
            </a:pPr>
            <a:r>
              <a:rPr lang="en-US" sz="2000" b="1" dirty="0">
                <a:solidFill>
                  <a:srgbClr val="141414"/>
                </a:solidFill>
                <a:latin typeface="Cambria" pitchFamily="34" charset="0"/>
                <a:ea typeface="Cambria" pitchFamily="34" charset="-122"/>
                <a:cs typeface="Cambria" pitchFamily="34" charset="-120"/>
              </a:rPr>
              <a:t>One point of contact</a:t>
            </a:r>
            <a:endParaRPr lang="en-US" sz="2000" dirty="0"/>
          </a:p>
        </p:txBody>
      </p:sp>
      <p:sp>
        <p:nvSpPr>
          <p:cNvPr id="25" name="Text 23"/>
          <p:cNvSpPr/>
          <p:nvPr/>
        </p:nvSpPr>
        <p:spPr>
          <a:xfrm>
            <a:off x="7205472" y="4736592"/>
            <a:ext cx="3986784" cy="457200"/>
          </a:xfrm>
          <a:prstGeom prst="rect">
            <a:avLst/>
          </a:prstGeom>
          <a:noFill/>
          <a:ln/>
        </p:spPr>
        <p:txBody>
          <a:bodyPr wrap="square" lIns="0" tIns="0" rIns="0" bIns="0" rtlCol="0" anchor="t"/>
          <a:lstStyle/>
          <a:p>
            <a:pPr indent="0" marL="0">
              <a:lnSpc>
                <a:spcPct val="118000"/>
              </a:lnSpc>
              <a:buNone/>
            </a:pPr>
            <a:r>
              <a:rPr lang="en-US" sz="1250" dirty="0">
                <a:solidFill>
                  <a:srgbClr val="3A3A3A"/>
                </a:solidFill>
                <a:latin typeface="Calibri" pitchFamily="34" charset="0"/>
                <a:ea typeface="Calibri" pitchFamily="34" charset="-122"/>
                <a:cs typeface="Calibri" pitchFamily="34" charset="-120"/>
              </a:rPr>
              <a:t>Jordan Vo and Jordan Niles are your contacts on the Stay Booked side.</a:t>
            </a:r>
            <a:endParaRPr lang="en-US" sz="1250" dirty="0"/>
          </a:p>
        </p:txBody>
      </p:sp>
      <p:sp>
        <p:nvSpPr>
          <p:cNvPr id="26" name="Text 24"/>
          <p:cNvSpPr/>
          <p:nvPr/>
        </p:nvSpPr>
        <p:spPr>
          <a:xfrm>
            <a:off x="7205472" y="5285232"/>
            <a:ext cx="3986784" cy="274320"/>
          </a:xfrm>
          <a:prstGeom prst="rect">
            <a:avLst/>
          </a:prstGeom>
          <a:noFill/>
          <a:ln/>
        </p:spPr>
        <p:txBody>
          <a:bodyPr wrap="square" lIns="0" tIns="0" rIns="0" bIns="0" rtlCol="0" anchor="ctr"/>
          <a:lstStyle/>
          <a:p>
            <a:pPr indent="0" marL="0">
              <a:buNone/>
            </a:pPr>
            <a:r>
              <a:rPr lang="en-US" sz="1200" b="1" dirty="0">
                <a:solidFill>
                  <a:srgbClr val="0F5257"/>
                </a:solidFill>
                <a:latin typeface="Calibri" pitchFamily="34" charset="0"/>
                <a:ea typeface="Calibri" pitchFamily="34" charset="-122"/>
                <a:cs typeface="Calibri" pitchFamily="34" charset="-120"/>
              </a:rPr>
              <a:t>Confirm today:  who is ours on your side?</a:t>
            </a:r>
            <a:endParaRPr lang="en-US" sz="1200" dirty="0"/>
          </a:p>
        </p:txBody>
      </p:sp>
      <p:sp>
        <p:nvSpPr>
          <p:cNvPr id="27" name="Text 25"/>
          <p:cNvSpPr/>
          <p:nvPr/>
        </p:nvSpPr>
        <p:spPr>
          <a:xfrm>
            <a:off x="685800" y="6327648"/>
            <a:ext cx="5486400" cy="274320"/>
          </a:xfrm>
          <a:prstGeom prst="rect">
            <a:avLst/>
          </a:prstGeom>
          <a:noFill/>
          <a:ln/>
        </p:spPr>
        <p:txBody>
          <a:bodyPr wrap="square" lIns="0" tIns="0" rIns="0" bIns="0" rtlCol="0" anchor="ctr"/>
          <a:lstStyle/>
          <a:p>
            <a:pPr indent="0" marL="0">
              <a:buNone/>
            </a:pPr>
            <a:r>
              <a:rPr lang="en-US" sz="850" spc="160" kern="0" dirty="0">
                <a:solidFill>
                  <a:srgbClr val="9A9080"/>
                </a:solidFill>
                <a:latin typeface="Calibri" pitchFamily="34" charset="0"/>
                <a:ea typeface="Calibri" pitchFamily="34" charset="-122"/>
                <a:cs typeface="Calibri" pitchFamily="34" charset="-120"/>
              </a:rPr>
              <a:t>STAY BOOKED MARKETING  ·  CLIENT KICKOFF</a:t>
            </a:r>
            <a:endParaRPr lang="en-US" sz="850" dirty="0"/>
          </a:p>
        </p:txBody>
      </p:sp>
      <p:sp>
        <p:nvSpPr>
          <p:cNvPr id="28" name="Text 26"/>
          <p:cNvSpPr/>
          <p:nvPr/>
        </p:nvSpPr>
        <p:spPr>
          <a:xfrm>
            <a:off x="10591495" y="6327648"/>
            <a:ext cx="914400" cy="274320"/>
          </a:xfrm>
          <a:prstGeom prst="rect">
            <a:avLst/>
          </a:prstGeom>
          <a:noFill/>
          <a:ln/>
        </p:spPr>
        <p:txBody>
          <a:bodyPr wrap="square" lIns="0" tIns="0" rIns="0" bIns="0" rtlCol="0" anchor="ctr"/>
          <a:lstStyle/>
          <a:p>
            <a:pPr algn="r" indent="0" marL="0">
              <a:buNone/>
            </a:pPr>
            <a:r>
              <a:rPr lang="en-US" sz="850" spc="160" kern="0" dirty="0">
                <a:solidFill>
                  <a:srgbClr val="9A9080"/>
                </a:solidFill>
                <a:latin typeface="Calibri" pitchFamily="34" charset="0"/>
                <a:ea typeface="Calibri" pitchFamily="34" charset="-122"/>
                <a:cs typeface="Calibri" pitchFamily="34" charset="-120"/>
              </a:rPr>
              <a:t>13</a:t>
            </a:r>
            <a:endParaRPr lang="en-US" sz="850" dirty="0"/>
          </a:p>
        </p:txBody>
      </p:sp>
      <p:pic>
        <p:nvPicPr>
          <p:cNvPr id="29" name="Image 0" descr="assets/logo_black.png">    </p:cNvPr>
          <p:cNvPicPr>
            <a:picLocks noChangeAspect="1"/>
          </p:cNvPicPr>
          <p:nvPr/>
        </p:nvPicPr>
        <p:blipFill>
          <a:blip r:embed="rId1">
            <a:alphaModFix amt="22000"/>
          </a:blip>
          <a:stretch>
            <a:fillRect/>
          </a:stretch>
        </p:blipFill>
        <p:spPr>
          <a:xfrm>
            <a:off x="10847527" y="384048"/>
            <a:ext cx="658368" cy="20939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685800" y="566928"/>
            <a:ext cx="7772400" cy="256032"/>
          </a:xfrm>
          <a:prstGeom prst="rect">
            <a:avLst/>
          </a:prstGeom>
          <a:noFill/>
          <a:ln/>
        </p:spPr>
        <p:txBody>
          <a:bodyPr wrap="square" lIns="0" tIns="0" rIns="0" bIns="0" rtlCol="0" anchor="ctr"/>
          <a:lstStyle/>
          <a:p>
            <a:pPr indent="0" marL="0">
              <a:buNone/>
            </a:pPr>
            <a:r>
              <a:rPr lang="en-US" sz="1050" b="1" spc="260" kern="0" dirty="0">
                <a:solidFill>
                  <a:srgbClr val="5FA8A0"/>
                </a:solidFill>
                <a:latin typeface="Calibri" pitchFamily="34" charset="0"/>
                <a:ea typeface="Calibri" pitchFamily="34" charset="-122"/>
                <a:cs typeface="Calibri" pitchFamily="34" charset="-120"/>
              </a:rPr>
              <a:t>LEAD HANDLING</a:t>
            </a:r>
            <a:endParaRPr lang="en-US" sz="1050" dirty="0"/>
          </a:p>
        </p:txBody>
      </p:sp>
      <p:sp>
        <p:nvSpPr>
          <p:cNvPr id="3" name="Text 1"/>
          <p:cNvSpPr/>
          <p:nvPr/>
        </p:nvSpPr>
        <p:spPr>
          <a:xfrm>
            <a:off x="685800" y="868680"/>
            <a:ext cx="10058400" cy="658368"/>
          </a:xfrm>
          <a:prstGeom prst="rect">
            <a:avLst/>
          </a:prstGeom>
          <a:noFill/>
          <a:ln/>
        </p:spPr>
        <p:txBody>
          <a:bodyPr wrap="square" lIns="0" tIns="0" rIns="0" bIns="0" rtlCol="0" anchor="ctr"/>
          <a:lstStyle/>
          <a:p>
            <a:pPr indent="0" marL="0">
              <a:buNone/>
            </a:pPr>
            <a:r>
              <a:rPr lang="en-US" sz="3400" b="1" dirty="0">
                <a:solidFill>
                  <a:srgbClr val="F0EBE0"/>
                </a:solidFill>
                <a:latin typeface="Cambria" pitchFamily="34" charset="0"/>
                <a:ea typeface="Cambria" pitchFamily="34" charset="-122"/>
                <a:cs typeface="Cambria" pitchFamily="34" charset="-120"/>
              </a:rPr>
              <a:t>The moment a lead comes in</a:t>
            </a:r>
            <a:endParaRPr lang="en-US" sz="3400" dirty="0"/>
          </a:p>
        </p:txBody>
      </p:sp>
      <p:sp>
        <p:nvSpPr>
          <p:cNvPr id="4" name="Shape 2"/>
          <p:cNvSpPr/>
          <p:nvPr/>
        </p:nvSpPr>
        <p:spPr>
          <a:xfrm>
            <a:off x="685800" y="1737360"/>
            <a:ext cx="3411626" cy="2212848"/>
          </a:xfrm>
          <a:prstGeom prst="roundRect">
            <a:avLst>
              <a:gd name="adj" fmla="val 3719"/>
            </a:avLst>
          </a:prstGeom>
          <a:solidFill>
            <a:srgbClr val="201E1A"/>
          </a:solidFill>
          <a:ln w="9525">
            <a:solidFill>
              <a:srgbClr val="35302A"/>
            </a:solidFill>
            <a:prstDash val="solid"/>
          </a:ln>
        </p:spPr>
      </p:sp>
      <p:sp>
        <p:nvSpPr>
          <p:cNvPr id="5" name="Text 3"/>
          <p:cNvSpPr/>
          <p:nvPr/>
        </p:nvSpPr>
        <p:spPr>
          <a:xfrm>
            <a:off x="978408" y="1956816"/>
            <a:ext cx="2826410" cy="237744"/>
          </a:xfrm>
          <a:prstGeom prst="rect">
            <a:avLst/>
          </a:prstGeom>
          <a:noFill/>
          <a:ln/>
        </p:spPr>
        <p:txBody>
          <a:bodyPr wrap="square" lIns="0" tIns="0" rIns="0" bIns="0" rtlCol="0" anchor="ctr"/>
          <a:lstStyle/>
          <a:p>
            <a:pPr indent="0" marL="0">
              <a:buNone/>
            </a:pPr>
            <a:r>
              <a:rPr lang="en-US" sz="950" b="1" spc="200" kern="0" dirty="0">
                <a:solidFill>
                  <a:srgbClr val="7E7568"/>
                </a:solidFill>
                <a:latin typeface="Calibri" pitchFamily="34" charset="0"/>
                <a:ea typeface="Calibri" pitchFamily="34" charset="-122"/>
                <a:cs typeface="Calibri" pitchFamily="34" charset="-120"/>
              </a:rPr>
              <a:t>STEP 1</a:t>
            </a:r>
            <a:endParaRPr lang="en-US" sz="950" dirty="0"/>
          </a:p>
        </p:txBody>
      </p:sp>
      <p:sp>
        <p:nvSpPr>
          <p:cNvPr id="6" name="Text 4"/>
          <p:cNvSpPr/>
          <p:nvPr/>
        </p:nvSpPr>
        <p:spPr>
          <a:xfrm>
            <a:off x="978408" y="2249424"/>
            <a:ext cx="2826410" cy="731520"/>
          </a:xfrm>
          <a:prstGeom prst="rect">
            <a:avLst/>
          </a:prstGeom>
          <a:noFill/>
          <a:ln/>
        </p:spPr>
        <p:txBody>
          <a:bodyPr wrap="square" lIns="0" tIns="0" rIns="0" bIns="0" rtlCol="0" anchor="ctr"/>
          <a:lstStyle/>
          <a:p>
            <a:pPr indent="0" marL="0">
              <a:lnSpc>
                <a:spcPct val="98000"/>
              </a:lnSpc>
              <a:buNone/>
            </a:pPr>
            <a:r>
              <a:rPr lang="en-US" sz="2300" b="1" dirty="0">
                <a:solidFill>
                  <a:srgbClr val="F0EBE0"/>
                </a:solidFill>
                <a:latin typeface="Cambria" pitchFamily="34" charset="0"/>
                <a:ea typeface="Cambria" pitchFamily="34" charset="-122"/>
                <a:cs typeface="Cambria" pitchFamily="34" charset="-120"/>
              </a:rPr>
              <a:t>Lead submits the form</a:t>
            </a:r>
            <a:endParaRPr lang="en-US" sz="2300" dirty="0"/>
          </a:p>
        </p:txBody>
      </p:sp>
      <p:sp>
        <p:nvSpPr>
          <p:cNvPr id="7" name="Text 5"/>
          <p:cNvSpPr/>
          <p:nvPr/>
        </p:nvSpPr>
        <p:spPr>
          <a:xfrm>
            <a:off x="978408" y="3035808"/>
            <a:ext cx="2826410" cy="658368"/>
          </a:xfrm>
          <a:prstGeom prst="rect">
            <a:avLst/>
          </a:prstGeom>
          <a:noFill/>
          <a:ln/>
        </p:spPr>
        <p:txBody>
          <a:bodyPr wrap="square" lIns="0" tIns="0" rIns="0" bIns="0" rtlCol="0" anchor="t"/>
          <a:lstStyle/>
          <a:p>
            <a:pPr indent="0" marL="0">
              <a:lnSpc>
                <a:spcPct val="118000"/>
              </a:lnSpc>
              <a:buNone/>
            </a:pPr>
            <a:r>
              <a:rPr lang="en-US" sz="1250" dirty="0">
                <a:solidFill>
                  <a:srgbClr val="A8A093"/>
                </a:solidFill>
                <a:latin typeface="Calibri" pitchFamily="34" charset="0"/>
                <a:ea typeface="Calibri" pitchFamily="34" charset="-122"/>
                <a:cs typeface="Calibri" pitchFamily="34" charset="-120"/>
              </a:rPr>
              <a:t>Name and phone number, with permission on record.</a:t>
            </a:r>
            <a:endParaRPr lang="en-US" sz="1250" dirty="0"/>
          </a:p>
        </p:txBody>
      </p:sp>
      <p:sp>
        <p:nvSpPr>
          <p:cNvPr id="8" name="Text 6"/>
          <p:cNvSpPr/>
          <p:nvPr/>
        </p:nvSpPr>
        <p:spPr>
          <a:xfrm>
            <a:off x="4115714" y="2697480"/>
            <a:ext cx="256032" cy="329184"/>
          </a:xfrm>
          <a:prstGeom prst="rect">
            <a:avLst/>
          </a:prstGeom>
          <a:noFill/>
          <a:ln/>
        </p:spPr>
        <p:txBody>
          <a:bodyPr wrap="square" lIns="0" tIns="0" rIns="0" bIns="0" rtlCol="0" anchor="ctr"/>
          <a:lstStyle/>
          <a:p>
            <a:pPr algn="ctr" indent="0" marL="0">
              <a:buNone/>
            </a:pPr>
            <a:r>
              <a:rPr lang="en-US" sz="1700" b="1" dirty="0">
                <a:solidFill>
                  <a:srgbClr val="5C554A"/>
                </a:solidFill>
                <a:latin typeface="Calibri" pitchFamily="34" charset="0"/>
                <a:ea typeface="Calibri" pitchFamily="34" charset="-122"/>
                <a:cs typeface="Calibri" pitchFamily="34" charset="-120"/>
              </a:rPr>
              <a:t>→</a:t>
            </a:r>
            <a:endParaRPr lang="en-US" sz="1700" dirty="0"/>
          </a:p>
        </p:txBody>
      </p:sp>
      <p:sp>
        <p:nvSpPr>
          <p:cNvPr id="9" name="Shape 7"/>
          <p:cNvSpPr/>
          <p:nvPr/>
        </p:nvSpPr>
        <p:spPr>
          <a:xfrm>
            <a:off x="4390034" y="1737360"/>
            <a:ext cx="3411626" cy="2212848"/>
          </a:xfrm>
          <a:prstGeom prst="roundRect">
            <a:avLst>
              <a:gd name="adj" fmla="val 3719"/>
            </a:avLst>
          </a:prstGeom>
          <a:solidFill>
            <a:srgbClr val="201E1A"/>
          </a:solidFill>
          <a:ln w="9525">
            <a:solidFill>
              <a:srgbClr val="0F5257"/>
            </a:solidFill>
            <a:prstDash val="solid"/>
          </a:ln>
        </p:spPr>
      </p:sp>
      <p:sp>
        <p:nvSpPr>
          <p:cNvPr id="10" name="Text 8"/>
          <p:cNvSpPr/>
          <p:nvPr/>
        </p:nvSpPr>
        <p:spPr>
          <a:xfrm>
            <a:off x="4682642" y="1956816"/>
            <a:ext cx="2826410" cy="237744"/>
          </a:xfrm>
          <a:prstGeom prst="rect">
            <a:avLst/>
          </a:prstGeom>
          <a:noFill/>
          <a:ln/>
        </p:spPr>
        <p:txBody>
          <a:bodyPr wrap="square" lIns="0" tIns="0" rIns="0" bIns="0" rtlCol="0" anchor="ctr"/>
          <a:lstStyle/>
          <a:p>
            <a:pPr indent="0" marL="0">
              <a:buNone/>
            </a:pPr>
            <a:r>
              <a:rPr lang="en-US" sz="950" b="1" spc="200" kern="0" dirty="0">
                <a:solidFill>
                  <a:srgbClr val="5FA8A0"/>
                </a:solidFill>
                <a:latin typeface="Calibri" pitchFamily="34" charset="0"/>
                <a:ea typeface="Calibri" pitchFamily="34" charset="-122"/>
                <a:cs typeface="Calibri" pitchFamily="34" charset="-120"/>
              </a:rPr>
              <a:t>WITHIN 5 MINUTES</a:t>
            </a:r>
            <a:endParaRPr lang="en-US" sz="950" dirty="0"/>
          </a:p>
        </p:txBody>
      </p:sp>
      <p:sp>
        <p:nvSpPr>
          <p:cNvPr id="11" name="Text 9"/>
          <p:cNvSpPr/>
          <p:nvPr/>
        </p:nvSpPr>
        <p:spPr>
          <a:xfrm>
            <a:off x="4682642" y="2249424"/>
            <a:ext cx="2826410" cy="731520"/>
          </a:xfrm>
          <a:prstGeom prst="rect">
            <a:avLst/>
          </a:prstGeom>
          <a:noFill/>
          <a:ln/>
        </p:spPr>
        <p:txBody>
          <a:bodyPr wrap="square" lIns="0" tIns="0" rIns="0" bIns="0" rtlCol="0" anchor="ctr"/>
          <a:lstStyle/>
          <a:p>
            <a:pPr indent="0" marL="0">
              <a:lnSpc>
                <a:spcPct val="98000"/>
              </a:lnSpc>
              <a:buNone/>
            </a:pPr>
            <a:r>
              <a:rPr lang="en-US" sz="2300" b="1" dirty="0">
                <a:solidFill>
                  <a:srgbClr val="F0EBE0"/>
                </a:solidFill>
                <a:latin typeface="Cambria" pitchFamily="34" charset="0"/>
                <a:ea typeface="Cambria" pitchFamily="34" charset="-122"/>
                <a:cs typeface="Cambria" pitchFamily="34" charset="-120"/>
              </a:rPr>
              <a:t>AI calls and texts</a:t>
            </a:r>
            <a:endParaRPr lang="en-US" sz="2300" dirty="0"/>
          </a:p>
        </p:txBody>
      </p:sp>
      <p:sp>
        <p:nvSpPr>
          <p:cNvPr id="12" name="Text 10"/>
          <p:cNvSpPr/>
          <p:nvPr/>
        </p:nvSpPr>
        <p:spPr>
          <a:xfrm>
            <a:off x="4682642" y="3035808"/>
            <a:ext cx="2826410" cy="658368"/>
          </a:xfrm>
          <a:prstGeom prst="rect">
            <a:avLst/>
          </a:prstGeom>
          <a:noFill/>
          <a:ln/>
        </p:spPr>
        <p:txBody>
          <a:bodyPr wrap="square" lIns="0" tIns="0" rIns="0" bIns="0" rtlCol="0" anchor="t"/>
          <a:lstStyle/>
          <a:p>
            <a:pPr indent="0" marL="0">
              <a:lnSpc>
                <a:spcPct val="118000"/>
              </a:lnSpc>
              <a:buNone/>
            </a:pPr>
            <a:r>
              <a:rPr lang="en-US" sz="1250" dirty="0">
                <a:solidFill>
                  <a:srgbClr val="A8A093"/>
                </a:solidFill>
                <a:latin typeface="Calibri" pitchFamily="34" charset="0"/>
                <a:ea typeface="Calibri" pitchFamily="34" charset="-122"/>
                <a:cs typeface="Calibri" pitchFamily="34" charset="-120"/>
              </a:rPr>
              <a:t>Automatic first contact while intent is still hot.</a:t>
            </a:r>
            <a:endParaRPr lang="en-US" sz="1250" dirty="0"/>
          </a:p>
        </p:txBody>
      </p:sp>
      <p:sp>
        <p:nvSpPr>
          <p:cNvPr id="13" name="Text 11"/>
          <p:cNvSpPr/>
          <p:nvPr/>
        </p:nvSpPr>
        <p:spPr>
          <a:xfrm>
            <a:off x="7819949" y="2697480"/>
            <a:ext cx="256032" cy="329184"/>
          </a:xfrm>
          <a:prstGeom prst="rect">
            <a:avLst/>
          </a:prstGeom>
          <a:noFill/>
          <a:ln/>
        </p:spPr>
        <p:txBody>
          <a:bodyPr wrap="square" lIns="0" tIns="0" rIns="0" bIns="0" rtlCol="0" anchor="ctr"/>
          <a:lstStyle/>
          <a:p>
            <a:pPr algn="ctr" indent="0" marL="0">
              <a:buNone/>
            </a:pPr>
            <a:r>
              <a:rPr lang="en-US" sz="1700" b="1" dirty="0">
                <a:solidFill>
                  <a:srgbClr val="5C554A"/>
                </a:solidFill>
                <a:latin typeface="Calibri" pitchFamily="34" charset="0"/>
                <a:ea typeface="Calibri" pitchFamily="34" charset="-122"/>
                <a:cs typeface="Calibri" pitchFamily="34" charset="-120"/>
              </a:rPr>
              <a:t>→</a:t>
            </a:r>
            <a:endParaRPr lang="en-US" sz="1700" dirty="0"/>
          </a:p>
        </p:txBody>
      </p:sp>
      <p:sp>
        <p:nvSpPr>
          <p:cNvPr id="14" name="Shape 12"/>
          <p:cNvSpPr/>
          <p:nvPr/>
        </p:nvSpPr>
        <p:spPr>
          <a:xfrm>
            <a:off x="8094269" y="1737360"/>
            <a:ext cx="3411626" cy="2212848"/>
          </a:xfrm>
          <a:prstGeom prst="roundRect">
            <a:avLst>
              <a:gd name="adj" fmla="val 3719"/>
            </a:avLst>
          </a:prstGeom>
          <a:solidFill>
            <a:srgbClr val="201E1A"/>
          </a:solidFill>
          <a:ln w="9525">
            <a:solidFill>
              <a:srgbClr val="35302A"/>
            </a:solidFill>
            <a:prstDash val="solid"/>
          </a:ln>
        </p:spPr>
      </p:sp>
      <p:sp>
        <p:nvSpPr>
          <p:cNvPr id="15" name="Text 13"/>
          <p:cNvSpPr/>
          <p:nvPr/>
        </p:nvSpPr>
        <p:spPr>
          <a:xfrm>
            <a:off x="8386877" y="1956816"/>
            <a:ext cx="2826410" cy="237744"/>
          </a:xfrm>
          <a:prstGeom prst="rect">
            <a:avLst/>
          </a:prstGeom>
          <a:noFill/>
          <a:ln/>
        </p:spPr>
        <p:txBody>
          <a:bodyPr wrap="square" lIns="0" tIns="0" rIns="0" bIns="0" rtlCol="0" anchor="ctr"/>
          <a:lstStyle/>
          <a:p>
            <a:pPr indent="0" marL="0">
              <a:buNone/>
            </a:pPr>
            <a:r>
              <a:rPr lang="en-US" sz="950" b="1" spc="200" kern="0" dirty="0">
                <a:solidFill>
                  <a:srgbClr val="7E7568"/>
                </a:solidFill>
                <a:latin typeface="Calibri" pitchFamily="34" charset="0"/>
                <a:ea typeface="Calibri" pitchFamily="34" charset="-122"/>
                <a:cs typeface="Calibri" pitchFamily="34" charset="-120"/>
              </a:rPr>
              <a:t>STEP 3</a:t>
            </a:r>
            <a:endParaRPr lang="en-US" sz="950" dirty="0"/>
          </a:p>
        </p:txBody>
      </p:sp>
      <p:sp>
        <p:nvSpPr>
          <p:cNvPr id="16" name="Text 14"/>
          <p:cNvSpPr/>
          <p:nvPr/>
        </p:nvSpPr>
        <p:spPr>
          <a:xfrm>
            <a:off x="8386877" y="2249424"/>
            <a:ext cx="2826410" cy="731520"/>
          </a:xfrm>
          <a:prstGeom prst="rect">
            <a:avLst/>
          </a:prstGeom>
          <a:noFill/>
          <a:ln/>
        </p:spPr>
        <p:txBody>
          <a:bodyPr wrap="square" lIns="0" tIns="0" rIns="0" bIns="0" rtlCol="0" anchor="ctr"/>
          <a:lstStyle/>
          <a:p>
            <a:pPr indent="0" marL="0">
              <a:lnSpc>
                <a:spcPct val="98000"/>
              </a:lnSpc>
              <a:buNone/>
            </a:pPr>
            <a:r>
              <a:rPr lang="en-US" sz="2300" b="1" dirty="0">
                <a:solidFill>
                  <a:srgbClr val="F0EBE0"/>
                </a:solidFill>
                <a:latin typeface="Cambria" pitchFamily="34" charset="0"/>
                <a:ea typeface="Cambria" pitchFamily="34" charset="-122"/>
                <a:cs typeface="Cambria" pitchFamily="34" charset="-120"/>
              </a:rPr>
              <a:t>Your staff takes over</a:t>
            </a:r>
            <a:endParaRPr lang="en-US" sz="2300" dirty="0"/>
          </a:p>
        </p:txBody>
      </p:sp>
      <p:sp>
        <p:nvSpPr>
          <p:cNvPr id="17" name="Text 15"/>
          <p:cNvSpPr/>
          <p:nvPr/>
        </p:nvSpPr>
        <p:spPr>
          <a:xfrm>
            <a:off x="8386877" y="3035808"/>
            <a:ext cx="2826410" cy="658368"/>
          </a:xfrm>
          <a:prstGeom prst="rect">
            <a:avLst/>
          </a:prstGeom>
          <a:noFill/>
          <a:ln/>
        </p:spPr>
        <p:txBody>
          <a:bodyPr wrap="square" lIns="0" tIns="0" rIns="0" bIns="0" rtlCol="0" anchor="t"/>
          <a:lstStyle/>
          <a:p>
            <a:pPr indent="0" marL="0">
              <a:lnSpc>
                <a:spcPct val="118000"/>
              </a:lnSpc>
              <a:buNone/>
            </a:pPr>
            <a:r>
              <a:rPr lang="en-US" sz="1250" dirty="0">
                <a:solidFill>
                  <a:srgbClr val="A8A093"/>
                </a:solidFill>
                <a:latin typeface="Calibri" pitchFamily="34" charset="0"/>
                <a:ea typeface="Calibri" pitchFamily="34" charset="-122"/>
                <a:cs typeface="Calibri" pitchFamily="34" charset="-120"/>
              </a:rPr>
              <a:t>A human picks up the relationship and books the patient.</a:t>
            </a:r>
            <a:endParaRPr lang="en-US" sz="1250" dirty="0"/>
          </a:p>
        </p:txBody>
      </p:sp>
      <p:sp>
        <p:nvSpPr>
          <p:cNvPr id="18" name="Text 16"/>
          <p:cNvSpPr/>
          <p:nvPr/>
        </p:nvSpPr>
        <p:spPr>
          <a:xfrm>
            <a:off x="685800" y="4206240"/>
            <a:ext cx="5486400" cy="237744"/>
          </a:xfrm>
          <a:prstGeom prst="rect">
            <a:avLst/>
          </a:prstGeom>
          <a:noFill/>
          <a:ln/>
        </p:spPr>
        <p:txBody>
          <a:bodyPr wrap="square" lIns="0" tIns="0" rIns="0" bIns="0" rtlCol="0" anchor="ctr"/>
          <a:lstStyle/>
          <a:p>
            <a:pPr indent="0" marL="0">
              <a:buNone/>
            </a:pPr>
            <a:r>
              <a:rPr lang="en-US" sz="950" b="1" spc="220" kern="0" dirty="0">
                <a:solidFill>
                  <a:srgbClr val="5FA8A0"/>
                </a:solidFill>
                <a:latin typeface="Calibri" pitchFamily="34" charset="0"/>
                <a:ea typeface="Calibri" pitchFamily="34" charset="-122"/>
                <a:cs typeface="Calibri" pitchFamily="34" charset="-120"/>
              </a:rPr>
              <a:t>THREE THINGS WE NEED FROM YOU TODAY</a:t>
            </a:r>
            <a:endParaRPr lang="en-US" sz="950" dirty="0"/>
          </a:p>
        </p:txBody>
      </p:sp>
      <p:sp>
        <p:nvSpPr>
          <p:cNvPr id="19" name="Shape 17"/>
          <p:cNvSpPr/>
          <p:nvPr/>
        </p:nvSpPr>
        <p:spPr>
          <a:xfrm>
            <a:off x="685800" y="4507992"/>
            <a:ext cx="3411626" cy="1344168"/>
          </a:xfrm>
          <a:prstGeom prst="roundRect">
            <a:avLst>
              <a:gd name="adj" fmla="val 6122"/>
            </a:avLst>
          </a:prstGeom>
          <a:solidFill>
            <a:srgbClr val="201E1A"/>
          </a:solidFill>
          <a:ln w="9525">
            <a:solidFill>
              <a:srgbClr val="35302A"/>
            </a:solidFill>
            <a:prstDash val="solid"/>
          </a:ln>
        </p:spPr>
      </p:sp>
      <p:sp>
        <p:nvSpPr>
          <p:cNvPr id="20" name="Text 18"/>
          <p:cNvSpPr/>
          <p:nvPr/>
        </p:nvSpPr>
        <p:spPr>
          <a:xfrm>
            <a:off x="960120" y="4681728"/>
            <a:ext cx="365760" cy="365760"/>
          </a:xfrm>
          <a:prstGeom prst="ellipse">
            <a:avLst/>
          </a:prstGeom>
          <a:solidFill>
            <a:srgbClr val="0F5257"/>
          </a:solidFill>
          <a:ln/>
        </p:spPr>
        <p:txBody>
          <a:bodyPr wrap="square" lIns="0" tIns="0" rIns="0" bIns="0" rtlCol="0" anchor="ctr"/>
          <a:lstStyle/>
          <a:p>
            <a:pPr algn="ctr" indent="0" marL="0">
              <a:buNone/>
            </a:pPr>
            <a:r>
              <a:rPr lang="en-US" sz="1250" b="1" dirty="0">
                <a:solidFill>
                  <a:srgbClr val="F0EBE0"/>
                </a:solidFill>
                <a:latin typeface="Calibri" pitchFamily="34" charset="0"/>
                <a:ea typeface="Calibri" pitchFamily="34" charset="-122"/>
                <a:cs typeface="Calibri" pitchFamily="34" charset="-120"/>
              </a:rPr>
              <a:t>?</a:t>
            </a:r>
            <a:endParaRPr lang="en-US" sz="1250" dirty="0"/>
          </a:p>
        </p:txBody>
      </p:sp>
      <p:sp>
        <p:nvSpPr>
          <p:cNvPr id="21" name="Text 19"/>
          <p:cNvSpPr/>
          <p:nvPr/>
        </p:nvSpPr>
        <p:spPr>
          <a:xfrm>
            <a:off x="960120" y="5120640"/>
            <a:ext cx="2862986" cy="658368"/>
          </a:xfrm>
          <a:prstGeom prst="rect">
            <a:avLst/>
          </a:prstGeom>
          <a:noFill/>
          <a:ln/>
        </p:spPr>
        <p:txBody>
          <a:bodyPr wrap="square" lIns="0" tIns="0" rIns="0" bIns="0" rtlCol="0" anchor="t"/>
          <a:lstStyle/>
          <a:p>
            <a:pPr indent="0" marL="0">
              <a:lnSpc>
                <a:spcPct val="114000"/>
              </a:lnSpc>
              <a:buNone/>
            </a:pPr>
            <a:r>
              <a:rPr lang="en-US" sz="1200" b="1" dirty="0">
                <a:solidFill>
                  <a:srgbClr val="F0EBE0"/>
                </a:solidFill>
                <a:latin typeface="Calibri" pitchFamily="34" charset="0"/>
                <a:ea typeface="Calibri" pitchFamily="34" charset="-122"/>
                <a:cs typeface="Calibri" pitchFamily="34" charset="-120"/>
              </a:rPr>
              <a:t>What does your booking and intake process look like today?</a:t>
            </a:r>
            <a:endParaRPr lang="en-US" sz="1200" dirty="0"/>
          </a:p>
        </p:txBody>
      </p:sp>
      <p:sp>
        <p:nvSpPr>
          <p:cNvPr id="22" name="Shape 20"/>
          <p:cNvSpPr/>
          <p:nvPr/>
        </p:nvSpPr>
        <p:spPr>
          <a:xfrm>
            <a:off x="4390034" y="4507992"/>
            <a:ext cx="3411626" cy="1344168"/>
          </a:xfrm>
          <a:prstGeom prst="roundRect">
            <a:avLst>
              <a:gd name="adj" fmla="val 6122"/>
            </a:avLst>
          </a:prstGeom>
          <a:solidFill>
            <a:srgbClr val="201E1A"/>
          </a:solidFill>
          <a:ln w="9525">
            <a:solidFill>
              <a:srgbClr val="35302A"/>
            </a:solidFill>
            <a:prstDash val="solid"/>
          </a:ln>
        </p:spPr>
      </p:sp>
      <p:sp>
        <p:nvSpPr>
          <p:cNvPr id="23" name="Text 21"/>
          <p:cNvSpPr/>
          <p:nvPr/>
        </p:nvSpPr>
        <p:spPr>
          <a:xfrm>
            <a:off x="4664354" y="4681728"/>
            <a:ext cx="365760" cy="365760"/>
          </a:xfrm>
          <a:prstGeom prst="ellipse">
            <a:avLst/>
          </a:prstGeom>
          <a:solidFill>
            <a:srgbClr val="0F5257"/>
          </a:solidFill>
          <a:ln/>
        </p:spPr>
        <p:txBody>
          <a:bodyPr wrap="square" lIns="0" tIns="0" rIns="0" bIns="0" rtlCol="0" anchor="ctr"/>
          <a:lstStyle/>
          <a:p>
            <a:pPr algn="ctr" indent="0" marL="0">
              <a:buNone/>
            </a:pPr>
            <a:r>
              <a:rPr lang="en-US" sz="1250" b="1" dirty="0">
                <a:solidFill>
                  <a:srgbClr val="F0EBE0"/>
                </a:solidFill>
                <a:latin typeface="Calibri" pitchFamily="34" charset="0"/>
                <a:ea typeface="Calibri" pitchFamily="34" charset="-122"/>
                <a:cs typeface="Calibri" pitchFamily="34" charset="-120"/>
              </a:rPr>
              <a:t>?</a:t>
            </a:r>
            <a:endParaRPr lang="en-US" sz="1250" dirty="0"/>
          </a:p>
        </p:txBody>
      </p:sp>
      <p:sp>
        <p:nvSpPr>
          <p:cNvPr id="24" name="Text 22"/>
          <p:cNvSpPr/>
          <p:nvPr/>
        </p:nvSpPr>
        <p:spPr>
          <a:xfrm>
            <a:off x="4664354" y="5120640"/>
            <a:ext cx="2862986" cy="658368"/>
          </a:xfrm>
          <a:prstGeom prst="rect">
            <a:avLst/>
          </a:prstGeom>
          <a:noFill/>
          <a:ln/>
        </p:spPr>
        <p:txBody>
          <a:bodyPr wrap="square" lIns="0" tIns="0" rIns="0" bIns="0" rtlCol="0" anchor="t"/>
          <a:lstStyle/>
          <a:p>
            <a:pPr indent="0" marL="0">
              <a:lnSpc>
                <a:spcPct val="114000"/>
              </a:lnSpc>
              <a:buNone/>
            </a:pPr>
            <a:r>
              <a:rPr lang="en-US" sz="1200" b="1" dirty="0">
                <a:solidFill>
                  <a:srgbClr val="F0EBE0"/>
                </a:solidFill>
                <a:latin typeface="Calibri" pitchFamily="34" charset="0"/>
                <a:ea typeface="Calibri" pitchFamily="34" charset="-122"/>
                <a:cs typeface="Calibri" pitchFamily="34" charset="-120"/>
              </a:rPr>
              <a:t>How fast can your staff realistically follow up on a new lead?</a:t>
            </a:r>
            <a:endParaRPr lang="en-US" sz="1200" dirty="0"/>
          </a:p>
        </p:txBody>
      </p:sp>
      <p:sp>
        <p:nvSpPr>
          <p:cNvPr id="25" name="Shape 23"/>
          <p:cNvSpPr/>
          <p:nvPr/>
        </p:nvSpPr>
        <p:spPr>
          <a:xfrm>
            <a:off x="8094269" y="4507992"/>
            <a:ext cx="3411626" cy="1344168"/>
          </a:xfrm>
          <a:prstGeom prst="roundRect">
            <a:avLst>
              <a:gd name="adj" fmla="val 6122"/>
            </a:avLst>
          </a:prstGeom>
          <a:solidFill>
            <a:srgbClr val="201E1A"/>
          </a:solidFill>
          <a:ln w="9525">
            <a:solidFill>
              <a:srgbClr val="35302A"/>
            </a:solidFill>
            <a:prstDash val="solid"/>
          </a:ln>
        </p:spPr>
      </p:sp>
      <p:sp>
        <p:nvSpPr>
          <p:cNvPr id="26" name="Text 24"/>
          <p:cNvSpPr/>
          <p:nvPr/>
        </p:nvSpPr>
        <p:spPr>
          <a:xfrm>
            <a:off x="8368589" y="4681728"/>
            <a:ext cx="365760" cy="365760"/>
          </a:xfrm>
          <a:prstGeom prst="ellipse">
            <a:avLst/>
          </a:prstGeom>
          <a:solidFill>
            <a:srgbClr val="0F5257"/>
          </a:solidFill>
          <a:ln/>
        </p:spPr>
        <p:txBody>
          <a:bodyPr wrap="square" lIns="0" tIns="0" rIns="0" bIns="0" rtlCol="0" anchor="ctr"/>
          <a:lstStyle/>
          <a:p>
            <a:pPr algn="ctr" indent="0" marL="0">
              <a:buNone/>
            </a:pPr>
            <a:r>
              <a:rPr lang="en-US" sz="1250" b="1" dirty="0">
                <a:solidFill>
                  <a:srgbClr val="F0EBE0"/>
                </a:solidFill>
                <a:latin typeface="Calibri" pitchFamily="34" charset="0"/>
                <a:ea typeface="Calibri" pitchFamily="34" charset="-122"/>
                <a:cs typeface="Calibri" pitchFamily="34" charset="-120"/>
              </a:rPr>
              <a:t>?</a:t>
            </a:r>
            <a:endParaRPr lang="en-US" sz="1250" dirty="0"/>
          </a:p>
        </p:txBody>
      </p:sp>
      <p:sp>
        <p:nvSpPr>
          <p:cNvPr id="27" name="Text 25"/>
          <p:cNvSpPr/>
          <p:nvPr/>
        </p:nvSpPr>
        <p:spPr>
          <a:xfrm>
            <a:off x="8368589" y="5120640"/>
            <a:ext cx="2862986" cy="658368"/>
          </a:xfrm>
          <a:prstGeom prst="rect">
            <a:avLst/>
          </a:prstGeom>
          <a:noFill/>
          <a:ln/>
        </p:spPr>
        <p:txBody>
          <a:bodyPr wrap="square" lIns="0" tIns="0" rIns="0" bIns="0" rtlCol="0" anchor="t"/>
          <a:lstStyle/>
          <a:p>
            <a:pPr indent="0" marL="0">
              <a:lnSpc>
                <a:spcPct val="114000"/>
              </a:lnSpc>
              <a:buNone/>
            </a:pPr>
            <a:r>
              <a:rPr lang="en-US" sz="1200" b="1" dirty="0">
                <a:solidFill>
                  <a:srgbClr val="F0EBE0"/>
                </a:solidFill>
                <a:latin typeface="Calibri" pitchFamily="34" charset="0"/>
                <a:ea typeface="Calibri" pitchFamily="34" charset="-122"/>
                <a:cs typeface="Calibri" pitchFamily="34" charset="-120"/>
              </a:rPr>
              <a:t>How do you want leads delivered — to staff, a shared inbox, or your booking system?</a:t>
            </a:r>
            <a:endParaRPr lang="en-US" sz="1200" dirty="0"/>
          </a:p>
        </p:txBody>
      </p:sp>
      <p:sp>
        <p:nvSpPr>
          <p:cNvPr id="28" name="Text 26"/>
          <p:cNvSpPr/>
          <p:nvPr/>
        </p:nvSpPr>
        <p:spPr>
          <a:xfrm>
            <a:off x="685800" y="6327648"/>
            <a:ext cx="5486400" cy="274320"/>
          </a:xfrm>
          <a:prstGeom prst="rect">
            <a:avLst/>
          </a:prstGeom>
          <a:noFill/>
          <a:ln/>
        </p:spPr>
        <p:txBody>
          <a:bodyPr wrap="square" lIns="0" tIns="0" rIns="0" bIns="0" rtlCol="0" anchor="ctr"/>
          <a:lstStyle/>
          <a:p>
            <a:pPr indent="0" marL="0">
              <a:buNone/>
            </a:pPr>
            <a:r>
              <a:rPr lang="en-US" sz="850" spc="160" kern="0" dirty="0">
                <a:solidFill>
                  <a:srgbClr val="5C554A"/>
                </a:solidFill>
                <a:latin typeface="Calibri" pitchFamily="34" charset="0"/>
                <a:ea typeface="Calibri" pitchFamily="34" charset="-122"/>
                <a:cs typeface="Calibri" pitchFamily="34" charset="-120"/>
              </a:rPr>
              <a:t>STAY BOOKED MARKETING  ·  CLIENT KICKOFF</a:t>
            </a:r>
            <a:endParaRPr lang="en-US" sz="850" dirty="0"/>
          </a:p>
        </p:txBody>
      </p:sp>
      <p:sp>
        <p:nvSpPr>
          <p:cNvPr id="29" name="Text 27"/>
          <p:cNvSpPr/>
          <p:nvPr/>
        </p:nvSpPr>
        <p:spPr>
          <a:xfrm>
            <a:off x="10591495" y="6327648"/>
            <a:ext cx="914400" cy="274320"/>
          </a:xfrm>
          <a:prstGeom prst="rect">
            <a:avLst/>
          </a:prstGeom>
          <a:noFill/>
          <a:ln/>
        </p:spPr>
        <p:txBody>
          <a:bodyPr wrap="square" lIns="0" tIns="0" rIns="0" bIns="0" rtlCol="0" anchor="ctr"/>
          <a:lstStyle/>
          <a:p>
            <a:pPr algn="r" indent="0" marL="0">
              <a:buNone/>
            </a:pPr>
            <a:r>
              <a:rPr lang="en-US" sz="850" spc="160" kern="0" dirty="0">
                <a:solidFill>
                  <a:srgbClr val="5C554A"/>
                </a:solidFill>
                <a:latin typeface="Calibri" pitchFamily="34" charset="0"/>
                <a:ea typeface="Calibri" pitchFamily="34" charset="-122"/>
                <a:cs typeface="Calibri" pitchFamily="34" charset="-120"/>
              </a:rPr>
              <a:t>14</a:t>
            </a:r>
            <a:endParaRPr lang="en-US" sz="850" dirty="0"/>
          </a:p>
        </p:txBody>
      </p:sp>
      <p:pic>
        <p:nvPicPr>
          <p:cNvPr id="30" name="Image 0" descr="assets/logo_cream.png">    </p:cNvPr>
          <p:cNvPicPr>
            <a:picLocks noChangeAspect="1"/>
          </p:cNvPicPr>
          <p:nvPr/>
        </p:nvPicPr>
        <p:blipFill>
          <a:blip r:embed="rId1">
            <a:alphaModFix amt="45000"/>
          </a:blip>
          <a:stretch>
            <a:fillRect/>
          </a:stretch>
        </p:blipFill>
        <p:spPr>
          <a:xfrm>
            <a:off x="10847527" y="384048"/>
            <a:ext cx="658368" cy="20939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EBE0"/>
        </a:solidFill>
      </p:bgPr>
    </p:bg>
    <p:spTree>
      <p:nvGrpSpPr>
        <p:cNvPr id="1" name=""/>
        <p:cNvGrpSpPr/>
        <p:nvPr/>
      </p:nvGrpSpPr>
      <p:grpSpPr>
        <a:xfrm>
          <a:off x="0" y="0"/>
          <a:ext cx="0" cy="0"/>
          <a:chOff x="0" y="0"/>
          <a:chExt cx="0" cy="0"/>
        </a:xfrm>
      </p:grpSpPr>
      <p:sp>
        <p:nvSpPr>
          <p:cNvPr id="2" name="Text 0"/>
          <p:cNvSpPr/>
          <p:nvPr/>
        </p:nvSpPr>
        <p:spPr>
          <a:xfrm>
            <a:off x="685800" y="566928"/>
            <a:ext cx="7772400" cy="256032"/>
          </a:xfrm>
          <a:prstGeom prst="rect">
            <a:avLst/>
          </a:prstGeom>
          <a:noFill/>
          <a:ln/>
        </p:spPr>
        <p:txBody>
          <a:bodyPr wrap="square" lIns="0" tIns="0" rIns="0" bIns="0" rtlCol="0" anchor="ctr"/>
          <a:lstStyle/>
          <a:p>
            <a:pPr indent="0" marL="0">
              <a:buNone/>
            </a:pPr>
            <a:r>
              <a:rPr lang="en-US" sz="1050" b="1" spc="260" kern="0" dirty="0">
                <a:solidFill>
                  <a:srgbClr val="0F5257"/>
                </a:solidFill>
                <a:latin typeface="Calibri" pitchFamily="34" charset="0"/>
                <a:ea typeface="Calibri" pitchFamily="34" charset="-122"/>
                <a:cs typeface="Calibri" pitchFamily="34" charset="-120"/>
              </a:rPr>
              <a:t>RELATIONSHIP BUILDING</a:t>
            </a:r>
            <a:endParaRPr lang="en-US" sz="1050" dirty="0"/>
          </a:p>
        </p:txBody>
      </p:sp>
      <p:sp>
        <p:nvSpPr>
          <p:cNvPr id="3" name="Text 1"/>
          <p:cNvSpPr/>
          <p:nvPr/>
        </p:nvSpPr>
        <p:spPr>
          <a:xfrm>
            <a:off x="685800" y="868680"/>
            <a:ext cx="10058400" cy="658368"/>
          </a:xfrm>
          <a:prstGeom prst="rect">
            <a:avLst/>
          </a:prstGeom>
          <a:noFill/>
          <a:ln/>
        </p:spPr>
        <p:txBody>
          <a:bodyPr wrap="square" lIns="0" tIns="0" rIns="0" bIns="0" rtlCol="0" anchor="ctr"/>
          <a:lstStyle/>
          <a:p>
            <a:pPr indent="0" marL="0">
              <a:buNone/>
            </a:pPr>
            <a:r>
              <a:rPr lang="en-US" sz="3400" b="1" dirty="0">
                <a:solidFill>
                  <a:srgbClr val="141414"/>
                </a:solidFill>
                <a:latin typeface="Cambria" pitchFamily="34" charset="0"/>
                <a:ea typeface="Cambria" pitchFamily="34" charset="-122"/>
                <a:cs typeface="Cambria" pitchFamily="34" charset="-120"/>
              </a:rPr>
              <a:t>Two things we'd like to ask</a:t>
            </a:r>
            <a:endParaRPr lang="en-US" sz="3400" dirty="0"/>
          </a:p>
        </p:txBody>
      </p:sp>
      <p:sp>
        <p:nvSpPr>
          <p:cNvPr id="4" name="Shape 2"/>
          <p:cNvSpPr/>
          <p:nvPr/>
        </p:nvSpPr>
        <p:spPr>
          <a:xfrm>
            <a:off x="685800" y="1828800"/>
            <a:ext cx="5230368" cy="2834640"/>
          </a:xfrm>
          <a:prstGeom prst="roundRect">
            <a:avLst>
              <a:gd name="adj" fmla="val 2903"/>
            </a:avLst>
          </a:prstGeom>
          <a:solidFill>
            <a:srgbClr val="FBFAF6"/>
          </a:solidFill>
          <a:ln w="9525">
            <a:solidFill>
              <a:srgbClr val="C9C2B4"/>
            </a:solidFill>
            <a:prstDash val="solid"/>
          </a:ln>
        </p:spPr>
      </p:sp>
      <p:sp>
        <p:nvSpPr>
          <p:cNvPr id="5" name="Text 3"/>
          <p:cNvSpPr/>
          <p:nvPr/>
        </p:nvSpPr>
        <p:spPr>
          <a:xfrm>
            <a:off x="1069848" y="2157984"/>
            <a:ext cx="548640" cy="548640"/>
          </a:xfrm>
          <a:prstGeom prst="ellipse">
            <a:avLst/>
          </a:prstGeom>
          <a:solidFill>
            <a:srgbClr val="0F5257"/>
          </a:solidFill>
          <a:ln/>
        </p:spPr>
        <p:txBody>
          <a:bodyPr wrap="square" lIns="0" tIns="0" rIns="0" bIns="0" rtlCol="0" anchor="ctr"/>
          <a:lstStyle/>
          <a:p>
            <a:pPr algn="ctr" indent="0" marL="0">
              <a:buNone/>
            </a:pPr>
            <a:r>
              <a:rPr lang="en-US" sz="1300" b="1" dirty="0">
                <a:solidFill>
                  <a:srgbClr val="FBFAF6"/>
                </a:solidFill>
                <a:latin typeface="Calibri" pitchFamily="34" charset="0"/>
                <a:ea typeface="Calibri" pitchFamily="34" charset="-122"/>
                <a:cs typeface="Calibri" pitchFamily="34" charset="-120"/>
              </a:rPr>
              <a:t>01</a:t>
            </a:r>
            <a:endParaRPr lang="en-US" sz="1300" dirty="0"/>
          </a:p>
        </p:txBody>
      </p:sp>
      <p:sp>
        <p:nvSpPr>
          <p:cNvPr id="6" name="Text 4"/>
          <p:cNvSpPr/>
          <p:nvPr/>
        </p:nvSpPr>
        <p:spPr>
          <a:xfrm>
            <a:off x="1069848" y="2871216"/>
            <a:ext cx="4480560" cy="694944"/>
          </a:xfrm>
          <a:prstGeom prst="rect">
            <a:avLst/>
          </a:prstGeom>
          <a:noFill/>
          <a:ln/>
        </p:spPr>
        <p:txBody>
          <a:bodyPr wrap="square" lIns="0" tIns="0" rIns="0" bIns="0" rtlCol="0" anchor="ctr"/>
          <a:lstStyle/>
          <a:p>
            <a:pPr indent="0" marL="0">
              <a:lnSpc>
                <a:spcPct val="98000"/>
              </a:lnSpc>
              <a:buNone/>
            </a:pPr>
            <a:r>
              <a:rPr lang="en-US" sz="2400" b="1" dirty="0">
                <a:solidFill>
                  <a:srgbClr val="141414"/>
                </a:solidFill>
                <a:latin typeface="Cambria" pitchFamily="34" charset="0"/>
                <a:ea typeface="Cambria" pitchFamily="34" charset="-122"/>
                <a:cs typeface="Cambria" pitchFamily="34" charset="-120"/>
              </a:rPr>
              <a:t>Would you share results publicly?</a:t>
            </a:r>
            <a:endParaRPr lang="en-US" sz="2400" dirty="0"/>
          </a:p>
        </p:txBody>
      </p:sp>
      <p:sp>
        <p:nvSpPr>
          <p:cNvPr id="7" name="Text 5"/>
          <p:cNvSpPr/>
          <p:nvPr/>
        </p:nvSpPr>
        <p:spPr>
          <a:xfrm>
            <a:off x="1069848" y="3657600"/>
            <a:ext cx="4498848" cy="841248"/>
          </a:xfrm>
          <a:prstGeom prst="rect">
            <a:avLst/>
          </a:prstGeom>
          <a:noFill/>
          <a:ln/>
        </p:spPr>
        <p:txBody>
          <a:bodyPr wrap="square" lIns="0" tIns="0" rIns="0" bIns="0" rtlCol="0" anchor="t"/>
          <a:lstStyle/>
          <a:p>
            <a:pPr indent="0" marL="0">
              <a:lnSpc>
                <a:spcPct val="120000"/>
              </a:lnSpc>
              <a:buNone/>
            </a:pPr>
            <a:r>
              <a:rPr lang="en-US" sz="1300" dirty="0">
                <a:solidFill>
                  <a:srgbClr val="3A3A3A"/>
                </a:solidFill>
                <a:latin typeface="Calibri" pitchFamily="34" charset="0"/>
                <a:ea typeface="Calibri" pitchFamily="34" charset="-122"/>
                <a:cs typeface="Calibri" pitchFamily="34" charset="-120"/>
              </a:rPr>
              <a:t>No commitment today — we would just like to know whether a testimonial or a written case study is on the table once the numbers are worth talking about.</a:t>
            </a:r>
            <a:endParaRPr lang="en-US" sz="1300" dirty="0"/>
          </a:p>
        </p:txBody>
      </p:sp>
      <p:sp>
        <p:nvSpPr>
          <p:cNvPr id="8" name="Shape 6"/>
          <p:cNvSpPr/>
          <p:nvPr/>
        </p:nvSpPr>
        <p:spPr>
          <a:xfrm>
            <a:off x="6272784" y="1828800"/>
            <a:ext cx="5230368" cy="2834640"/>
          </a:xfrm>
          <a:prstGeom prst="roundRect">
            <a:avLst>
              <a:gd name="adj" fmla="val 2903"/>
            </a:avLst>
          </a:prstGeom>
          <a:solidFill>
            <a:srgbClr val="141414"/>
          </a:solidFill>
          <a:ln/>
        </p:spPr>
      </p:sp>
      <p:sp>
        <p:nvSpPr>
          <p:cNvPr id="9" name="Text 7"/>
          <p:cNvSpPr/>
          <p:nvPr/>
        </p:nvSpPr>
        <p:spPr>
          <a:xfrm>
            <a:off x="6656832" y="2157984"/>
            <a:ext cx="548640" cy="548640"/>
          </a:xfrm>
          <a:prstGeom prst="ellipse">
            <a:avLst/>
          </a:prstGeom>
          <a:solidFill>
            <a:srgbClr val="0F5257"/>
          </a:solidFill>
          <a:ln/>
        </p:spPr>
        <p:txBody>
          <a:bodyPr wrap="square" lIns="0" tIns="0" rIns="0" bIns="0" rtlCol="0" anchor="ctr"/>
          <a:lstStyle/>
          <a:p>
            <a:pPr algn="ctr" indent="0" marL="0">
              <a:buNone/>
            </a:pPr>
            <a:r>
              <a:rPr lang="en-US" sz="1300" b="1" dirty="0">
                <a:solidFill>
                  <a:srgbClr val="F0EBE0"/>
                </a:solidFill>
                <a:latin typeface="Calibri" pitchFamily="34" charset="0"/>
                <a:ea typeface="Calibri" pitchFamily="34" charset="-122"/>
                <a:cs typeface="Calibri" pitchFamily="34" charset="-120"/>
              </a:rPr>
              <a:t>02</a:t>
            </a:r>
            <a:endParaRPr lang="en-US" sz="1300" dirty="0"/>
          </a:p>
        </p:txBody>
      </p:sp>
      <p:sp>
        <p:nvSpPr>
          <p:cNvPr id="10" name="Text 8"/>
          <p:cNvSpPr/>
          <p:nvPr/>
        </p:nvSpPr>
        <p:spPr>
          <a:xfrm>
            <a:off x="6656832" y="2871216"/>
            <a:ext cx="4480560" cy="694944"/>
          </a:xfrm>
          <a:prstGeom prst="rect">
            <a:avLst/>
          </a:prstGeom>
          <a:noFill/>
          <a:ln/>
        </p:spPr>
        <p:txBody>
          <a:bodyPr wrap="square" lIns="0" tIns="0" rIns="0" bIns="0" rtlCol="0" anchor="ctr"/>
          <a:lstStyle/>
          <a:p>
            <a:pPr indent="0" marL="0">
              <a:lnSpc>
                <a:spcPct val="98000"/>
              </a:lnSpc>
              <a:buNone/>
            </a:pPr>
            <a:r>
              <a:rPr lang="en-US" sz="2400" b="1" dirty="0">
                <a:solidFill>
                  <a:srgbClr val="F0EBE0"/>
                </a:solidFill>
                <a:latin typeface="Cambria" pitchFamily="34" charset="0"/>
                <a:ea typeface="Cambria" pitchFamily="34" charset="-122"/>
                <a:cs typeface="Cambria" pitchFamily="34" charset="-120"/>
              </a:rPr>
              <a:t>What went wrong last time?</a:t>
            </a:r>
            <a:endParaRPr lang="en-US" sz="2400" dirty="0"/>
          </a:p>
        </p:txBody>
      </p:sp>
      <p:sp>
        <p:nvSpPr>
          <p:cNvPr id="11" name="Text 9"/>
          <p:cNvSpPr/>
          <p:nvPr/>
        </p:nvSpPr>
        <p:spPr>
          <a:xfrm>
            <a:off x="6656832" y="3657600"/>
            <a:ext cx="4498848" cy="841248"/>
          </a:xfrm>
          <a:prstGeom prst="rect">
            <a:avLst/>
          </a:prstGeom>
          <a:noFill/>
          <a:ln/>
        </p:spPr>
        <p:txBody>
          <a:bodyPr wrap="square" lIns="0" tIns="0" rIns="0" bIns="0" rtlCol="0" anchor="t"/>
          <a:lstStyle/>
          <a:p>
            <a:pPr indent="0" marL="0">
              <a:lnSpc>
                <a:spcPct val="120000"/>
              </a:lnSpc>
              <a:buNone/>
            </a:pPr>
            <a:r>
              <a:rPr lang="en-US" sz="1300" dirty="0">
                <a:solidFill>
                  <a:srgbClr val="A8A093"/>
                </a:solidFill>
                <a:latin typeface="Calibri" pitchFamily="34" charset="0"/>
                <a:ea typeface="Calibri" pitchFamily="34" charset="-122"/>
                <a:cs typeface="Calibri" pitchFamily="34" charset="-120"/>
              </a:rPr>
              <a:t>If you have worked with another agency before, tell us what frustrated you. We would rather hear it now than repeat someone else's mistake on your account.</a:t>
            </a:r>
            <a:endParaRPr lang="en-US" sz="1300" dirty="0"/>
          </a:p>
        </p:txBody>
      </p:sp>
      <p:sp>
        <p:nvSpPr>
          <p:cNvPr id="12" name="Shape 10"/>
          <p:cNvSpPr/>
          <p:nvPr/>
        </p:nvSpPr>
        <p:spPr>
          <a:xfrm>
            <a:off x="685800" y="4882896"/>
            <a:ext cx="10820095" cy="969264"/>
          </a:xfrm>
          <a:prstGeom prst="roundRect">
            <a:avLst>
              <a:gd name="adj" fmla="val 8491"/>
            </a:avLst>
          </a:prstGeom>
          <a:solidFill>
            <a:srgbClr val="E4EEEC"/>
          </a:solidFill>
          <a:ln w="9525">
            <a:solidFill>
              <a:srgbClr val="9CC2BD"/>
            </a:solidFill>
            <a:prstDash val="solid"/>
          </a:ln>
        </p:spPr>
      </p:sp>
      <p:sp>
        <p:nvSpPr>
          <p:cNvPr id="13" name="Text 11"/>
          <p:cNvSpPr/>
          <p:nvPr/>
        </p:nvSpPr>
        <p:spPr>
          <a:xfrm>
            <a:off x="1069848" y="4882896"/>
            <a:ext cx="10051999" cy="969264"/>
          </a:xfrm>
          <a:prstGeom prst="rect">
            <a:avLst/>
          </a:prstGeom>
          <a:noFill/>
          <a:ln/>
        </p:spPr>
        <p:txBody>
          <a:bodyPr wrap="square" lIns="0" tIns="0" rIns="0" bIns="0" rtlCol="0" anchor="ctr"/>
          <a:lstStyle/>
          <a:p>
            <a:pPr indent="0" marL="0">
              <a:buNone/>
            </a:pPr>
            <a:r>
              <a:rPr lang="en-US" sz="1900" i="1" dirty="0">
                <a:solidFill>
                  <a:srgbClr val="0C4045"/>
                </a:solidFill>
                <a:latin typeface="Cambria" pitchFamily="34" charset="0"/>
                <a:ea typeface="Cambria" pitchFamily="34" charset="-122"/>
                <a:cs typeface="Cambria" pitchFamily="34" charset="-120"/>
              </a:rPr>
              <a:t>We would rather be the last marketing agency you hire than the next one.</a:t>
            </a:r>
            <a:endParaRPr lang="en-US" sz="1900" dirty="0"/>
          </a:p>
        </p:txBody>
      </p:sp>
      <p:sp>
        <p:nvSpPr>
          <p:cNvPr id="14" name="Text 12"/>
          <p:cNvSpPr/>
          <p:nvPr/>
        </p:nvSpPr>
        <p:spPr>
          <a:xfrm>
            <a:off x="685800" y="6327648"/>
            <a:ext cx="5486400" cy="274320"/>
          </a:xfrm>
          <a:prstGeom prst="rect">
            <a:avLst/>
          </a:prstGeom>
          <a:noFill/>
          <a:ln/>
        </p:spPr>
        <p:txBody>
          <a:bodyPr wrap="square" lIns="0" tIns="0" rIns="0" bIns="0" rtlCol="0" anchor="ctr"/>
          <a:lstStyle/>
          <a:p>
            <a:pPr indent="0" marL="0">
              <a:buNone/>
            </a:pPr>
            <a:r>
              <a:rPr lang="en-US" sz="850" spc="160" kern="0" dirty="0">
                <a:solidFill>
                  <a:srgbClr val="9A9080"/>
                </a:solidFill>
                <a:latin typeface="Calibri" pitchFamily="34" charset="0"/>
                <a:ea typeface="Calibri" pitchFamily="34" charset="-122"/>
                <a:cs typeface="Calibri" pitchFamily="34" charset="-120"/>
              </a:rPr>
              <a:t>STAY BOOKED MARKETING  ·  CLIENT KICKOFF</a:t>
            </a:r>
            <a:endParaRPr lang="en-US" sz="850" dirty="0"/>
          </a:p>
        </p:txBody>
      </p:sp>
      <p:sp>
        <p:nvSpPr>
          <p:cNvPr id="15" name="Text 13"/>
          <p:cNvSpPr/>
          <p:nvPr/>
        </p:nvSpPr>
        <p:spPr>
          <a:xfrm>
            <a:off x="10591495" y="6327648"/>
            <a:ext cx="914400" cy="274320"/>
          </a:xfrm>
          <a:prstGeom prst="rect">
            <a:avLst/>
          </a:prstGeom>
          <a:noFill/>
          <a:ln/>
        </p:spPr>
        <p:txBody>
          <a:bodyPr wrap="square" lIns="0" tIns="0" rIns="0" bIns="0" rtlCol="0" anchor="ctr"/>
          <a:lstStyle/>
          <a:p>
            <a:pPr algn="r" indent="0" marL="0">
              <a:buNone/>
            </a:pPr>
            <a:r>
              <a:rPr lang="en-US" sz="850" spc="160" kern="0" dirty="0">
                <a:solidFill>
                  <a:srgbClr val="9A9080"/>
                </a:solidFill>
                <a:latin typeface="Calibri" pitchFamily="34" charset="0"/>
                <a:ea typeface="Calibri" pitchFamily="34" charset="-122"/>
                <a:cs typeface="Calibri" pitchFamily="34" charset="-120"/>
              </a:rPr>
              <a:t>15</a:t>
            </a:r>
            <a:endParaRPr lang="en-US" sz="850" dirty="0"/>
          </a:p>
        </p:txBody>
      </p:sp>
      <p:pic>
        <p:nvPicPr>
          <p:cNvPr id="16" name="Image 0" descr="assets/logo_black.png">    </p:cNvPr>
          <p:cNvPicPr>
            <a:picLocks noChangeAspect="1"/>
          </p:cNvPicPr>
          <p:nvPr/>
        </p:nvPicPr>
        <p:blipFill>
          <a:blip r:embed="rId1">
            <a:alphaModFix amt="22000"/>
          </a:blip>
          <a:stretch>
            <a:fillRect/>
          </a:stretch>
        </p:blipFill>
        <p:spPr>
          <a:xfrm>
            <a:off x="10847527" y="384048"/>
            <a:ext cx="658368" cy="20939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414"/>
        </a:solidFill>
      </p:bgPr>
    </p:bg>
    <p:spTree>
      <p:nvGrpSpPr>
        <p:cNvPr id="1" name=""/>
        <p:cNvGrpSpPr/>
        <p:nvPr/>
      </p:nvGrpSpPr>
      <p:grpSpPr>
        <a:xfrm>
          <a:off x="0" y="0"/>
          <a:ext cx="0" cy="0"/>
          <a:chOff x="0" y="0"/>
          <a:chExt cx="0" cy="0"/>
        </a:xfrm>
      </p:grpSpPr>
      <p:sp>
        <p:nvSpPr>
          <p:cNvPr id="2" name="Shape 0"/>
          <p:cNvSpPr/>
          <p:nvPr/>
        </p:nvSpPr>
        <p:spPr>
          <a:xfrm>
            <a:off x="8366760" y="1051560"/>
            <a:ext cx="3383280" cy="3383280"/>
          </a:xfrm>
          <a:prstGeom prst="ellipse">
            <a:avLst/>
          </a:prstGeom>
          <a:ln w="19050">
            <a:solidFill>
              <a:srgbClr val="2E2510"/>
            </a:solidFill>
            <a:prstDash val="solid"/>
          </a:ln>
        </p:spPr>
      </p:sp>
      <p:sp>
        <p:nvSpPr>
          <p:cNvPr id="3" name="Text 1"/>
          <p:cNvSpPr/>
          <p:nvPr/>
        </p:nvSpPr>
        <p:spPr>
          <a:xfrm>
            <a:off x="8366760" y="1051560"/>
            <a:ext cx="3383280" cy="3383280"/>
          </a:xfrm>
          <a:prstGeom prst="rect">
            <a:avLst/>
          </a:prstGeom>
          <a:noFill/>
          <a:ln/>
        </p:spPr>
        <p:txBody>
          <a:bodyPr wrap="square" lIns="0" tIns="0" rIns="0" bIns="0" rtlCol="0" anchor="ctr"/>
          <a:lstStyle/>
          <a:p>
            <a:pPr algn="ctr" indent="0" marL="0">
              <a:buNone/>
            </a:pPr>
            <a:r>
              <a:rPr lang="en-US" sz="12800" b="1" dirty="0">
                <a:solidFill>
                  <a:srgbClr val="2E2510"/>
                </a:solidFill>
                <a:latin typeface="Cambria" pitchFamily="34" charset="0"/>
                <a:ea typeface="Cambria" pitchFamily="34" charset="-122"/>
                <a:cs typeface="Cambria" pitchFamily="34" charset="-120"/>
              </a:rPr>
              <a:t>03</a:t>
            </a:r>
            <a:endParaRPr lang="en-US" sz="12800" dirty="0"/>
          </a:p>
        </p:txBody>
      </p:sp>
      <p:sp>
        <p:nvSpPr>
          <p:cNvPr id="4" name="Text 2"/>
          <p:cNvSpPr/>
          <p:nvPr/>
        </p:nvSpPr>
        <p:spPr>
          <a:xfrm>
            <a:off x="685800" y="1417320"/>
            <a:ext cx="6400800" cy="274320"/>
          </a:xfrm>
          <a:prstGeom prst="rect">
            <a:avLst/>
          </a:prstGeom>
          <a:noFill/>
          <a:ln/>
        </p:spPr>
        <p:txBody>
          <a:bodyPr wrap="square" lIns="0" tIns="0" rIns="0" bIns="0" rtlCol="0" anchor="ctr"/>
          <a:lstStyle/>
          <a:p>
            <a:pPr indent="0" marL="0">
              <a:buNone/>
            </a:pPr>
            <a:r>
              <a:rPr lang="en-US" sz="1100" b="1" spc="320" kern="0" dirty="0">
                <a:solidFill>
                  <a:srgbClr val="C9A94E"/>
                </a:solidFill>
                <a:latin typeface="Calibri" pitchFamily="34" charset="0"/>
                <a:ea typeface="Calibri" pitchFamily="34" charset="-122"/>
                <a:cs typeface="Calibri" pitchFamily="34" charset="-120"/>
              </a:rPr>
              <a:t>PART THREE OF THREE</a:t>
            </a:r>
            <a:endParaRPr lang="en-US" sz="1100" dirty="0"/>
          </a:p>
        </p:txBody>
      </p:sp>
      <p:sp>
        <p:nvSpPr>
          <p:cNvPr id="5" name="Text 3"/>
          <p:cNvSpPr/>
          <p:nvPr/>
        </p:nvSpPr>
        <p:spPr>
          <a:xfrm>
            <a:off x="685800" y="1847088"/>
            <a:ext cx="713232" cy="713232"/>
          </a:xfrm>
          <a:prstGeom prst="ellipse">
            <a:avLst/>
          </a:prstGeom>
          <a:solidFill>
            <a:srgbClr val="8A6D1E"/>
          </a:solidFill>
          <a:ln/>
        </p:spPr>
        <p:txBody>
          <a:bodyPr wrap="square" lIns="0" tIns="0" rIns="0" bIns="0" rtlCol="0" anchor="ctr"/>
          <a:lstStyle/>
          <a:p>
            <a:pPr algn="ctr" indent="0" marL="0">
              <a:buNone/>
            </a:pPr>
            <a:r>
              <a:rPr lang="en-US" sz="1700" b="1" dirty="0">
                <a:solidFill>
                  <a:srgbClr val="F0EBE0"/>
                </a:solidFill>
                <a:latin typeface="Calibri" pitchFamily="34" charset="0"/>
                <a:ea typeface="Calibri" pitchFamily="34" charset="-122"/>
                <a:cs typeface="Calibri" pitchFamily="34" charset="-120"/>
              </a:rPr>
              <a:t>03</a:t>
            </a:r>
            <a:endParaRPr lang="en-US" sz="1700" dirty="0"/>
          </a:p>
        </p:txBody>
      </p:sp>
      <p:sp>
        <p:nvSpPr>
          <p:cNvPr id="6" name="Text 4"/>
          <p:cNvSpPr/>
          <p:nvPr/>
        </p:nvSpPr>
        <p:spPr>
          <a:xfrm>
            <a:off x="1618488" y="1847088"/>
            <a:ext cx="6675120" cy="713232"/>
          </a:xfrm>
          <a:prstGeom prst="rect">
            <a:avLst/>
          </a:prstGeom>
          <a:noFill/>
          <a:ln/>
        </p:spPr>
        <p:txBody>
          <a:bodyPr wrap="square" lIns="0" tIns="0" rIns="0" bIns="0" rtlCol="0" anchor="ctr"/>
          <a:lstStyle/>
          <a:p>
            <a:pPr indent="0" marL="0">
              <a:buNone/>
            </a:pPr>
            <a:r>
              <a:rPr lang="en-US" sz="3400" b="1" dirty="0">
                <a:solidFill>
                  <a:srgbClr val="F0EBE0"/>
                </a:solidFill>
                <a:latin typeface="Cambria" pitchFamily="34" charset="0"/>
                <a:ea typeface="Cambria" pitchFamily="34" charset="-122"/>
                <a:cs typeface="Cambria" pitchFamily="34" charset="-120"/>
              </a:rPr>
              <a:t>Compliance &amp; Legal</a:t>
            </a:r>
            <a:endParaRPr lang="en-US" sz="3400" dirty="0"/>
          </a:p>
        </p:txBody>
      </p:sp>
      <p:sp>
        <p:nvSpPr>
          <p:cNvPr id="7" name="Text 5"/>
          <p:cNvSpPr/>
          <p:nvPr/>
        </p:nvSpPr>
        <p:spPr>
          <a:xfrm>
            <a:off x="685800" y="2761488"/>
            <a:ext cx="7680960" cy="365760"/>
          </a:xfrm>
          <a:prstGeom prst="rect">
            <a:avLst/>
          </a:prstGeom>
          <a:noFill/>
          <a:ln/>
        </p:spPr>
        <p:txBody>
          <a:bodyPr wrap="square" lIns="0" tIns="0" rIns="0" bIns="0" rtlCol="0" anchor="ctr"/>
          <a:lstStyle/>
          <a:p>
            <a:pPr indent="0" marL="0">
              <a:buNone/>
            </a:pPr>
            <a:r>
              <a:rPr lang="en-US" sz="1900" i="1" dirty="0">
                <a:solidFill>
                  <a:srgbClr val="C9A94E"/>
                </a:solidFill>
                <a:latin typeface="Cambria" pitchFamily="34" charset="0"/>
                <a:ea typeface="Cambria" pitchFamily="34" charset="-122"/>
                <a:cs typeface="Cambria" pitchFamily="34" charset="-120"/>
              </a:rPr>
              <a:t>Insurance, HIPAA, BAA, and Terms of Service</a:t>
            </a:r>
            <a:endParaRPr lang="en-US" sz="1900" dirty="0"/>
          </a:p>
        </p:txBody>
      </p:sp>
      <p:sp>
        <p:nvSpPr>
          <p:cNvPr id="8" name="Text 6"/>
          <p:cNvSpPr/>
          <p:nvPr/>
        </p:nvSpPr>
        <p:spPr>
          <a:xfrm>
            <a:off x="685800" y="3273552"/>
            <a:ext cx="7132320" cy="603504"/>
          </a:xfrm>
          <a:prstGeom prst="rect">
            <a:avLst/>
          </a:prstGeom>
          <a:noFill/>
          <a:ln/>
        </p:spPr>
        <p:txBody>
          <a:bodyPr wrap="square" lIns="0" tIns="0" rIns="0" bIns="0" rtlCol="0" anchor="t"/>
          <a:lstStyle/>
          <a:p>
            <a:pPr indent="0" marL="0">
              <a:lnSpc>
                <a:spcPct val="120000"/>
              </a:lnSpc>
              <a:buNone/>
            </a:pPr>
            <a:r>
              <a:rPr lang="en-US" sz="1350" dirty="0">
                <a:solidFill>
                  <a:srgbClr val="A8A093"/>
                </a:solidFill>
                <a:latin typeface="Calibri" pitchFamily="34" charset="0"/>
                <a:ea typeface="Calibri" pitchFamily="34" charset="-122"/>
                <a:cs typeface="Calibri" pitchFamily="34" charset="-120"/>
              </a:rPr>
              <a:t>The guardrails. This is a psychiatric practice, so the standard is higher than the legal minimum — here is exactly how patient information is handled.</a:t>
            </a:r>
            <a:endParaRPr lang="en-US" sz="1350" dirty="0"/>
          </a:p>
        </p:txBody>
      </p:sp>
      <p:sp>
        <p:nvSpPr>
          <p:cNvPr id="9" name="Shape 7"/>
          <p:cNvSpPr/>
          <p:nvPr/>
        </p:nvSpPr>
        <p:spPr>
          <a:xfrm>
            <a:off x="685800" y="4617720"/>
            <a:ext cx="3454298" cy="868680"/>
          </a:xfrm>
          <a:prstGeom prst="roundRect">
            <a:avLst>
              <a:gd name="adj" fmla="val 9474"/>
            </a:avLst>
          </a:prstGeom>
          <a:solidFill>
            <a:srgbClr val="201E1A"/>
          </a:solidFill>
          <a:ln w="9525">
            <a:solidFill>
              <a:srgbClr val="35302A"/>
            </a:solidFill>
            <a:prstDash val="solid"/>
          </a:ln>
        </p:spPr>
      </p:sp>
      <p:sp>
        <p:nvSpPr>
          <p:cNvPr id="10" name="Text 8"/>
          <p:cNvSpPr/>
          <p:nvPr/>
        </p:nvSpPr>
        <p:spPr>
          <a:xfrm>
            <a:off x="905256" y="4754880"/>
            <a:ext cx="914400" cy="201168"/>
          </a:xfrm>
          <a:prstGeom prst="rect">
            <a:avLst/>
          </a:prstGeom>
          <a:noFill/>
          <a:ln/>
        </p:spPr>
        <p:txBody>
          <a:bodyPr wrap="square" lIns="0" tIns="0" rIns="0" bIns="0" rtlCol="0" anchor="ctr"/>
          <a:lstStyle/>
          <a:p>
            <a:pPr indent="0" marL="0">
              <a:buNone/>
            </a:pPr>
            <a:r>
              <a:rPr lang="en-US" sz="900" b="1" spc="160" kern="0" dirty="0">
                <a:solidFill>
                  <a:srgbClr val="C9A94E"/>
                </a:solidFill>
                <a:latin typeface="Calibri" pitchFamily="34" charset="0"/>
                <a:ea typeface="Calibri" pitchFamily="34" charset="-122"/>
                <a:cs typeface="Calibri" pitchFamily="34" charset="-120"/>
              </a:rPr>
              <a:t>01</a:t>
            </a:r>
            <a:endParaRPr lang="en-US" sz="900" dirty="0"/>
          </a:p>
        </p:txBody>
      </p:sp>
      <p:sp>
        <p:nvSpPr>
          <p:cNvPr id="11" name="Text 9"/>
          <p:cNvSpPr/>
          <p:nvPr/>
        </p:nvSpPr>
        <p:spPr>
          <a:xfrm>
            <a:off x="905256" y="4974336"/>
            <a:ext cx="3015386" cy="402336"/>
          </a:xfrm>
          <a:prstGeom prst="rect">
            <a:avLst/>
          </a:prstGeom>
          <a:noFill/>
          <a:ln/>
        </p:spPr>
        <p:txBody>
          <a:bodyPr wrap="square" lIns="0" tIns="0" rIns="0" bIns="0" rtlCol="0" anchor="ctr"/>
          <a:lstStyle/>
          <a:p>
            <a:pPr indent="0" marL="0">
              <a:buNone/>
            </a:pPr>
            <a:r>
              <a:rPr lang="en-US" sz="1250" b="1" dirty="0">
                <a:solidFill>
                  <a:srgbClr val="F0EBE0"/>
                </a:solidFill>
                <a:latin typeface="Calibri" pitchFamily="34" charset="0"/>
                <a:ea typeface="Calibri" pitchFamily="34" charset="-122"/>
                <a:cs typeface="Calibri" pitchFamily="34" charset="-120"/>
              </a:rPr>
              <a:t>Insurance &amp; Eligibility</a:t>
            </a:r>
            <a:endParaRPr lang="en-US" sz="1250" dirty="0"/>
          </a:p>
        </p:txBody>
      </p:sp>
      <p:sp>
        <p:nvSpPr>
          <p:cNvPr id="12" name="Shape 10"/>
          <p:cNvSpPr/>
          <p:nvPr/>
        </p:nvSpPr>
        <p:spPr>
          <a:xfrm>
            <a:off x="4368698" y="4617720"/>
            <a:ext cx="3454298" cy="868680"/>
          </a:xfrm>
          <a:prstGeom prst="roundRect">
            <a:avLst>
              <a:gd name="adj" fmla="val 9474"/>
            </a:avLst>
          </a:prstGeom>
          <a:solidFill>
            <a:srgbClr val="201E1A"/>
          </a:solidFill>
          <a:ln w="9525">
            <a:solidFill>
              <a:srgbClr val="35302A"/>
            </a:solidFill>
            <a:prstDash val="solid"/>
          </a:ln>
        </p:spPr>
      </p:sp>
      <p:sp>
        <p:nvSpPr>
          <p:cNvPr id="13" name="Text 11"/>
          <p:cNvSpPr/>
          <p:nvPr/>
        </p:nvSpPr>
        <p:spPr>
          <a:xfrm>
            <a:off x="4588154" y="4754880"/>
            <a:ext cx="914400" cy="201168"/>
          </a:xfrm>
          <a:prstGeom prst="rect">
            <a:avLst/>
          </a:prstGeom>
          <a:noFill/>
          <a:ln/>
        </p:spPr>
        <p:txBody>
          <a:bodyPr wrap="square" lIns="0" tIns="0" rIns="0" bIns="0" rtlCol="0" anchor="ctr"/>
          <a:lstStyle/>
          <a:p>
            <a:pPr indent="0" marL="0">
              <a:buNone/>
            </a:pPr>
            <a:r>
              <a:rPr lang="en-US" sz="900" b="1" spc="160" kern="0" dirty="0">
                <a:solidFill>
                  <a:srgbClr val="C9A94E"/>
                </a:solidFill>
                <a:latin typeface="Calibri" pitchFamily="34" charset="0"/>
                <a:ea typeface="Calibri" pitchFamily="34" charset="-122"/>
                <a:cs typeface="Calibri" pitchFamily="34" charset="-120"/>
              </a:rPr>
              <a:t>02</a:t>
            </a:r>
            <a:endParaRPr lang="en-US" sz="900" dirty="0"/>
          </a:p>
        </p:txBody>
      </p:sp>
      <p:sp>
        <p:nvSpPr>
          <p:cNvPr id="14" name="Text 12"/>
          <p:cNvSpPr/>
          <p:nvPr/>
        </p:nvSpPr>
        <p:spPr>
          <a:xfrm>
            <a:off x="4588154" y="4974336"/>
            <a:ext cx="3015386" cy="402336"/>
          </a:xfrm>
          <a:prstGeom prst="rect">
            <a:avLst/>
          </a:prstGeom>
          <a:noFill/>
          <a:ln/>
        </p:spPr>
        <p:txBody>
          <a:bodyPr wrap="square" lIns="0" tIns="0" rIns="0" bIns="0" rtlCol="0" anchor="ctr"/>
          <a:lstStyle/>
          <a:p>
            <a:pPr indent="0" marL="0">
              <a:buNone/>
            </a:pPr>
            <a:r>
              <a:rPr lang="en-US" sz="1250" b="1" dirty="0">
                <a:solidFill>
                  <a:srgbClr val="F0EBE0"/>
                </a:solidFill>
                <a:latin typeface="Calibri" pitchFamily="34" charset="0"/>
                <a:ea typeface="Calibri" pitchFamily="34" charset="-122"/>
                <a:cs typeface="Calibri" pitchFamily="34" charset="-120"/>
              </a:rPr>
              <a:t>HIPAA &amp; Data Handling</a:t>
            </a:r>
            <a:endParaRPr lang="en-US" sz="1250" dirty="0"/>
          </a:p>
        </p:txBody>
      </p:sp>
      <p:sp>
        <p:nvSpPr>
          <p:cNvPr id="15" name="Shape 13"/>
          <p:cNvSpPr/>
          <p:nvPr/>
        </p:nvSpPr>
        <p:spPr>
          <a:xfrm>
            <a:off x="8051597" y="4617720"/>
            <a:ext cx="3454298" cy="868680"/>
          </a:xfrm>
          <a:prstGeom prst="roundRect">
            <a:avLst>
              <a:gd name="adj" fmla="val 9474"/>
            </a:avLst>
          </a:prstGeom>
          <a:solidFill>
            <a:srgbClr val="201E1A"/>
          </a:solidFill>
          <a:ln w="9525">
            <a:solidFill>
              <a:srgbClr val="35302A"/>
            </a:solidFill>
            <a:prstDash val="solid"/>
          </a:ln>
        </p:spPr>
      </p:sp>
      <p:sp>
        <p:nvSpPr>
          <p:cNvPr id="16" name="Text 14"/>
          <p:cNvSpPr/>
          <p:nvPr/>
        </p:nvSpPr>
        <p:spPr>
          <a:xfrm>
            <a:off x="8271053" y="4754880"/>
            <a:ext cx="914400" cy="201168"/>
          </a:xfrm>
          <a:prstGeom prst="rect">
            <a:avLst/>
          </a:prstGeom>
          <a:noFill/>
          <a:ln/>
        </p:spPr>
        <p:txBody>
          <a:bodyPr wrap="square" lIns="0" tIns="0" rIns="0" bIns="0" rtlCol="0" anchor="ctr"/>
          <a:lstStyle/>
          <a:p>
            <a:pPr indent="0" marL="0">
              <a:buNone/>
            </a:pPr>
            <a:r>
              <a:rPr lang="en-US" sz="900" b="1" spc="160" kern="0" dirty="0">
                <a:solidFill>
                  <a:srgbClr val="C9A94E"/>
                </a:solidFill>
                <a:latin typeface="Calibri" pitchFamily="34" charset="0"/>
                <a:ea typeface="Calibri" pitchFamily="34" charset="-122"/>
                <a:cs typeface="Calibri" pitchFamily="34" charset="-120"/>
              </a:rPr>
              <a:t>03</a:t>
            </a:r>
            <a:endParaRPr lang="en-US" sz="900" dirty="0"/>
          </a:p>
        </p:txBody>
      </p:sp>
      <p:sp>
        <p:nvSpPr>
          <p:cNvPr id="17" name="Text 15"/>
          <p:cNvSpPr/>
          <p:nvPr/>
        </p:nvSpPr>
        <p:spPr>
          <a:xfrm>
            <a:off x="8271053" y="4974336"/>
            <a:ext cx="3015386" cy="402336"/>
          </a:xfrm>
          <a:prstGeom prst="rect">
            <a:avLst/>
          </a:prstGeom>
          <a:noFill/>
          <a:ln/>
        </p:spPr>
        <p:txBody>
          <a:bodyPr wrap="square" lIns="0" tIns="0" rIns="0" bIns="0" rtlCol="0" anchor="ctr"/>
          <a:lstStyle/>
          <a:p>
            <a:pPr indent="0" marL="0">
              <a:buNone/>
            </a:pPr>
            <a:r>
              <a:rPr lang="en-US" sz="1250" b="1" dirty="0">
                <a:solidFill>
                  <a:srgbClr val="F0EBE0"/>
                </a:solidFill>
                <a:latin typeface="Calibri" pitchFamily="34" charset="0"/>
                <a:ea typeface="Calibri" pitchFamily="34" charset="-122"/>
                <a:cs typeface="Calibri" pitchFamily="34" charset="-120"/>
              </a:rPr>
              <a:t>Agreements</a:t>
            </a:r>
            <a:endParaRPr lang="en-US" sz="1250" dirty="0"/>
          </a:p>
        </p:txBody>
      </p:sp>
      <p:sp>
        <p:nvSpPr>
          <p:cNvPr id="18" name="Text 16"/>
          <p:cNvSpPr/>
          <p:nvPr/>
        </p:nvSpPr>
        <p:spPr>
          <a:xfrm>
            <a:off x="685800" y="6327648"/>
            <a:ext cx="5486400" cy="274320"/>
          </a:xfrm>
          <a:prstGeom prst="rect">
            <a:avLst/>
          </a:prstGeom>
          <a:noFill/>
          <a:ln/>
        </p:spPr>
        <p:txBody>
          <a:bodyPr wrap="square" lIns="0" tIns="0" rIns="0" bIns="0" rtlCol="0" anchor="ctr"/>
          <a:lstStyle/>
          <a:p>
            <a:pPr indent="0" marL="0">
              <a:buNone/>
            </a:pPr>
            <a:r>
              <a:rPr lang="en-US" sz="850" spc="160" kern="0" dirty="0">
                <a:solidFill>
                  <a:srgbClr val="5C554A"/>
                </a:solidFill>
                <a:latin typeface="Calibri" pitchFamily="34" charset="0"/>
                <a:ea typeface="Calibri" pitchFamily="34" charset="-122"/>
                <a:cs typeface="Calibri" pitchFamily="34" charset="-120"/>
              </a:rPr>
              <a:t>STAY BOOKED MARKETING  ·  CLIENT KICKOFF</a:t>
            </a:r>
            <a:endParaRPr lang="en-US" sz="850" dirty="0"/>
          </a:p>
        </p:txBody>
      </p:sp>
      <p:sp>
        <p:nvSpPr>
          <p:cNvPr id="19" name="Text 17"/>
          <p:cNvSpPr/>
          <p:nvPr/>
        </p:nvSpPr>
        <p:spPr>
          <a:xfrm>
            <a:off x="10591495" y="6327648"/>
            <a:ext cx="914400" cy="274320"/>
          </a:xfrm>
          <a:prstGeom prst="rect">
            <a:avLst/>
          </a:prstGeom>
          <a:noFill/>
          <a:ln/>
        </p:spPr>
        <p:txBody>
          <a:bodyPr wrap="square" lIns="0" tIns="0" rIns="0" bIns="0" rtlCol="0" anchor="ctr"/>
          <a:lstStyle/>
          <a:p>
            <a:pPr algn="r" indent="0" marL="0">
              <a:buNone/>
            </a:pPr>
            <a:r>
              <a:rPr lang="en-US" sz="850" spc="160" kern="0" dirty="0">
                <a:solidFill>
                  <a:srgbClr val="5C554A"/>
                </a:solidFill>
                <a:latin typeface="Calibri" pitchFamily="34" charset="0"/>
                <a:ea typeface="Calibri" pitchFamily="34" charset="-122"/>
                <a:cs typeface="Calibri" pitchFamily="34" charset="-120"/>
              </a:rPr>
              <a:t>16</a:t>
            </a:r>
            <a:endParaRPr lang="en-US" sz="850" dirty="0"/>
          </a:p>
        </p:txBody>
      </p:sp>
      <p:pic>
        <p:nvPicPr>
          <p:cNvPr id="20" name="Image 0" descr="assets/logo_cream.png">    </p:cNvPr>
          <p:cNvPicPr>
            <a:picLocks noChangeAspect="1"/>
          </p:cNvPicPr>
          <p:nvPr/>
        </p:nvPicPr>
        <p:blipFill>
          <a:blip r:embed="rId1">
            <a:alphaModFix amt="45000"/>
          </a:blip>
          <a:stretch>
            <a:fillRect/>
          </a:stretch>
        </p:blipFill>
        <p:spPr>
          <a:xfrm>
            <a:off x="10847527" y="384048"/>
            <a:ext cx="658368" cy="20939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EBE0"/>
        </a:solidFill>
      </p:bgPr>
    </p:bg>
    <p:spTree>
      <p:nvGrpSpPr>
        <p:cNvPr id="1" name=""/>
        <p:cNvGrpSpPr/>
        <p:nvPr/>
      </p:nvGrpSpPr>
      <p:grpSpPr>
        <a:xfrm>
          <a:off x="0" y="0"/>
          <a:ext cx="0" cy="0"/>
          <a:chOff x="0" y="0"/>
          <a:chExt cx="0" cy="0"/>
        </a:xfrm>
      </p:grpSpPr>
      <p:sp>
        <p:nvSpPr>
          <p:cNvPr id="2" name="Text 0"/>
          <p:cNvSpPr/>
          <p:nvPr/>
        </p:nvSpPr>
        <p:spPr>
          <a:xfrm>
            <a:off x="685800" y="566928"/>
            <a:ext cx="7772400" cy="256032"/>
          </a:xfrm>
          <a:prstGeom prst="rect">
            <a:avLst/>
          </a:prstGeom>
          <a:noFill/>
          <a:ln/>
        </p:spPr>
        <p:txBody>
          <a:bodyPr wrap="square" lIns="0" tIns="0" rIns="0" bIns="0" rtlCol="0" anchor="ctr"/>
          <a:lstStyle/>
          <a:p>
            <a:pPr indent="0" marL="0">
              <a:buNone/>
            </a:pPr>
            <a:r>
              <a:rPr lang="en-US" sz="1050" b="1" spc="260" kern="0" dirty="0">
                <a:solidFill>
                  <a:srgbClr val="8A6D1E"/>
                </a:solidFill>
                <a:latin typeface="Calibri" pitchFamily="34" charset="0"/>
                <a:ea typeface="Calibri" pitchFamily="34" charset="-122"/>
                <a:cs typeface="Calibri" pitchFamily="34" charset="-120"/>
              </a:rPr>
              <a:t>INSURANCE &amp; ELIGIBILITY</a:t>
            </a:r>
            <a:endParaRPr lang="en-US" sz="1050" dirty="0"/>
          </a:p>
        </p:txBody>
      </p:sp>
      <p:sp>
        <p:nvSpPr>
          <p:cNvPr id="3" name="Text 1"/>
          <p:cNvSpPr/>
          <p:nvPr/>
        </p:nvSpPr>
        <p:spPr>
          <a:xfrm>
            <a:off x="685800" y="868680"/>
            <a:ext cx="10058400" cy="658368"/>
          </a:xfrm>
          <a:prstGeom prst="rect">
            <a:avLst/>
          </a:prstGeom>
          <a:noFill/>
          <a:ln/>
        </p:spPr>
        <p:txBody>
          <a:bodyPr wrap="square" lIns="0" tIns="0" rIns="0" bIns="0" rtlCol="0" anchor="ctr"/>
          <a:lstStyle/>
          <a:p>
            <a:pPr indent="0" marL="0">
              <a:buNone/>
            </a:pPr>
            <a:r>
              <a:rPr lang="en-US" sz="3400" b="1" dirty="0">
                <a:solidFill>
                  <a:srgbClr val="141414"/>
                </a:solidFill>
                <a:latin typeface="Cambria" pitchFamily="34" charset="0"/>
                <a:ea typeface="Cambria" pitchFamily="34" charset="-122"/>
                <a:cs typeface="Cambria" pitchFamily="34" charset="-120"/>
              </a:rPr>
              <a:t>Before we target anyone</a:t>
            </a:r>
            <a:endParaRPr lang="en-US" sz="3400" dirty="0"/>
          </a:p>
        </p:txBody>
      </p:sp>
      <p:sp>
        <p:nvSpPr>
          <p:cNvPr id="4" name="Text 2"/>
          <p:cNvSpPr/>
          <p:nvPr/>
        </p:nvSpPr>
        <p:spPr>
          <a:xfrm>
            <a:off x="685800" y="1572768"/>
            <a:ext cx="9509760" cy="292608"/>
          </a:xfrm>
          <a:prstGeom prst="rect">
            <a:avLst/>
          </a:prstGeom>
          <a:noFill/>
          <a:ln/>
        </p:spPr>
        <p:txBody>
          <a:bodyPr wrap="square" lIns="0" tIns="0" rIns="0" bIns="0" rtlCol="0" anchor="ctr"/>
          <a:lstStyle/>
          <a:p>
            <a:pPr indent="0" marL="0">
              <a:buNone/>
            </a:pPr>
            <a:r>
              <a:rPr lang="en-US" sz="1350" dirty="0">
                <a:solidFill>
                  <a:srgbClr val="6E6656"/>
                </a:solidFill>
                <a:latin typeface="Calibri" pitchFamily="34" charset="0"/>
                <a:ea typeface="Calibri" pitchFamily="34" charset="-122"/>
                <a:cs typeface="Calibri" pitchFamily="34" charset="-120"/>
              </a:rPr>
              <a:t>These two answers decide who the ads reach — and they define what counts toward the guarantee.</a:t>
            </a:r>
            <a:endParaRPr lang="en-US" sz="1350" dirty="0"/>
          </a:p>
        </p:txBody>
      </p:sp>
      <p:sp>
        <p:nvSpPr>
          <p:cNvPr id="5" name="Shape 3"/>
          <p:cNvSpPr/>
          <p:nvPr/>
        </p:nvSpPr>
        <p:spPr>
          <a:xfrm>
            <a:off x="685800" y="2103120"/>
            <a:ext cx="4709160" cy="1325880"/>
          </a:xfrm>
          <a:prstGeom prst="roundRect">
            <a:avLst>
              <a:gd name="adj" fmla="val 6207"/>
            </a:avLst>
          </a:prstGeom>
          <a:solidFill>
            <a:srgbClr val="FBFAF6"/>
          </a:solidFill>
          <a:ln w="9525">
            <a:solidFill>
              <a:srgbClr val="C9C2B4"/>
            </a:solidFill>
            <a:prstDash val="solid"/>
          </a:ln>
        </p:spPr>
      </p:sp>
      <p:sp>
        <p:nvSpPr>
          <p:cNvPr id="6" name="Text 4"/>
          <p:cNvSpPr/>
          <p:nvPr/>
        </p:nvSpPr>
        <p:spPr>
          <a:xfrm>
            <a:off x="978408" y="2377440"/>
            <a:ext cx="457200" cy="457200"/>
          </a:xfrm>
          <a:prstGeom prst="ellipse">
            <a:avLst/>
          </a:prstGeom>
          <a:solidFill>
            <a:srgbClr val="8A6D1E"/>
          </a:solidFill>
          <a:ln/>
        </p:spPr>
        <p:txBody>
          <a:bodyPr wrap="square" lIns="0" tIns="0" rIns="0" bIns="0" rtlCol="0" anchor="ctr"/>
          <a:lstStyle/>
          <a:p>
            <a:pPr algn="ctr" indent="0" marL="0">
              <a:buNone/>
            </a:pPr>
            <a:r>
              <a:rPr lang="en-US" sz="1200" b="1" dirty="0">
                <a:solidFill>
                  <a:srgbClr val="FBFAF6"/>
                </a:solidFill>
                <a:latin typeface="Calibri" pitchFamily="34" charset="0"/>
                <a:ea typeface="Calibri" pitchFamily="34" charset="-122"/>
                <a:cs typeface="Calibri" pitchFamily="34" charset="-120"/>
              </a:rPr>
              <a:t>01</a:t>
            </a:r>
            <a:endParaRPr lang="en-US" sz="1200" dirty="0"/>
          </a:p>
        </p:txBody>
      </p:sp>
      <p:sp>
        <p:nvSpPr>
          <p:cNvPr id="7" name="Text 5"/>
          <p:cNvSpPr/>
          <p:nvPr/>
        </p:nvSpPr>
        <p:spPr>
          <a:xfrm>
            <a:off x="1563624" y="2377440"/>
            <a:ext cx="3566160" cy="457200"/>
          </a:xfrm>
          <a:prstGeom prst="rect">
            <a:avLst/>
          </a:prstGeom>
          <a:noFill/>
          <a:ln/>
        </p:spPr>
        <p:txBody>
          <a:bodyPr wrap="square" lIns="0" tIns="0" rIns="0" bIns="0" rtlCol="0" anchor="ctr"/>
          <a:lstStyle/>
          <a:p>
            <a:pPr indent="0" marL="0">
              <a:buNone/>
            </a:pPr>
            <a:r>
              <a:rPr lang="en-US" sz="2000" b="1" dirty="0">
                <a:solidFill>
                  <a:srgbClr val="141414"/>
                </a:solidFill>
                <a:latin typeface="Cambria" pitchFamily="34" charset="0"/>
                <a:ea typeface="Cambria" pitchFamily="34" charset="-122"/>
                <a:cs typeface="Cambria" pitchFamily="34" charset="-120"/>
              </a:rPr>
              <a:t>Accepted insurance</a:t>
            </a:r>
            <a:endParaRPr lang="en-US" sz="2000" dirty="0"/>
          </a:p>
        </p:txBody>
      </p:sp>
      <p:sp>
        <p:nvSpPr>
          <p:cNvPr id="8" name="Text 6"/>
          <p:cNvSpPr/>
          <p:nvPr/>
        </p:nvSpPr>
        <p:spPr>
          <a:xfrm>
            <a:off x="978408" y="2926080"/>
            <a:ext cx="4123944" cy="457200"/>
          </a:xfrm>
          <a:prstGeom prst="rect">
            <a:avLst/>
          </a:prstGeom>
          <a:noFill/>
          <a:ln/>
        </p:spPr>
        <p:txBody>
          <a:bodyPr wrap="square" lIns="0" tIns="0" rIns="0" bIns="0" rtlCol="0" anchor="t"/>
          <a:lstStyle/>
          <a:p>
            <a:pPr indent="0" marL="0">
              <a:lnSpc>
                <a:spcPct val="115000"/>
              </a:lnSpc>
              <a:buNone/>
            </a:pPr>
            <a:r>
              <a:rPr lang="en-US" sz="1250" dirty="0">
                <a:solidFill>
                  <a:srgbClr val="3A3A3A"/>
                </a:solidFill>
                <a:latin typeface="Calibri" pitchFamily="34" charset="0"/>
                <a:ea typeface="Calibri" pitchFamily="34" charset="-122"/>
                <a:cs typeface="Calibri" pitchFamily="34" charset="-120"/>
              </a:rPr>
              <a:t>Which carriers and plans the practice bills, and whether private pay is welcome.</a:t>
            </a:r>
            <a:endParaRPr lang="en-US" sz="1250" dirty="0"/>
          </a:p>
        </p:txBody>
      </p:sp>
      <p:sp>
        <p:nvSpPr>
          <p:cNvPr id="9" name="Shape 7"/>
          <p:cNvSpPr/>
          <p:nvPr/>
        </p:nvSpPr>
        <p:spPr>
          <a:xfrm>
            <a:off x="685800" y="3566160"/>
            <a:ext cx="4709160" cy="1325880"/>
          </a:xfrm>
          <a:prstGeom prst="roundRect">
            <a:avLst>
              <a:gd name="adj" fmla="val 6207"/>
            </a:avLst>
          </a:prstGeom>
          <a:solidFill>
            <a:srgbClr val="FBFAF6"/>
          </a:solidFill>
          <a:ln w="9525">
            <a:solidFill>
              <a:srgbClr val="C9C2B4"/>
            </a:solidFill>
            <a:prstDash val="solid"/>
          </a:ln>
        </p:spPr>
      </p:sp>
      <p:sp>
        <p:nvSpPr>
          <p:cNvPr id="10" name="Text 8"/>
          <p:cNvSpPr/>
          <p:nvPr/>
        </p:nvSpPr>
        <p:spPr>
          <a:xfrm>
            <a:off x="978408" y="3840480"/>
            <a:ext cx="457200" cy="457200"/>
          </a:xfrm>
          <a:prstGeom prst="ellipse">
            <a:avLst/>
          </a:prstGeom>
          <a:solidFill>
            <a:srgbClr val="8A6D1E"/>
          </a:solidFill>
          <a:ln/>
        </p:spPr>
        <p:txBody>
          <a:bodyPr wrap="square" lIns="0" tIns="0" rIns="0" bIns="0" rtlCol="0" anchor="ctr"/>
          <a:lstStyle/>
          <a:p>
            <a:pPr algn="ctr" indent="0" marL="0">
              <a:buNone/>
            </a:pPr>
            <a:r>
              <a:rPr lang="en-US" sz="1200" b="1" dirty="0">
                <a:solidFill>
                  <a:srgbClr val="FBFAF6"/>
                </a:solidFill>
                <a:latin typeface="Calibri" pitchFamily="34" charset="0"/>
                <a:ea typeface="Calibri" pitchFamily="34" charset="-122"/>
                <a:cs typeface="Calibri" pitchFamily="34" charset="-120"/>
              </a:rPr>
              <a:t>02</a:t>
            </a:r>
            <a:endParaRPr lang="en-US" sz="1200" dirty="0"/>
          </a:p>
        </p:txBody>
      </p:sp>
      <p:sp>
        <p:nvSpPr>
          <p:cNvPr id="11" name="Text 9"/>
          <p:cNvSpPr/>
          <p:nvPr/>
        </p:nvSpPr>
        <p:spPr>
          <a:xfrm>
            <a:off x="1563624" y="3840480"/>
            <a:ext cx="3566160" cy="457200"/>
          </a:xfrm>
          <a:prstGeom prst="rect">
            <a:avLst/>
          </a:prstGeom>
          <a:noFill/>
          <a:ln/>
        </p:spPr>
        <p:txBody>
          <a:bodyPr wrap="square" lIns="0" tIns="0" rIns="0" bIns="0" rtlCol="0" anchor="ctr"/>
          <a:lstStyle/>
          <a:p>
            <a:pPr indent="0" marL="0">
              <a:buNone/>
            </a:pPr>
            <a:r>
              <a:rPr lang="en-US" sz="2000" b="1" dirty="0">
                <a:solidFill>
                  <a:srgbClr val="141414"/>
                </a:solidFill>
                <a:latin typeface="Cambria" pitchFamily="34" charset="0"/>
                <a:ea typeface="Cambria" pitchFamily="34" charset="-122"/>
                <a:cs typeface="Cambria" pitchFamily="34" charset="-120"/>
              </a:rPr>
              <a:t>Service area</a:t>
            </a:r>
            <a:endParaRPr lang="en-US" sz="2000" dirty="0"/>
          </a:p>
        </p:txBody>
      </p:sp>
      <p:sp>
        <p:nvSpPr>
          <p:cNvPr id="12" name="Text 10"/>
          <p:cNvSpPr/>
          <p:nvPr/>
        </p:nvSpPr>
        <p:spPr>
          <a:xfrm>
            <a:off x="978408" y="4389120"/>
            <a:ext cx="4123944" cy="457200"/>
          </a:xfrm>
          <a:prstGeom prst="rect">
            <a:avLst/>
          </a:prstGeom>
          <a:noFill/>
          <a:ln/>
        </p:spPr>
        <p:txBody>
          <a:bodyPr wrap="square" lIns="0" tIns="0" rIns="0" bIns="0" rtlCol="0" anchor="t"/>
          <a:lstStyle/>
          <a:p>
            <a:pPr indent="0" marL="0">
              <a:lnSpc>
                <a:spcPct val="115000"/>
              </a:lnSpc>
              <a:buNone/>
            </a:pPr>
            <a:r>
              <a:rPr lang="en-US" sz="1250" dirty="0">
                <a:solidFill>
                  <a:srgbClr val="3A3A3A"/>
                </a:solidFill>
                <a:latin typeface="Calibri" pitchFamily="34" charset="0"/>
                <a:ea typeface="Calibri" pitchFamily="34" charset="-122"/>
                <a:cs typeface="Calibri" pitchFamily="34" charset="-120"/>
              </a:rPr>
              <a:t>The geography you can genuinely serve — in person, by telehealth, or both.</a:t>
            </a:r>
            <a:endParaRPr lang="en-US" sz="1250" dirty="0"/>
          </a:p>
        </p:txBody>
      </p:sp>
      <p:sp>
        <p:nvSpPr>
          <p:cNvPr id="13" name="Text 11"/>
          <p:cNvSpPr/>
          <p:nvPr/>
        </p:nvSpPr>
        <p:spPr>
          <a:xfrm>
            <a:off x="5532120" y="3200400"/>
            <a:ext cx="640080" cy="457200"/>
          </a:xfrm>
          <a:prstGeom prst="rect">
            <a:avLst/>
          </a:prstGeom>
          <a:noFill/>
          <a:ln/>
        </p:spPr>
        <p:txBody>
          <a:bodyPr wrap="square" lIns="0" tIns="0" rIns="0" bIns="0" rtlCol="0" anchor="ctr"/>
          <a:lstStyle/>
          <a:p>
            <a:pPr algn="ctr" indent="0" marL="0">
              <a:buNone/>
            </a:pPr>
            <a:r>
              <a:rPr lang="en-US" sz="2600" b="1" dirty="0">
                <a:solidFill>
                  <a:srgbClr val="C9C2B4"/>
                </a:solidFill>
                <a:latin typeface="Calibri" pitchFamily="34" charset="0"/>
                <a:ea typeface="Calibri" pitchFamily="34" charset="-122"/>
                <a:cs typeface="Calibri" pitchFamily="34" charset="-120"/>
              </a:rPr>
              <a:t>→</a:t>
            </a:r>
            <a:endParaRPr lang="en-US" sz="2600" dirty="0"/>
          </a:p>
        </p:txBody>
      </p:sp>
      <p:sp>
        <p:nvSpPr>
          <p:cNvPr id="14" name="Shape 12"/>
          <p:cNvSpPr/>
          <p:nvPr/>
        </p:nvSpPr>
        <p:spPr>
          <a:xfrm>
            <a:off x="6263640" y="2103120"/>
            <a:ext cx="5239512" cy="2688336"/>
          </a:xfrm>
          <a:prstGeom prst="roundRect">
            <a:avLst>
              <a:gd name="adj" fmla="val 3061"/>
            </a:avLst>
          </a:prstGeom>
          <a:solidFill>
            <a:srgbClr val="141414"/>
          </a:solidFill>
          <a:ln/>
        </p:spPr>
      </p:sp>
      <p:sp>
        <p:nvSpPr>
          <p:cNvPr id="15" name="Text 13"/>
          <p:cNvSpPr/>
          <p:nvPr/>
        </p:nvSpPr>
        <p:spPr>
          <a:xfrm>
            <a:off x="6629400" y="2359152"/>
            <a:ext cx="4480560" cy="237744"/>
          </a:xfrm>
          <a:prstGeom prst="rect">
            <a:avLst/>
          </a:prstGeom>
          <a:noFill/>
          <a:ln/>
        </p:spPr>
        <p:txBody>
          <a:bodyPr wrap="square" lIns="0" tIns="0" rIns="0" bIns="0" rtlCol="0" anchor="ctr"/>
          <a:lstStyle/>
          <a:p>
            <a:pPr indent="0" marL="0">
              <a:buNone/>
            </a:pPr>
            <a:r>
              <a:rPr lang="en-US" sz="950" b="1" spc="220" kern="0" dirty="0">
                <a:solidFill>
                  <a:srgbClr val="C9A94E"/>
                </a:solidFill>
                <a:latin typeface="Calibri" pitchFamily="34" charset="0"/>
                <a:ea typeface="Calibri" pitchFamily="34" charset="-122"/>
                <a:cs typeface="Calibri" pitchFamily="34" charset="-120"/>
              </a:rPr>
              <a:t>FEEDS DIRECTLY INTO</a:t>
            </a:r>
            <a:endParaRPr lang="en-US" sz="950" dirty="0"/>
          </a:p>
        </p:txBody>
      </p:sp>
      <p:sp>
        <p:nvSpPr>
          <p:cNvPr id="16" name="Text 14"/>
          <p:cNvSpPr/>
          <p:nvPr/>
        </p:nvSpPr>
        <p:spPr>
          <a:xfrm>
            <a:off x="6629400" y="2651760"/>
            <a:ext cx="4507992" cy="786384"/>
          </a:xfrm>
          <a:prstGeom prst="rect">
            <a:avLst/>
          </a:prstGeom>
          <a:noFill/>
          <a:ln/>
        </p:spPr>
        <p:txBody>
          <a:bodyPr wrap="square" lIns="0" tIns="0" rIns="0" bIns="0" rtlCol="0" anchor="ctr"/>
          <a:lstStyle/>
          <a:p>
            <a:pPr indent="0" marL="0">
              <a:lnSpc>
                <a:spcPct val="98000"/>
              </a:lnSpc>
              <a:buNone/>
            </a:pPr>
            <a:r>
              <a:rPr lang="en-US" sz="2600" b="1" dirty="0">
                <a:solidFill>
                  <a:srgbClr val="F0EBE0"/>
                </a:solidFill>
                <a:latin typeface="Cambria" pitchFamily="34" charset="0"/>
                <a:ea typeface="Cambria" pitchFamily="34" charset="-122"/>
                <a:cs typeface="Cambria" pitchFamily="34" charset="-120"/>
              </a:rPr>
              <a:t>What counts as a qualifying lead</a:t>
            </a:r>
            <a:endParaRPr lang="en-US" sz="2600" dirty="0"/>
          </a:p>
        </p:txBody>
      </p:sp>
      <p:sp>
        <p:nvSpPr>
          <p:cNvPr id="17" name="Text 15"/>
          <p:cNvSpPr/>
          <p:nvPr/>
        </p:nvSpPr>
        <p:spPr>
          <a:xfrm>
            <a:off x="6629400" y="3529584"/>
            <a:ext cx="4507992" cy="1097280"/>
          </a:xfrm>
          <a:prstGeom prst="rect">
            <a:avLst/>
          </a:prstGeom>
          <a:noFill/>
          <a:ln/>
        </p:spPr>
        <p:txBody>
          <a:bodyPr wrap="square" lIns="0" tIns="0" rIns="0" bIns="0" rtlCol="0" anchor="t"/>
          <a:lstStyle/>
          <a:p>
            <a:pPr indent="0" marL="0">
              <a:lnSpc>
                <a:spcPct val="120000"/>
              </a:lnSpc>
              <a:buNone/>
            </a:pPr>
            <a:r>
              <a:rPr lang="en-US" sz="1250" dirty="0">
                <a:solidFill>
                  <a:srgbClr val="A8A093"/>
                </a:solidFill>
                <a:latin typeface="Calibri" pitchFamily="34" charset="0"/>
                <a:ea typeface="Calibri" pitchFamily="34" charset="-122"/>
                <a:cs typeface="Calibri" pitchFamily="34" charset="-120"/>
              </a:rPr>
              <a:t>If someone is outside the service area, or carries insurance the practice does not accept and will not pay privately, they do not count toward the 15 — and we do not send them to your staff. Getting these two answers exactly right is what keeps the lead count honest.</a:t>
            </a:r>
            <a:endParaRPr lang="en-US" sz="1250" dirty="0"/>
          </a:p>
        </p:txBody>
      </p:sp>
      <p:sp>
        <p:nvSpPr>
          <p:cNvPr id="18" name="Shape 16"/>
          <p:cNvSpPr/>
          <p:nvPr/>
        </p:nvSpPr>
        <p:spPr>
          <a:xfrm>
            <a:off x="685800" y="4956048"/>
            <a:ext cx="10820095" cy="896112"/>
          </a:xfrm>
          <a:prstGeom prst="roundRect">
            <a:avLst>
              <a:gd name="adj" fmla="val 9184"/>
            </a:avLst>
          </a:prstGeom>
          <a:solidFill>
            <a:srgbClr val="FBFAF6"/>
          </a:solidFill>
          <a:ln w="9525">
            <a:solidFill>
              <a:srgbClr val="C9C2B4"/>
            </a:solidFill>
            <a:prstDash val="solid"/>
          </a:ln>
        </p:spPr>
      </p:sp>
      <p:sp>
        <p:nvSpPr>
          <p:cNvPr id="19" name="Text 17"/>
          <p:cNvSpPr/>
          <p:nvPr/>
        </p:nvSpPr>
        <p:spPr>
          <a:xfrm>
            <a:off x="1069848" y="4956048"/>
            <a:ext cx="10051999" cy="896112"/>
          </a:xfrm>
          <a:prstGeom prst="rect">
            <a:avLst/>
          </a:prstGeom>
          <a:noFill/>
          <a:ln/>
        </p:spPr>
        <p:txBody>
          <a:bodyPr wrap="square" lIns="0" tIns="0" rIns="0" bIns="0" rtlCol="0" anchor="ctr"/>
          <a:lstStyle/>
          <a:p>
            <a:pPr indent="0" marL="0">
              <a:buNone/>
            </a:pPr>
            <a:r>
              <a:rPr lang="en-US" sz="1350" b="1" dirty="0">
                <a:solidFill>
                  <a:srgbClr val="141414"/>
                </a:solidFill>
                <a:latin typeface="Calibri" pitchFamily="34" charset="0"/>
                <a:ea typeface="Calibri" pitchFamily="34" charset="-122"/>
                <a:cs typeface="Calibri" pitchFamily="34" charset="-120"/>
              </a:rPr>
              <a:t>Action today:  confirm the carrier list and the exact service-area boundary in writing before campaigns are built.</a:t>
            </a:r>
            <a:endParaRPr lang="en-US" sz="1350" dirty="0"/>
          </a:p>
        </p:txBody>
      </p:sp>
      <p:sp>
        <p:nvSpPr>
          <p:cNvPr id="20" name="Text 18"/>
          <p:cNvSpPr/>
          <p:nvPr/>
        </p:nvSpPr>
        <p:spPr>
          <a:xfrm>
            <a:off x="685800" y="6327648"/>
            <a:ext cx="5486400" cy="274320"/>
          </a:xfrm>
          <a:prstGeom prst="rect">
            <a:avLst/>
          </a:prstGeom>
          <a:noFill/>
          <a:ln/>
        </p:spPr>
        <p:txBody>
          <a:bodyPr wrap="square" lIns="0" tIns="0" rIns="0" bIns="0" rtlCol="0" anchor="ctr"/>
          <a:lstStyle/>
          <a:p>
            <a:pPr indent="0" marL="0">
              <a:buNone/>
            </a:pPr>
            <a:r>
              <a:rPr lang="en-US" sz="850" spc="160" kern="0" dirty="0">
                <a:solidFill>
                  <a:srgbClr val="9A9080"/>
                </a:solidFill>
                <a:latin typeface="Calibri" pitchFamily="34" charset="0"/>
                <a:ea typeface="Calibri" pitchFamily="34" charset="-122"/>
                <a:cs typeface="Calibri" pitchFamily="34" charset="-120"/>
              </a:rPr>
              <a:t>STAY BOOKED MARKETING  ·  CLIENT KICKOFF</a:t>
            </a:r>
            <a:endParaRPr lang="en-US" sz="850" dirty="0"/>
          </a:p>
        </p:txBody>
      </p:sp>
      <p:sp>
        <p:nvSpPr>
          <p:cNvPr id="21" name="Text 19"/>
          <p:cNvSpPr/>
          <p:nvPr/>
        </p:nvSpPr>
        <p:spPr>
          <a:xfrm>
            <a:off x="10591495" y="6327648"/>
            <a:ext cx="914400" cy="274320"/>
          </a:xfrm>
          <a:prstGeom prst="rect">
            <a:avLst/>
          </a:prstGeom>
          <a:noFill/>
          <a:ln/>
        </p:spPr>
        <p:txBody>
          <a:bodyPr wrap="square" lIns="0" tIns="0" rIns="0" bIns="0" rtlCol="0" anchor="ctr"/>
          <a:lstStyle/>
          <a:p>
            <a:pPr algn="r" indent="0" marL="0">
              <a:buNone/>
            </a:pPr>
            <a:r>
              <a:rPr lang="en-US" sz="850" spc="160" kern="0" dirty="0">
                <a:solidFill>
                  <a:srgbClr val="9A9080"/>
                </a:solidFill>
                <a:latin typeface="Calibri" pitchFamily="34" charset="0"/>
                <a:ea typeface="Calibri" pitchFamily="34" charset="-122"/>
                <a:cs typeface="Calibri" pitchFamily="34" charset="-120"/>
              </a:rPr>
              <a:t>17</a:t>
            </a:r>
            <a:endParaRPr lang="en-US" sz="850" dirty="0"/>
          </a:p>
        </p:txBody>
      </p:sp>
      <p:pic>
        <p:nvPicPr>
          <p:cNvPr id="22" name="Image 0" descr="assets/logo_black.png">    </p:cNvPr>
          <p:cNvPicPr>
            <a:picLocks noChangeAspect="1"/>
          </p:cNvPicPr>
          <p:nvPr/>
        </p:nvPicPr>
        <p:blipFill>
          <a:blip r:embed="rId1">
            <a:alphaModFix amt="22000"/>
          </a:blip>
          <a:stretch>
            <a:fillRect/>
          </a:stretch>
        </p:blipFill>
        <p:spPr>
          <a:xfrm>
            <a:off x="10847527" y="384048"/>
            <a:ext cx="658368" cy="20939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EBE0"/>
        </a:solidFill>
      </p:bgPr>
    </p:bg>
    <p:spTree>
      <p:nvGrpSpPr>
        <p:cNvPr id="1" name=""/>
        <p:cNvGrpSpPr/>
        <p:nvPr/>
      </p:nvGrpSpPr>
      <p:grpSpPr>
        <a:xfrm>
          <a:off x="0" y="0"/>
          <a:ext cx="0" cy="0"/>
          <a:chOff x="0" y="0"/>
          <a:chExt cx="0" cy="0"/>
        </a:xfrm>
      </p:grpSpPr>
      <p:sp>
        <p:nvSpPr>
          <p:cNvPr id="2" name="Text 0"/>
          <p:cNvSpPr/>
          <p:nvPr/>
        </p:nvSpPr>
        <p:spPr>
          <a:xfrm>
            <a:off x="685800" y="566928"/>
            <a:ext cx="7772400" cy="256032"/>
          </a:xfrm>
          <a:prstGeom prst="rect">
            <a:avLst/>
          </a:prstGeom>
          <a:noFill/>
          <a:ln/>
        </p:spPr>
        <p:txBody>
          <a:bodyPr wrap="square" lIns="0" tIns="0" rIns="0" bIns="0" rtlCol="0" anchor="ctr"/>
          <a:lstStyle/>
          <a:p>
            <a:pPr indent="0" marL="0">
              <a:buNone/>
            </a:pPr>
            <a:r>
              <a:rPr lang="en-US" sz="1050" b="1" spc="260" kern="0" dirty="0">
                <a:solidFill>
                  <a:srgbClr val="8A6D1E"/>
                </a:solidFill>
                <a:latin typeface="Calibri" pitchFamily="34" charset="0"/>
                <a:ea typeface="Calibri" pitchFamily="34" charset="-122"/>
                <a:cs typeface="Calibri" pitchFamily="34" charset="-120"/>
              </a:rPr>
              <a:t>HIPAA &amp; DATA HANDLING</a:t>
            </a:r>
            <a:endParaRPr lang="en-US" sz="1050" dirty="0"/>
          </a:p>
        </p:txBody>
      </p:sp>
      <p:sp>
        <p:nvSpPr>
          <p:cNvPr id="3" name="Text 1"/>
          <p:cNvSpPr/>
          <p:nvPr/>
        </p:nvSpPr>
        <p:spPr>
          <a:xfrm>
            <a:off x="685800" y="868680"/>
            <a:ext cx="10058400" cy="658368"/>
          </a:xfrm>
          <a:prstGeom prst="rect">
            <a:avLst/>
          </a:prstGeom>
          <a:noFill/>
          <a:ln/>
        </p:spPr>
        <p:txBody>
          <a:bodyPr wrap="square" lIns="0" tIns="0" rIns="0" bIns="0" rtlCol="0" anchor="ctr"/>
          <a:lstStyle/>
          <a:p>
            <a:pPr indent="0" marL="0">
              <a:buNone/>
            </a:pPr>
            <a:r>
              <a:rPr lang="en-US" sz="3400" b="1" dirty="0">
                <a:solidFill>
                  <a:srgbClr val="141414"/>
                </a:solidFill>
                <a:latin typeface="Cambria" pitchFamily="34" charset="0"/>
                <a:ea typeface="Cambria" pitchFamily="34" charset="-122"/>
                <a:cs typeface="Cambria" pitchFamily="34" charset="-120"/>
              </a:rPr>
              <a:t>How patient data is protected</a:t>
            </a:r>
            <a:endParaRPr lang="en-US" sz="3400" dirty="0"/>
          </a:p>
        </p:txBody>
      </p:sp>
      <p:sp>
        <p:nvSpPr>
          <p:cNvPr id="4" name="Shape 2"/>
          <p:cNvSpPr/>
          <p:nvPr/>
        </p:nvSpPr>
        <p:spPr>
          <a:xfrm>
            <a:off x="685800" y="1691640"/>
            <a:ext cx="5230368" cy="4160520"/>
          </a:xfrm>
          <a:prstGeom prst="roundRect">
            <a:avLst>
              <a:gd name="adj" fmla="val 1978"/>
            </a:avLst>
          </a:prstGeom>
          <a:solidFill>
            <a:srgbClr val="FBFAF6"/>
          </a:solidFill>
          <a:ln w="9525">
            <a:solidFill>
              <a:srgbClr val="C9C2B4"/>
            </a:solidFill>
            <a:prstDash val="solid"/>
          </a:ln>
        </p:spPr>
      </p:sp>
      <p:sp>
        <p:nvSpPr>
          <p:cNvPr id="5" name="Text 3"/>
          <p:cNvSpPr/>
          <p:nvPr/>
        </p:nvSpPr>
        <p:spPr>
          <a:xfrm>
            <a:off x="1051560" y="1938528"/>
            <a:ext cx="4480560" cy="237744"/>
          </a:xfrm>
          <a:prstGeom prst="rect">
            <a:avLst/>
          </a:prstGeom>
          <a:noFill/>
          <a:ln/>
        </p:spPr>
        <p:txBody>
          <a:bodyPr wrap="square" lIns="0" tIns="0" rIns="0" bIns="0" rtlCol="0" anchor="ctr"/>
          <a:lstStyle/>
          <a:p>
            <a:pPr indent="0" marL="0">
              <a:buNone/>
            </a:pPr>
            <a:r>
              <a:rPr lang="en-US" sz="950" b="1" spc="220" kern="0" dirty="0">
                <a:solidFill>
                  <a:srgbClr val="8A6D1E"/>
                </a:solidFill>
                <a:latin typeface="Calibri" pitchFamily="34" charset="0"/>
                <a:ea typeface="Calibri" pitchFamily="34" charset="-122"/>
                <a:cs typeface="Calibri" pitchFamily="34" charset="-120"/>
              </a:rPr>
              <a:t>ON THE LEAD FORM</a:t>
            </a:r>
            <a:endParaRPr lang="en-US" sz="950" dirty="0"/>
          </a:p>
        </p:txBody>
      </p:sp>
      <p:sp>
        <p:nvSpPr>
          <p:cNvPr id="6" name="Text 4"/>
          <p:cNvSpPr/>
          <p:nvPr/>
        </p:nvSpPr>
        <p:spPr>
          <a:xfrm>
            <a:off x="1051560" y="2231136"/>
            <a:ext cx="4498848" cy="658368"/>
          </a:xfrm>
          <a:prstGeom prst="rect">
            <a:avLst/>
          </a:prstGeom>
          <a:noFill/>
          <a:ln/>
        </p:spPr>
        <p:txBody>
          <a:bodyPr wrap="square" lIns="0" tIns="0" rIns="0" bIns="0" rtlCol="0" anchor="ctr"/>
          <a:lstStyle/>
          <a:p>
            <a:pPr indent="0" marL="0">
              <a:lnSpc>
                <a:spcPct val="98000"/>
              </a:lnSpc>
              <a:buNone/>
            </a:pPr>
            <a:r>
              <a:rPr lang="en-US" sz="2200" b="1" dirty="0">
                <a:solidFill>
                  <a:srgbClr val="141414"/>
                </a:solidFill>
                <a:latin typeface="Cambria" pitchFamily="34" charset="0"/>
                <a:ea typeface="Cambria" pitchFamily="34" charset="-122"/>
                <a:cs typeface="Cambria" pitchFamily="34" charset="-120"/>
              </a:rPr>
              <a:t>Only what is needed to make contact</a:t>
            </a:r>
            <a:endParaRPr lang="en-US" sz="2200" dirty="0"/>
          </a:p>
        </p:txBody>
      </p:sp>
      <p:sp>
        <p:nvSpPr>
          <p:cNvPr id="7" name="Shape 5"/>
          <p:cNvSpPr/>
          <p:nvPr/>
        </p:nvSpPr>
        <p:spPr>
          <a:xfrm>
            <a:off x="1051560" y="3063240"/>
            <a:ext cx="274320" cy="274320"/>
          </a:xfrm>
          <a:prstGeom prst="ellipse">
            <a:avLst/>
          </a:prstGeom>
          <a:solidFill>
            <a:srgbClr val="0F5257"/>
          </a:solidFill>
          <a:ln/>
        </p:spPr>
      </p:sp>
      <p:sp>
        <p:nvSpPr>
          <p:cNvPr id="8" name="Text 6"/>
          <p:cNvSpPr/>
          <p:nvPr/>
        </p:nvSpPr>
        <p:spPr>
          <a:xfrm>
            <a:off x="1051560" y="3063240"/>
            <a:ext cx="274320" cy="274320"/>
          </a:xfrm>
          <a:prstGeom prst="rect">
            <a:avLst/>
          </a:prstGeom>
          <a:noFill/>
          <a:ln/>
        </p:spPr>
        <p:txBody>
          <a:bodyPr wrap="square" lIns="0" tIns="0" rIns="0" bIns="0" rtlCol="0" anchor="ctr"/>
          <a:lstStyle/>
          <a:p>
            <a:pPr algn="ctr" indent="0" marL="0">
              <a:buNone/>
            </a:pPr>
            <a:r>
              <a:rPr lang="en-US" sz="1100" b="1" dirty="0">
                <a:solidFill>
                  <a:srgbClr val="FBFAF6"/>
                </a:solidFill>
                <a:latin typeface="Calibri" pitchFamily="34" charset="0"/>
                <a:ea typeface="Calibri" pitchFamily="34" charset="-122"/>
                <a:cs typeface="Calibri" pitchFamily="34" charset="-120"/>
              </a:rPr>
              <a:t>✓</a:t>
            </a:r>
            <a:endParaRPr lang="en-US" sz="1100" dirty="0"/>
          </a:p>
        </p:txBody>
      </p:sp>
      <p:sp>
        <p:nvSpPr>
          <p:cNvPr id="9" name="Text 7"/>
          <p:cNvSpPr/>
          <p:nvPr/>
        </p:nvSpPr>
        <p:spPr>
          <a:xfrm>
            <a:off x="1472184" y="3017520"/>
            <a:ext cx="4023360" cy="292608"/>
          </a:xfrm>
          <a:prstGeom prst="rect">
            <a:avLst/>
          </a:prstGeom>
          <a:noFill/>
          <a:ln/>
        </p:spPr>
        <p:txBody>
          <a:bodyPr wrap="square" lIns="0" tIns="0" rIns="0" bIns="0" rtlCol="0" anchor="ctr"/>
          <a:lstStyle/>
          <a:p>
            <a:pPr indent="0" marL="0">
              <a:buNone/>
            </a:pPr>
            <a:r>
              <a:rPr lang="en-US" sz="1350" b="1" dirty="0">
                <a:solidFill>
                  <a:srgbClr val="141414"/>
                </a:solidFill>
                <a:latin typeface="Calibri" pitchFamily="34" charset="0"/>
                <a:ea typeface="Calibri" pitchFamily="34" charset="-122"/>
                <a:cs typeface="Calibri" pitchFamily="34" charset="-120"/>
              </a:rPr>
              <a:t>Name and phone number</a:t>
            </a:r>
            <a:endParaRPr lang="en-US" sz="1350" dirty="0"/>
          </a:p>
        </p:txBody>
      </p:sp>
      <p:sp>
        <p:nvSpPr>
          <p:cNvPr id="10" name="Text 8"/>
          <p:cNvSpPr/>
          <p:nvPr/>
        </p:nvSpPr>
        <p:spPr>
          <a:xfrm>
            <a:off x="1472184" y="3310128"/>
            <a:ext cx="4023360" cy="402336"/>
          </a:xfrm>
          <a:prstGeom prst="rect">
            <a:avLst/>
          </a:prstGeom>
          <a:noFill/>
          <a:ln/>
        </p:spPr>
        <p:txBody>
          <a:bodyPr wrap="square" lIns="0" tIns="0" rIns="0" bIns="0" rtlCol="0" anchor="t"/>
          <a:lstStyle/>
          <a:p>
            <a:pPr indent="0" marL="0">
              <a:lnSpc>
                <a:spcPct val="114000"/>
              </a:lnSpc>
              <a:buNone/>
            </a:pPr>
            <a:r>
              <a:rPr lang="en-US" sz="1150" dirty="0">
                <a:solidFill>
                  <a:srgbClr val="6E6656"/>
                </a:solidFill>
                <a:latin typeface="Calibri" pitchFamily="34" charset="0"/>
                <a:ea typeface="Calibri" pitchFamily="34" charset="-122"/>
                <a:cs typeface="Calibri" pitchFamily="34" charset="-120"/>
              </a:rPr>
              <a:t>The minimum needed to follow up.</a:t>
            </a:r>
            <a:endParaRPr lang="en-US" sz="1150" dirty="0"/>
          </a:p>
        </p:txBody>
      </p:sp>
      <p:sp>
        <p:nvSpPr>
          <p:cNvPr id="11" name="Shape 9"/>
          <p:cNvSpPr/>
          <p:nvPr/>
        </p:nvSpPr>
        <p:spPr>
          <a:xfrm>
            <a:off x="1051560" y="3813048"/>
            <a:ext cx="274320" cy="274320"/>
          </a:xfrm>
          <a:prstGeom prst="ellipse">
            <a:avLst/>
          </a:prstGeom>
          <a:solidFill>
            <a:srgbClr val="0F5257"/>
          </a:solidFill>
          <a:ln/>
        </p:spPr>
      </p:sp>
      <p:sp>
        <p:nvSpPr>
          <p:cNvPr id="12" name="Text 10"/>
          <p:cNvSpPr/>
          <p:nvPr/>
        </p:nvSpPr>
        <p:spPr>
          <a:xfrm>
            <a:off x="1051560" y="3813048"/>
            <a:ext cx="274320" cy="274320"/>
          </a:xfrm>
          <a:prstGeom prst="rect">
            <a:avLst/>
          </a:prstGeom>
          <a:noFill/>
          <a:ln/>
        </p:spPr>
        <p:txBody>
          <a:bodyPr wrap="square" lIns="0" tIns="0" rIns="0" bIns="0" rtlCol="0" anchor="ctr"/>
          <a:lstStyle/>
          <a:p>
            <a:pPr algn="ctr" indent="0" marL="0">
              <a:buNone/>
            </a:pPr>
            <a:r>
              <a:rPr lang="en-US" sz="1100" b="1" dirty="0">
                <a:solidFill>
                  <a:srgbClr val="FBFAF6"/>
                </a:solidFill>
                <a:latin typeface="Calibri" pitchFamily="34" charset="0"/>
                <a:ea typeface="Calibri" pitchFamily="34" charset="-122"/>
                <a:cs typeface="Calibri" pitchFamily="34" charset="-120"/>
              </a:rPr>
              <a:t>✓</a:t>
            </a:r>
            <a:endParaRPr lang="en-US" sz="1100" dirty="0"/>
          </a:p>
        </p:txBody>
      </p:sp>
      <p:sp>
        <p:nvSpPr>
          <p:cNvPr id="13" name="Text 11"/>
          <p:cNvSpPr/>
          <p:nvPr/>
        </p:nvSpPr>
        <p:spPr>
          <a:xfrm>
            <a:off x="1472184" y="3767328"/>
            <a:ext cx="4023360" cy="292608"/>
          </a:xfrm>
          <a:prstGeom prst="rect">
            <a:avLst/>
          </a:prstGeom>
          <a:noFill/>
          <a:ln/>
        </p:spPr>
        <p:txBody>
          <a:bodyPr wrap="square" lIns="0" tIns="0" rIns="0" bIns="0" rtlCol="0" anchor="ctr"/>
          <a:lstStyle/>
          <a:p>
            <a:pPr indent="0" marL="0">
              <a:buNone/>
            </a:pPr>
            <a:r>
              <a:rPr lang="en-US" sz="1350" b="1" dirty="0">
                <a:solidFill>
                  <a:srgbClr val="141414"/>
                </a:solidFill>
                <a:latin typeface="Calibri" pitchFamily="34" charset="0"/>
                <a:ea typeface="Calibri" pitchFamily="34" charset="-122"/>
                <a:cs typeface="Calibri" pitchFamily="34" charset="-120"/>
              </a:rPr>
              <a:t>A link to the Privacy Policy</a:t>
            </a:r>
            <a:endParaRPr lang="en-US" sz="1350" dirty="0"/>
          </a:p>
        </p:txBody>
      </p:sp>
      <p:sp>
        <p:nvSpPr>
          <p:cNvPr id="14" name="Text 12"/>
          <p:cNvSpPr/>
          <p:nvPr/>
        </p:nvSpPr>
        <p:spPr>
          <a:xfrm>
            <a:off x="1472184" y="4059936"/>
            <a:ext cx="4023360" cy="402336"/>
          </a:xfrm>
          <a:prstGeom prst="rect">
            <a:avLst/>
          </a:prstGeom>
          <a:noFill/>
          <a:ln/>
        </p:spPr>
        <p:txBody>
          <a:bodyPr wrap="square" lIns="0" tIns="0" rIns="0" bIns="0" rtlCol="0" anchor="t"/>
          <a:lstStyle/>
          <a:p>
            <a:pPr indent="0" marL="0">
              <a:lnSpc>
                <a:spcPct val="114000"/>
              </a:lnSpc>
              <a:buNone/>
            </a:pPr>
            <a:r>
              <a:rPr lang="en-US" sz="1150" dirty="0">
                <a:solidFill>
                  <a:srgbClr val="6E6656"/>
                </a:solidFill>
                <a:latin typeface="Calibri" pitchFamily="34" charset="0"/>
                <a:ea typeface="Calibri" pitchFamily="34" charset="-122"/>
                <a:cs typeface="Calibri" pitchFamily="34" charset="-120"/>
              </a:rPr>
              <a:t>On every single form, always visible.</a:t>
            </a:r>
            <a:endParaRPr lang="en-US" sz="1150" dirty="0"/>
          </a:p>
        </p:txBody>
      </p:sp>
      <p:sp>
        <p:nvSpPr>
          <p:cNvPr id="15" name="Shape 13"/>
          <p:cNvSpPr/>
          <p:nvPr/>
        </p:nvSpPr>
        <p:spPr>
          <a:xfrm>
            <a:off x="1051560" y="4562856"/>
            <a:ext cx="274320" cy="274320"/>
          </a:xfrm>
          <a:prstGeom prst="ellipse">
            <a:avLst/>
          </a:prstGeom>
          <a:solidFill>
            <a:srgbClr val="0F5257"/>
          </a:solidFill>
          <a:ln/>
        </p:spPr>
      </p:sp>
      <p:sp>
        <p:nvSpPr>
          <p:cNvPr id="16" name="Text 14"/>
          <p:cNvSpPr/>
          <p:nvPr/>
        </p:nvSpPr>
        <p:spPr>
          <a:xfrm>
            <a:off x="1051560" y="4562856"/>
            <a:ext cx="274320" cy="274320"/>
          </a:xfrm>
          <a:prstGeom prst="rect">
            <a:avLst/>
          </a:prstGeom>
          <a:noFill/>
          <a:ln/>
        </p:spPr>
        <p:txBody>
          <a:bodyPr wrap="square" lIns="0" tIns="0" rIns="0" bIns="0" rtlCol="0" anchor="ctr"/>
          <a:lstStyle/>
          <a:p>
            <a:pPr algn="ctr" indent="0" marL="0">
              <a:buNone/>
            </a:pPr>
            <a:r>
              <a:rPr lang="en-US" sz="1100" b="1" dirty="0">
                <a:solidFill>
                  <a:srgbClr val="FBFAF6"/>
                </a:solidFill>
                <a:latin typeface="Calibri" pitchFamily="34" charset="0"/>
                <a:ea typeface="Calibri" pitchFamily="34" charset="-122"/>
                <a:cs typeface="Calibri" pitchFamily="34" charset="-120"/>
              </a:rPr>
              <a:t>✓</a:t>
            </a:r>
            <a:endParaRPr lang="en-US" sz="1100" dirty="0"/>
          </a:p>
        </p:txBody>
      </p:sp>
      <p:sp>
        <p:nvSpPr>
          <p:cNvPr id="17" name="Text 15"/>
          <p:cNvSpPr/>
          <p:nvPr/>
        </p:nvSpPr>
        <p:spPr>
          <a:xfrm>
            <a:off x="1472184" y="4517136"/>
            <a:ext cx="4023360" cy="292608"/>
          </a:xfrm>
          <a:prstGeom prst="rect">
            <a:avLst/>
          </a:prstGeom>
          <a:noFill/>
          <a:ln/>
        </p:spPr>
        <p:txBody>
          <a:bodyPr wrap="square" lIns="0" tIns="0" rIns="0" bIns="0" rtlCol="0" anchor="ctr"/>
          <a:lstStyle/>
          <a:p>
            <a:pPr indent="0" marL="0">
              <a:buNone/>
            </a:pPr>
            <a:r>
              <a:rPr lang="en-US" sz="1350" b="1" dirty="0">
                <a:solidFill>
                  <a:srgbClr val="141414"/>
                </a:solidFill>
                <a:latin typeface="Calibri" pitchFamily="34" charset="0"/>
                <a:ea typeface="Calibri" pitchFamily="34" charset="-122"/>
                <a:cs typeface="Calibri" pitchFamily="34" charset="-120"/>
              </a:rPr>
              <a:t>A permission checkbox</a:t>
            </a:r>
            <a:endParaRPr lang="en-US" sz="1350" dirty="0"/>
          </a:p>
        </p:txBody>
      </p:sp>
      <p:sp>
        <p:nvSpPr>
          <p:cNvPr id="18" name="Text 16"/>
          <p:cNvSpPr/>
          <p:nvPr/>
        </p:nvSpPr>
        <p:spPr>
          <a:xfrm>
            <a:off x="1472184" y="4809744"/>
            <a:ext cx="4023360" cy="402336"/>
          </a:xfrm>
          <a:prstGeom prst="rect">
            <a:avLst/>
          </a:prstGeom>
          <a:noFill/>
          <a:ln/>
        </p:spPr>
        <p:txBody>
          <a:bodyPr wrap="square" lIns="0" tIns="0" rIns="0" bIns="0" rtlCol="0" anchor="t"/>
          <a:lstStyle/>
          <a:p>
            <a:pPr indent="0" marL="0">
              <a:lnSpc>
                <a:spcPct val="114000"/>
              </a:lnSpc>
              <a:buNone/>
            </a:pPr>
            <a:r>
              <a:rPr lang="en-US" sz="1150" dirty="0">
                <a:solidFill>
                  <a:srgbClr val="6E6656"/>
                </a:solidFill>
                <a:latin typeface="Calibri" pitchFamily="34" charset="0"/>
                <a:ea typeface="Calibri" pitchFamily="34" charset="-122"/>
                <a:cs typeface="Calibri" pitchFamily="34" charset="-120"/>
              </a:rPr>
              <a:t>Explicit consent for calls and texts, including AI contact.</a:t>
            </a:r>
            <a:endParaRPr lang="en-US" sz="1150" dirty="0"/>
          </a:p>
        </p:txBody>
      </p:sp>
      <p:sp>
        <p:nvSpPr>
          <p:cNvPr id="19" name="Shape 17"/>
          <p:cNvSpPr/>
          <p:nvPr/>
        </p:nvSpPr>
        <p:spPr>
          <a:xfrm>
            <a:off x="1051560" y="5285232"/>
            <a:ext cx="4498848" cy="384048"/>
          </a:xfrm>
          <a:prstGeom prst="roundRect">
            <a:avLst>
              <a:gd name="adj" fmla="val 14286"/>
            </a:avLst>
          </a:prstGeom>
          <a:solidFill>
            <a:srgbClr val="F5E7E0"/>
          </a:solidFill>
          <a:ln w="9525">
            <a:solidFill>
              <a:srgbClr val="E2BFAE"/>
            </a:solidFill>
            <a:prstDash val="solid"/>
          </a:ln>
        </p:spPr>
      </p:sp>
      <p:sp>
        <p:nvSpPr>
          <p:cNvPr id="20" name="Text 18"/>
          <p:cNvSpPr/>
          <p:nvPr/>
        </p:nvSpPr>
        <p:spPr>
          <a:xfrm>
            <a:off x="1051560" y="5285232"/>
            <a:ext cx="4498848" cy="384048"/>
          </a:xfrm>
          <a:prstGeom prst="rect">
            <a:avLst/>
          </a:prstGeom>
          <a:noFill/>
          <a:ln/>
        </p:spPr>
        <p:txBody>
          <a:bodyPr wrap="square" lIns="0" tIns="0" rIns="0" bIns="0" rtlCol="0" anchor="ctr"/>
          <a:lstStyle/>
          <a:p>
            <a:pPr algn="ctr" indent="0" marL="0">
              <a:buNone/>
            </a:pPr>
            <a:r>
              <a:rPr lang="en-US" sz="1200" b="1" dirty="0">
                <a:solidFill>
                  <a:srgbClr val="8C3A18"/>
                </a:solidFill>
                <a:latin typeface="Calibri" pitchFamily="34" charset="0"/>
                <a:ea typeface="Calibri" pitchFamily="34" charset="-122"/>
                <a:cs typeface="Calibri" pitchFamily="34" charset="-120"/>
              </a:rPr>
              <a:t>Never asked: symptoms, diagnoses, or treatments.</a:t>
            </a:r>
            <a:endParaRPr lang="en-US" sz="1200" dirty="0"/>
          </a:p>
        </p:txBody>
      </p:sp>
      <p:sp>
        <p:nvSpPr>
          <p:cNvPr id="21" name="Shape 19"/>
          <p:cNvSpPr/>
          <p:nvPr/>
        </p:nvSpPr>
        <p:spPr>
          <a:xfrm>
            <a:off x="6272784" y="1691640"/>
            <a:ext cx="5230368" cy="4160520"/>
          </a:xfrm>
          <a:prstGeom prst="roundRect">
            <a:avLst>
              <a:gd name="adj" fmla="val 1978"/>
            </a:avLst>
          </a:prstGeom>
          <a:solidFill>
            <a:srgbClr val="141414"/>
          </a:solidFill>
          <a:ln/>
        </p:spPr>
      </p:sp>
      <p:sp>
        <p:nvSpPr>
          <p:cNvPr id="22" name="Text 20"/>
          <p:cNvSpPr/>
          <p:nvPr/>
        </p:nvSpPr>
        <p:spPr>
          <a:xfrm>
            <a:off x="6638544" y="1938528"/>
            <a:ext cx="4480560" cy="237744"/>
          </a:xfrm>
          <a:prstGeom prst="rect">
            <a:avLst/>
          </a:prstGeom>
          <a:noFill/>
          <a:ln/>
        </p:spPr>
        <p:txBody>
          <a:bodyPr wrap="square" lIns="0" tIns="0" rIns="0" bIns="0" rtlCol="0" anchor="ctr"/>
          <a:lstStyle/>
          <a:p>
            <a:pPr indent="0" marL="0">
              <a:buNone/>
            </a:pPr>
            <a:r>
              <a:rPr lang="en-US" sz="950" b="1" spc="220" kern="0" dirty="0">
                <a:solidFill>
                  <a:srgbClr val="C9A94E"/>
                </a:solidFill>
                <a:latin typeface="Calibri" pitchFamily="34" charset="0"/>
                <a:ea typeface="Calibri" pitchFamily="34" charset="-122"/>
                <a:cs typeface="Calibri" pitchFamily="34" charset="-120"/>
              </a:rPr>
              <a:t>END TO END</a:t>
            </a:r>
            <a:endParaRPr lang="en-US" sz="950" dirty="0"/>
          </a:p>
        </p:txBody>
      </p:sp>
      <p:sp>
        <p:nvSpPr>
          <p:cNvPr id="23" name="Text 21"/>
          <p:cNvSpPr/>
          <p:nvPr/>
        </p:nvSpPr>
        <p:spPr>
          <a:xfrm>
            <a:off x="6638544" y="2231136"/>
            <a:ext cx="4498848" cy="658368"/>
          </a:xfrm>
          <a:prstGeom prst="rect">
            <a:avLst/>
          </a:prstGeom>
          <a:noFill/>
          <a:ln/>
        </p:spPr>
        <p:txBody>
          <a:bodyPr wrap="square" lIns="0" tIns="0" rIns="0" bIns="0" rtlCol="0" anchor="ctr"/>
          <a:lstStyle/>
          <a:p>
            <a:pPr indent="0" marL="0">
              <a:lnSpc>
                <a:spcPct val="98000"/>
              </a:lnSpc>
              <a:buNone/>
            </a:pPr>
            <a:r>
              <a:rPr lang="en-US" sz="2200" b="1" dirty="0">
                <a:solidFill>
                  <a:srgbClr val="F0EBE0"/>
                </a:solidFill>
                <a:latin typeface="Cambria" pitchFamily="34" charset="0"/>
                <a:ea typeface="Cambria" pitchFamily="34" charset="-122"/>
                <a:cs typeface="Cambria" pitchFamily="34" charset="-120"/>
              </a:rPr>
              <a:t>Where the data goes</a:t>
            </a:r>
            <a:endParaRPr lang="en-US" sz="2200" dirty="0"/>
          </a:p>
        </p:txBody>
      </p:sp>
      <p:sp>
        <p:nvSpPr>
          <p:cNvPr id="24" name="Text 22"/>
          <p:cNvSpPr/>
          <p:nvPr/>
        </p:nvSpPr>
        <p:spPr>
          <a:xfrm>
            <a:off x="6638544" y="3035808"/>
            <a:ext cx="329184" cy="329184"/>
          </a:xfrm>
          <a:prstGeom prst="ellipse">
            <a:avLst/>
          </a:prstGeom>
          <a:solidFill>
            <a:srgbClr val="2E2A24"/>
          </a:solidFill>
          <a:ln/>
        </p:spPr>
        <p:txBody>
          <a:bodyPr wrap="square" lIns="0" tIns="0" rIns="0" bIns="0" rtlCol="0" anchor="ctr"/>
          <a:lstStyle/>
          <a:p>
            <a:pPr algn="ctr" indent="0" marL="0">
              <a:buNone/>
            </a:pPr>
            <a:r>
              <a:rPr lang="en-US" sz="1100" b="1" dirty="0">
                <a:solidFill>
                  <a:srgbClr val="C9A94E"/>
                </a:solidFill>
                <a:latin typeface="Calibri" pitchFamily="34" charset="0"/>
                <a:ea typeface="Calibri" pitchFamily="34" charset="-122"/>
                <a:cs typeface="Calibri" pitchFamily="34" charset="-120"/>
              </a:rPr>
              <a:t>1</a:t>
            </a:r>
            <a:endParaRPr lang="en-US" sz="1100" dirty="0"/>
          </a:p>
        </p:txBody>
      </p:sp>
      <p:sp>
        <p:nvSpPr>
          <p:cNvPr id="25" name="Text 23"/>
          <p:cNvSpPr/>
          <p:nvPr/>
        </p:nvSpPr>
        <p:spPr>
          <a:xfrm>
            <a:off x="7086600" y="3017520"/>
            <a:ext cx="4023360" cy="274320"/>
          </a:xfrm>
          <a:prstGeom prst="rect">
            <a:avLst/>
          </a:prstGeom>
          <a:noFill/>
          <a:ln/>
        </p:spPr>
        <p:txBody>
          <a:bodyPr wrap="square" lIns="0" tIns="0" rIns="0" bIns="0" rtlCol="0" anchor="ctr"/>
          <a:lstStyle/>
          <a:p>
            <a:pPr indent="0" marL="0">
              <a:buNone/>
            </a:pPr>
            <a:r>
              <a:rPr lang="en-US" sz="1350" b="1" dirty="0">
                <a:solidFill>
                  <a:srgbClr val="F0EBE0"/>
                </a:solidFill>
                <a:latin typeface="Calibri" pitchFamily="34" charset="0"/>
                <a:ea typeface="Calibri" pitchFamily="34" charset="-122"/>
                <a:cs typeface="Calibri" pitchFamily="34" charset="-120"/>
              </a:rPr>
              <a:t>Nothing goes into the ad platforms</a:t>
            </a:r>
            <a:endParaRPr lang="en-US" sz="1350" dirty="0"/>
          </a:p>
        </p:txBody>
      </p:sp>
      <p:sp>
        <p:nvSpPr>
          <p:cNvPr id="26" name="Text 24"/>
          <p:cNvSpPr/>
          <p:nvPr/>
        </p:nvSpPr>
        <p:spPr>
          <a:xfrm>
            <a:off x="7086600" y="3300984"/>
            <a:ext cx="4050792" cy="603504"/>
          </a:xfrm>
          <a:prstGeom prst="rect">
            <a:avLst/>
          </a:prstGeom>
          <a:noFill/>
          <a:ln/>
        </p:spPr>
        <p:txBody>
          <a:bodyPr wrap="square" lIns="0" tIns="0" rIns="0" bIns="0" rtlCol="0" anchor="t"/>
          <a:lstStyle/>
          <a:p>
            <a:pPr indent="0" marL="0">
              <a:lnSpc>
                <a:spcPct val="114000"/>
              </a:lnSpc>
              <a:buNone/>
            </a:pPr>
            <a:r>
              <a:rPr lang="en-US" sz="1150" dirty="0">
                <a:solidFill>
                  <a:srgbClr val="A8A093"/>
                </a:solidFill>
                <a:latin typeface="Calibri" pitchFamily="34" charset="0"/>
                <a:ea typeface="Calibri" pitchFamily="34" charset="-122"/>
                <a:cs typeface="Calibri" pitchFamily="34" charset="-120"/>
              </a:rPr>
              <a:t>No patient lists and no health information are ever uploaded into Facebook or Google ads. Not for targeting, not for lookalikes, not ever.</a:t>
            </a:r>
            <a:endParaRPr lang="en-US" sz="1150" dirty="0"/>
          </a:p>
        </p:txBody>
      </p:sp>
      <p:sp>
        <p:nvSpPr>
          <p:cNvPr id="27" name="Text 25"/>
          <p:cNvSpPr/>
          <p:nvPr/>
        </p:nvSpPr>
        <p:spPr>
          <a:xfrm>
            <a:off x="6638544" y="3995928"/>
            <a:ext cx="329184" cy="329184"/>
          </a:xfrm>
          <a:prstGeom prst="ellipse">
            <a:avLst/>
          </a:prstGeom>
          <a:solidFill>
            <a:srgbClr val="2E2A24"/>
          </a:solidFill>
          <a:ln/>
        </p:spPr>
        <p:txBody>
          <a:bodyPr wrap="square" lIns="0" tIns="0" rIns="0" bIns="0" rtlCol="0" anchor="ctr"/>
          <a:lstStyle/>
          <a:p>
            <a:pPr algn="ctr" indent="0" marL="0">
              <a:buNone/>
            </a:pPr>
            <a:r>
              <a:rPr lang="en-US" sz="1100" b="1" dirty="0">
                <a:solidFill>
                  <a:srgbClr val="C9A94E"/>
                </a:solidFill>
                <a:latin typeface="Calibri" pitchFamily="34" charset="0"/>
                <a:ea typeface="Calibri" pitchFamily="34" charset="-122"/>
                <a:cs typeface="Calibri" pitchFamily="34" charset="-120"/>
              </a:rPr>
              <a:t>2</a:t>
            </a:r>
            <a:endParaRPr lang="en-US" sz="1100" dirty="0"/>
          </a:p>
        </p:txBody>
      </p:sp>
      <p:sp>
        <p:nvSpPr>
          <p:cNvPr id="28" name="Text 26"/>
          <p:cNvSpPr/>
          <p:nvPr/>
        </p:nvSpPr>
        <p:spPr>
          <a:xfrm>
            <a:off x="7086600" y="3977640"/>
            <a:ext cx="4023360" cy="274320"/>
          </a:xfrm>
          <a:prstGeom prst="rect">
            <a:avLst/>
          </a:prstGeom>
          <a:noFill/>
          <a:ln/>
        </p:spPr>
        <p:txBody>
          <a:bodyPr wrap="square" lIns="0" tIns="0" rIns="0" bIns="0" rtlCol="0" anchor="ctr"/>
          <a:lstStyle/>
          <a:p>
            <a:pPr indent="0" marL="0">
              <a:buNone/>
            </a:pPr>
            <a:r>
              <a:rPr lang="en-US" sz="1350" b="1" dirty="0">
                <a:solidFill>
                  <a:srgbClr val="F0EBE0"/>
                </a:solidFill>
                <a:latin typeface="Calibri" pitchFamily="34" charset="0"/>
                <a:ea typeface="Calibri" pitchFamily="34" charset="-122"/>
                <a:cs typeface="Calibri" pitchFamily="34" charset="-120"/>
              </a:rPr>
              <a:t>Consent records are permanent</a:t>
            </a:r>
            <a:endParaRPr lang="en-US" sz="1350" dirty="0"/>
          </a:p>
        </p:txBody>
      </p:sp>
      <p:sp>
        <p:nvSpPr>
          <p:cNvPr id="29" name="Text 27"/>
          <p:cNvSpPr/>
          <p:nvPr/>
        </p:nvSpPr>
        <p:spPr>
          <a:xfrm>
            <a:off x="7086600" y="4261104"/>
            <a:ext cx="4050792" cy="603504"/>
          </a:xfrm>
          <a:prstGeom prst="rect">
            <a:avLst/>
          </a:prstGeom>
          <a:noFill/>
          <a:ln/>
        </p:spPr>
        <p:txBody>
          <a:bodyPr wrap="square" lIns="0" tIns="0" rIns="0" bIns="0" rtlCol="0" anchor="t"/>
          <a:lstStyle/>
          <a:p>
            <a:pPr indent="0" marL="0">
              <a:lnSpc>
                <a:spcPct val="114000"/>
              </a:lnSpc>
              <a:buNone/>
            </a:pPr>
            <a:r>
              <a:rPr lang="en-US" sz="1150" dirty="0">
                <a:solidFill>
                  <a:srgbClr val="A8A093"/>
                </a:solidFill>
                <a:latin typeface="Calibri" pitchFamily="34" charset="0"/>
                <a:ea typeface="Calibri" pitchFamily="34" charset="-122"/>
                <a:cs typeface="Calibri" pitchFamily="34" charset="-120"/>
              </a:rPr>
              <a:t>Every signed permission record is kept and never deleted, so there is always proof of what was agreed.</a:t>
            </a:r>
            <a:endParaRPr lang="en-US" sz="1150" dirty="0"/>
          </a:p>
        </p:txBody>
      </p:sp>
      <p:sp>
        <p:nvSpPr>
          <p:cNvPr id="30" name="Text 28"/>
          <p:cNvSpPr/>
          <p:nvPr/>
        </p:nvSpPr>
        <p:spPr>
          <a:xfrm>
            <a:off x="6638544" y="4956048"/>
            <a:ext cx="329184" cy="329184"/>
          </a:xfrm>
          <a:prstGeom prst="ellipse">
            <a:avLst/>
          </a:prstGeom>
          <a:solidFill>
            <a:srgbClr val="2E2A24"/>
          </a:solidFill>
          <a:ln/>
        </p:spPr>
        <p:txBody>
          <a:bodyPr wrap="square" lIns="0" tIns="0" rIns="0" bIns="0" rtlCol="0" anchor="ctr"/>
          <a:lstStyle/>
          <a:p>
            <a:pPr algn="ctr" indent="0" marL="0">
              <a:buNone/>
            </a:pPr>
            <a:r>
              <a:rPr lang="en-US" sz="1100" b="1" dirty="0">
                <a:solidFill>
                  <a:srgbClr val="C9A94E"/>
                </a:solidFill>
                <a:latin typeface="Calibri" pitchFamily="34" charset="0"/>
                <a:ea typeface="Calibri" pitchFamily="34" charset="-122"/>
                <a:cs typeface="Calibri" pitchFamily="34" charset="-120"/>
              </a:rPr>
              <a:t>3</a:t>
            </a:r>
            <a:endParaRPr lang="en-US" sz="1100" dirty="0"/>
          </a:p>
        </p:txBody>
      </p:sp>
      <p:sp>
        <p:nvSpPr>
          <p:cNvPr id="31" name="Text 29"/>
          <p:cNvSpPr/>
          <p:nvPr/>
        </p:nvSpPr>
        <p:spPr>
          <a:xfrm>
            <a:off x="7086600" y="4937760"/>
            <a:ext cx="4023360" cy="274320"/>
          </a:xfrm>
          <a:prstGeom prst="rect">
            <a:avLst/>
          </a:prstGeom>
          <a:noFill/>
          <a:ln/>
        </p:spPr>
        <p:txBody>
          <a:bodyPr wrap="square" lIns="0" tIns="0" rIns="0" bIns="0" rtlCol="0" anchor="ctr"/>
          <a:lstStyle/>
          <a:p>
            <a:pPr indent="0" marL="0">
              <a:buNone/>
            </a:pPr>
            <a:r>
              <a:rPr lang="en-US" sz="1350" b="1" dirty="0">
                <a:solidFill>
                  <a:srgbClr val="F0EBE0"/>
                </a:solidFill>
                <a:latin typeface="Calibri" pitchFamily="34" charset="0"/>
                <a:ea typeface="Calibri" pitchFamily="34" charset="-122"/>
                <a:cs typeface="Calibri" pitchFamily="34" charset="-120"/>
              </a:rPr>
              <a:t>Opt-out is immediate and final</a:t>
            </a:r>
            <a:endParaRPr lang="en-US" sz="1350" dirty="0"/>
          </a:p>
        </p:txBody>
      </p:sp>
      <p:sp>
        <p:nvSpPr>
          <p:cNvPr id="32" name="Text 30"/>
          <p:cNvSpPr/>
          <p:nvPr/>
        </p:nvSpPr>
        <p:spPr>
          <a:xfrm>
            <a:off x="7086600" y="5221224"/>
            <a:ext cx="4050792" cy="603504"/>
          </a:xfrm>
          <a:prstGeom prst="rect">
            <a:avLst/>
          </a:prstGeom>
          <a:noFill/>
          <a:ln/>
        </p:spPr>
        <p:txBody>
          <a:bodyPr wrap="square" lIns="0" tIns="0" rIns="0" bIns="0" rtlCol="0" anchor="t"/>
          <a:lstStyle/>
          <a:p>
            <a:pPr indent="0" marL="0">
              <a:lnSpc>
                <a:spcPct val="114000"/>
              </a:lnSpc>
              <a:buNone/>
            </a:pPr>
            <a:r>
              <a:rPr lang="en-US" sz="1150" dirty="0">
                <a:solidFill>
                  <a:srgbClr val="A8A093"/>
                </a:solidFill>
                <a:latin typeface="Calibri" pitchFamily="34" charset="0"/>
                <a:ea typeface="Calibri" pitchFamily="34" charset="-122"/>
                <a:cs typeface="Calibri" pitchFamily="34" charset="-120"/>
              </a:rPr>
              <a:t>If someone opts out, contact stops immediately and permanently — no re-adds, no follow-up campaigns.</a:t>
            </a:r>
            <a:endParaRPr lang="en-US" sz="1150" dirty="0"/>
          </a:p>
        </p:txBody>
      </p:sp>
      <p:sp>
        <p:nvSpPr>
          <p:cNvPr id="33" name="Text 31"/>
          <p:cNvSpPr/>
          <p:nvPr/>
        </p:nvSpPr>
        <p:spPr>
          <a:xfrm>
            <a:off x="685800" y="6327648"/>
            <a:ext cx="5486400" cy="274320"/>
          </a:xfrm>
          <a:prstGeom prst="rect">
            <a:avLst/>
          </a:prstGeom>
          <a:noFill/>
          <a:ln/>
        </p:spPr>
        <p:txBody>
          <a:bodyPr wrap="square" lIns="0" tIns="0" rIns="0" bIns="0" rtlCol="0" anchor="ctr"/>
          <a:lstStyle/>
          <a:p>
            <a:pPr indent="0" marL="0">
              <a:buNone/>
            </a:pPr>
            <a:r>
              <a:rPr lang="en-US" sz="850" spc="160" kern="0" dirty="0">
                <a:solidFill>
                  <a:srgbClr val="9A9080"/>
                </a:solidFill>
                <a:latin typeface="Calibri" pitchFamily="34" charset="0"/>
                <a:ea typeface="Calibri" pitchFamily="34" charset="-122"/>
                <a:cs typeface="Calibri" pitchFamily="34" charset="-120"/>
              </a:rPr>
              <a:t>STAY BOOKED MARKETING  ·  CLIENT KICKOFF</a:t>
            </a:r>
            <a:endParaRPr lang="en-US" sz="850" dirty="0"/>
          </a:p>
        </p:txBody>
      </p:sp>
      <p:sp>
        <p:nvSpPr>
          <p:cNvPr id="34" name="Text 32"/>
          <p:cNvSpPr/>
          <p:nvPr/>
        </p:nvSpPr>
        <p:spPr>
          <a:xfrm>
            <a:off x="10591495" y="6327648"/>
            <a:ext cx="914400" cy="274320"/>
          </a:xfrm>
          <a:prstGeom prst="rect">
            <a:avLst/>
          </a:prstGeom>
          <a:noFill/>
          <a:ln/>
        </p:spPr>
        <p:txBody>
          <a:bodyPr wrap="square" lIns="0" tIns="0" rIns="0" bIns="0" rtlCol="0" anchor="ctr"/>
          <a:lstStyle/>
          <a:p>
            <a:pPr algn="r" indent="0" marL="0">
              <a:buNone/>
            </a:pPr>
            <a:r>
              <a:rPr lang="en-US" sz="850" spc="160" kern="0" dirty="0">
                <a:solidFill>
                  <a:srgbClr val="9A9080"/>
                </a:solidFill>
                <a:latin typeface="Calibri" pitchFamily="34" charset="0"/>
                <a:ea typeface="Calibri" pitchFamily="34" charset="-122"/>
                <a:cs typeface="Calibri" pitchFamily="34" charset="-120"/>
              </a:rPr>
              <a:t>18</a:t>
            </a:r>
            <a:endParaRPr lang="en-US" sz="850" dirty="0"/>
          </a:p>
        </p:txBody>
      </p:sp>
      <p:pic>
        <p:nvPicPr>
          <p:cNvPr id="35" name="Image 0" descr="assets/logo_black.png">    </p:cNvPr>
          <p:cNvPicPr>
            <a:picLocks noChangeAspect="1"/>
          </p:cNvPicPr>
          <p:nvPr/>
        </p:nvPicPr>
        <p:blipFill>
          <a:blip r:embed="rId1">
            <a:alphaModFix amt="22000"/>
          </a:blip>
          <a:stretch>
            <a:fillRect/>
          </a:stretch>
        </p:blipFill>
        <p:spPr>
          <a:xfrm>
            <a:off x="10847527" y="384048"/>
            <a:ext cx="658368" cy="20939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EBE0"/>
        </a:solidFill>
      </p:bgPr>
    </p:bg>
    <p:spTree>
      <p:nvGrpSpPr>
        <p:cNvPr id="1" name=""/>
        <p:cNvGrpSpPr/>
        <p:nvPr/>
      </p:nvGrpSpPr>
      <p:grpSpPr>
        <a:xfrm>
          <a:off x="0" y="0"/>
          <a:ext cx="0" cy="0"/>
          <a:chOff x="0" y="0"/>
          <a:chExt cx="0" cy="0"/>
        </a:xfrm>
      </p:grpSpPr>
      <p:sp>
        <p:nvSpPr>
          <p:cNvPr id="2" name="Text 0"/>
          <p:cNvSpPr/>
          <p:nvPr/>
        </p:nvSpPr>
        <p:spPr>
          <a:xfrm>
            <a:off x="685800" y="566928"/>
            <a:ext cx="7772400" cy="256032"/>
          </a:xfrm>
          <a:prstGeom prst="rect">
            <a:avLst/>
          </a:prstGeom>
          <a:noFill/>
          <a:ln/>
        </p:spPr>
        <p:txBody>
          <a:bodyPr wrap="square" lIns="0" tIns="0" rIns="0" bIns="0" rtlCol="0" anchor="ctr"/>
          <a:lstStyle/>
          <a:p>
            <a:pPr indent="0" marL="0">
              <a:buNone/>
            </a:pPr>
            <a:r>
              <a:rPr lang="en-US" sz="1050" b="1" spc="260" kern="0" dirty="0">
                <a:solidFill>
                  <a:srgbClr val="8A6D1E"/>
                </a:solidFill>
                <a:latin typeface="Calibri" pitchFamily="34" charset="0"/>
                <a:ea typeface="Calibri" pitchFamily="34" charset="-122"/>
                <a:cs typeface="Calibri" pitchFamily="34" charset="-120"/>
              </a:rPr>
              <a:t>AGREEMENTS</a:t>
            </a:r>
            <a:endParaRPr lang="en-US" sz="1050" dirty="0"/>
          </a:p>
        </p:txBody>
      </p:sp>
      <p:sp>
        <p:nvSpPr>
          <p:cNvPr id="3" name="Text 1"/>
          <p:cNvSpPr/>
          <p:nvPr/>
        </p:nvSpPr>
        <p:spPr>
          <a:xfrm>
            <a:off x="685800" y="868680"/>
            <a:ext cx="10058400" cy="658368"/>
          </a:xfrm>
          <a:prstGeom prst="rect">
            <a:avLst/>
          </a:prstGeom>
          <a:noFill/>
          <a:ln/>
        </p:spPr>
        <p:txBody>
          <a:bodyPr wrap="square" lIns="0" tIns="0" rIns="0" bIns="0" rtlCol="0" anchor="ctr"/>
          <a:lstStyle/>
          <a:p>
            <a:pPr indent="0" marL="0">
              <a:buNone/>
            </a:pPr>
            <a:r>
              <a:rPr lang="en-US" sz="3400" b="1" dirty="0">
                <a:solidFill>
                  <a:srgbClr val="141414"/>
                </a:solidFill>
                <a:latin typeface="Cambria" pitchFamily="34" charset="0"/>
                <a:ea typeface="Cambria" pitchFamily="34" charset="-122"/>
                <a:cs typeface="Cambria" pitchFamily="34" charset="-120"/>
              </a:rPr>
              <a:t>Two signatures before anything runs</a:t>
            </a:r>
            <a:endParaRPr lang="en-US" sz="3400" dirty="0"/>
          </a:p>
        </p:txBody>
      </p:sp>
      <p:sp>
        <p:nvSpPr>
          <p:cNvPr id="4" name="Shape 2"/>
          <p:cNvSpPr/>
          <p:nvPr/>
        </p:nvSpPr>
        <p:spPr>
          <a:xfrm>
            <a:off x="685800" y="1737360"/>
            <a:ext cx="6766560" cy="2999232"/>
          </a:xfrm>
          <a:prstGeom prst="roundRect">
            <a:avLst>
              <a:gd name="adj" fmla="val 2744"/>
            </a:avLst>
          </a:prstGeom>
          <a:solidFill>
            <a:srgbClr val="141414"/>
          </a:solidFill>
          <a:ln/>
        </p:spPr>
      </p:sp>
      <p:sp>
        <p:nvSpPr>
          <p:cNvPr id="5" name="Text 3"/>
          <p:cNvSpPr/>
          <p:nvPr/>
        </p:nvSpPr>
        <p:spPr>
          <a:xfrm>
            <a:off x="1088136" y="2048256"/>
            <a:ext cx="548640" cy="548640"/>
          </a:xfrm>
          <a:prstGeom prst="ellipse">
            <a:avLst/>
          </a:prstGeom>
          <a:solidFill>
            <a:srgbClr val="8A6D1E"/>
          </a:solidFill>
          <a:ln/>
        </p:spPr>
        <p:txBody>
          <a:bodyPr wrap="square" lIns="0" tIns="0" rIns="0" bIns="0" rtlCol="0" anchor="ctr"/>
          <a:lstStyle/>
          <a:p>
            <a:pPr algn="ctr" indent="0" marL="0">
              <a:buNone/>
            </a:pPr>
            <a:r>
              <a:rPr lang="en-US" sz="1500" b="1" dirty="0">
                <a:solidFill>
                  <a:srgbClr val="F0EBE0"/>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746504" y="2011680"/>
            <a:ext cx="5394960" cy="621792"/>
          </a:xfrm>
          <a:prstGeom prst="rect">
            <a:avLst/>
          </a:prstGeom>
          <a:noFill/>
          <a:ln/>
        </p:spPr>
        <p:txBody>
          <a:bodyPr wrap="square" lIns="0" tIns="0" rIns="0" bIns="0" rtlCol="0" anchor="ctr"/>
          <a:lstStyle/>
          <a:p>
            <a:pPr indent="0" marL="0">
              <a:lnSpc>
                <a:spcPct val="98000"/>
              </a:lnSpc>
              <a:buNone/>
            </a:pPr>
            <a:r>
              <a:rPr lang="en-US" sz="2400" b="1" dirty="0">
                <a:solidFill>
                  <a:srgbClr val="F0EBE0"/>
                </a:solidFill>
                <a:latin typeface="Cambria" pitchFamily="34" charset="0"/>
                <a:ea typeface="Cambria" pitchFamily="34" charset="-122"/>
                <a:cs typeface="Cambria" pitchFamily="34" charset="-120"/>
              </a:rPr>
              <a:t>Business Associate Agreement</a:t>
            </a:r>
            <a:endParaRPr lang="en-US" sz="2400" dirty="0"/>
          </a:p>
        </p:txBody>
      </p:sp>
      <p:sp>
        <p:nvSpPr>
          <p:cNvPr id="7" name="Shape 5"/>
          <p:cNvSpPr/>
          <p:nvPr/>
        </p:nvSpPr>
        <p:spPr>
          <a:xfrm>
            <a:off x="1088136" y="2889504"/>
            <a:ext cx="256032" cy="256032"/>
          </a:xfrm>
          <a:prstGeom prst="ellipse">
            <a:avLst/>
          </a:prstGeom>
          <a:solidFill>
            <a:srgbClr val="8A6D1E"/>
          </a:solidFill>
          <a:ln/>
        </p:spPr>
      </p:sp>
      <p:sp>
        <p:nvSpPr>
          <p:cNvPr id="8" name="Text 6"/>
          <p:cNvSpPr/>
          <p:nvPr/>
        </p:nvSpPr>
        <p:spPr>
          <a:xfrm>
            <a:off x="1508760" y="2834640"/>
            <a:ext cx="5577840" cy="292608"/>
          </a:xfrm>
          <a:prstGeom prst="rect">
            <a:avLst/>
          </a:prstGeom>
          <a:noFill/>
          <a:ln/>
        </p:spPr>
        <p:txBody>
          <a:bodyPr wrap="square" lIns="0" tIns="0" rIns="0" bIns="0" rtlCol="0" anchor="ctr"/>
          <a:lstStyle/>
          <a:p>
            <a:pPr indent="0" marL="0">
              <a:buNone/>
            </a:pPr>
            <a:r>
              <a:rPr lang="en-US" sz="1400" b="1" dirty="0">
                <a:solidFill>
                  <a:srgbClr val="F0EBE0"/>
                </a:solidFill>
                <a:latin typeface="Calibri" pitchFamily="34" charset="0"/>
                <a:ea typeface="Calibri" pitchFamily="34" charset="-122"/>
                <a:cs typeface="Calibri" pitchFamily="34" charset="-120"/>
              </a:rPr>
              <a:t>No work begins until it is signed</a:t>
            </a:r>
            <a:endParaRPr lang="en-US" sz="1400" dirty="0"/>
          </a:p>
        </p:txBody>
      </p:sp>
      <p:sp>
        <p:nvSpPr>
          <p:cNvPr id="9" name="Text 7"/>
          <p:cNvSpPr/>
          <p:nvPr/>
        </p:nvSpPr>
        <p:spPr>
          <a:xfrm>
            <a:off x="1508760" y="3136392"/>
            <a:ext cx="5596128" cy="566928"/>
          </a:xfrm>
          <a:prstGeom prst="rect">
            <a:avLst/>
          </a:prstGeom>
          <a:noFill/>
          <a:ln/>
        </p:spPr>
        <p:txBody>
          <a:bodyPr wrap="square" lIns="0" tIns="0" rIns="0" bIns="0" rtlCol="0" anchor="t"/>
          <a:lstStyle/>
          <a:p>
            <a:pPr indent="0" marL="0">
              <a:lnSpc>
                <a:spcPct val="116000"/>
              </a:lnSpc>
              <a:buNone/>
            </a:pPr>
            <a:r>
              <a:rPr lang="en-US" sz="1250" dirty="0">
                <a:solidFill>
                  <a:srgbClr val="A8A093"/>
                </a:solidFill>
                <a:latin typeface="Calibri" pitchFamily="34" charset="0"/>
                <a:ea typeface="Calibri" pitchFamily="34" charset="-122"/>
                <a:cs typeface="Calibri" pitchFamily="34" charset="-120"/>
              </a:rPr>
              <a:t>Not a single lead is touched before the BAA is executed. This is a hard gate, not a formality we chase later.</a:t>
            </a:r>
            <a:endParaRPr lang="en-US" sz="1250" dirty="0"/>
          </a:p>
        </p:txBody>
      </p:sp>
      <p:sp>
        <p:nvSpPr>
          <p:cNvPr id="10" name="Shape 8"/>
          <p:cNvSpPr/>
          <p:nvPr/>
        </p:nvSpPr>
        <p:spPr>
          <a:xfrm>
            <a:off x="1088136" y="3822192"/>
            <a:ext cx="256032" cy="256032"/>
          </a:xfrm>
          <a:prstGeom prst="ellipse">
            <a:avLst/>
          </a:prstGeom>
          <a:solidFill>
            <a:srgbClr val="8A6D1E"/>
          </a:solidFill>
          <a:ln/>
        </p:spPr>
      </p:sp>
      <p:sp>
        <p:nvSpPr>
          <p:cNvPr id="11" name="Text 9"/>
          <p:cNvSpPr/>
          <p:nvPr/>
        </p:nvSpPr>
        <p:spPr>
          <a:xfrm>
            <a:off x="1508760" y="3767328"/>
            <a:ext cx="5577840" cy="292608"/>
          </a:xfrm>
          <a:prstGeom prst="rect">
            <a:avLst/>
          </a:prstGeom>
          <a:noFill/>
          <a:ln/>
        </p:spPr>
        <p:txBody>
          <a:bodyPr wrap="square" lIns="0" tIns="0" rIns="0" bIns="0" rtlCol="0" anchor="ctr"/>
          <a:lstStyle/>
          <a:p>
            <a:pPr indent="0" marL="0">
              <a:buNone/>
            </a:pPr>
            <a:r>
              <a:rPr lang="en-US" sz="1400" b="1" dirty="0">
                <a:solidFill>
                  <a:srgbClr val="F0EBE0"/>
                </a:solidFill>
                <a:latin typeface="Calibri" pitchFamily="34" charset="0"/>
                <a:ea typeface="Calibri" pitchFamily="34" charset="-122"/>
                <a:cs typeface="Calibri" pitchFamily="34" charset="-120"/>
              </a:rPr>
              <a:t>Our vendors are covered too</a:t>
            </a:r>
            <a:endParaRPr lang="en-US" sz="1400" dirty="0"/>
          </a:p>
        </p:txBody>
      </p:sp>
      <p:sp>
        <p:nvSpPr>
          <p:cNvPr id="12" name="Text 10"/>
          <p:cNvSpPr/>
          <p:nvPr/>
        </p:nvSpPr>
        <p:spPr>
          <a:xfrm>
            <a:off x="1508760" y="4069080"/>
            <a:ext cx="5596128" cy="566928"/>
          </a:xfrm>
          <a:prstGeom prst="rect">
            <a:avLst/>
          </a:prstGeom>
          <a:noFill/>
          <a:ln/>
        </p:spPr>
        <p:txBody>
          <a:bodyPr wrap="square" lIns="0" tIns="0" rIns="0" bIns="0" rtlCol="0" anchor="t"/>
          <a:lstStyle/>
          <a:p>
            <a:pPr indent="0" marL="0">
              <a:lnSpc>
                <a:spcPct val="116000"/>
              </a:lnSpc>
              <a:buNone/>
            </a:pPr>
            <a:r>
              <a:rPr lang="en-US" sz="1250" dirty="0">
                <a:solidFill>
                  <a:srgbClr val="A8A093"/>
                </a:solidFill>
                <a:latin typeface="Calibri" pitchFamily="34" charset="0"/>
                <a:ea typeface="Calibri" pitchFamily="34" charset="-122"/>
                <a:cs typeface="Calibri" pitchFamily="34" charset="-120"/>
              </a:rPr>
              <a:t>Stay Booked keeps signed BAAs with every tool that touches patient information, GoHighLevel included.</a:t>
            </a:r>
            <a:endParaRPr lang="en-US" sz="1250" dirty="0"/>
          </a:p>
        </p:txBody>
      </p:sp>
      <p:sp>
        <p:nvSpPr>
          <p:cNvPr id="13" name="Shape 11"/>
          <p:cNvSpPr/>
          <p:nvPr/>
        </p:nvSpPr>
        <p:spPr>
          <a:xfrm>
            <a:off x="7808976" y="1737360"/>
            <a:ext cx="3694176" cy="2999232"/>
          </a:xfrm>
          <a:prstGeom prst="roundRect">
            <a:avLst>
              <a:gd name="adj" fmla="val 2744"/>
            </a:avLst>
          </a:prstGeom>
          <a:solidFill>
            <a:srgbClr val="FBFAF6"/>
          </a:solidFill>
          <a:ln w="9525">
            <a:solidFill>
              <a:srgbClr val="C9C2B4"/>
            </a:solidFill>
            <a:prstDash val="solid"/>
          </a:ln>
        </p:spPr>
      </p:sp>
      <p:sp>
        <p:nvSpPr>
          <p:cNvPr id="14" name="Text 12"/>
          <p:cNvSpPr/>
          <p:nvPr/>
        </p:nvSpPr>
        <p:spPr>
          <a:xfrm>
            <a:off x="8119872" y="2048256"/>
            <a:ext cx="548640" cy="548640"/>
          </a:xfrm>
          <a:prstGeom prst="ellipse">
            <a:avLst/>
          </a:prstGeom>
          <a:solidFill>
            <a:srgbClr val="141414"/>
          </a:solidFill>
          <a:ln/>
        </p:spPr>
        <p:txBody>
          <a:bodyPr wrap="square" lIns="0" tIns="0" rIns="0" bIns="0" rtlCol="0" anchor="ctr"/>
          <a:lstStyle/>
          <a:p>
            <a:pPr algn="ctr" indent="0" marL="0">
              <a:buNone/>
            </a:pPr>
            <a:r>
              <a:rPr lang="en-US" sz="1500" b="1" dirty="0">
                <a:solidFill>
                  <a:srgbClr val="CFB48E"/>
                </a:solidFill>
                <a:latin typeface="Calibri" pitchFamily="34" charset="0"/>
                <a:ea typeface="Calibri" pitchFamily="34" charset="-122"/>
                <a:cs typeface="Calibri" pitchFamily="34" charset="-120"/>
              </a:rPr>
              <a:t>2</a:t>
            </a:r>
            <a:endParaRPr lang="en-US" sz="1500" dirty="0"/>
          </a:p>
        </p:txBody>
      </p:sp>
      <p:sp>
        <p:nvSpPr>
          <p:cNvPr id="15" name="Text 13"/>
          <p:cNvSpPr/>
          <p:nvPr/>
        </p:nvSpPr>
        <p:spPr>
          <a:xfrm>
            <a:off x="8119872" y="2743200"/>
            <a:ext cx="3108960" cy="457200"/>
          </a:xfrm>
          <a:prstGeom prst="rect">
            <a:avLst/>
          </a:prstGeom>
          <a:noFill/>
          <a:ln/>
        </p:spPr>
        <p:txBody>
          <a:bodyPr wrap="square" lIns="0" tIns="0" rIns="0" bIns="0" rtlCol="0" anchor="ctr"/>
          <a:lstStyle/>
          <a:p>
            <a:pPr indent="0" marL="0">
              <a:buNone/>
            </a:pPr>
            <a:r>
              <a:rPr lang="en-US" sz="2400" b="1" dirty="0">
                <a:solidFill>
                  <a:srgbClr val="141414"/>
                </a:solidFill>
                <a:latin typeface="Cambria" pitchFamily="34" charset="0"/>
                <a:ea typeface="Cambria" pitchFamily="34" charset="-122"/>
                <a:cs typeface="Cambria" pitchFamily="34" charset="-120"/>
              </a:rPr>
              <a:t>Terms of Service</a:t>
            </a:r>
            <a:endParaRPr lang="en-US" sz="2400" dirty="0"/>
          </a:p>
        </p:txBody>
      </p:sp>
      <p:sp>
        <p:nvSpPr>
          <p:cNvPr id="16" name="Text 14"/>
          <p:cNvSpPr/>
          <p:nvPr/>
        </p:nvSpPr>
        <p:spPr>
          <a:xfrm>
            <a:off x="8119872" y="3291840"/>
            <a:ext cx="3127248" cy="1133856"/>
          </a:xfrm>
          <a:prstGeom prst="rect">
            <a:avLst/>
          </a:prstGeom>
          <a:noFill/>
          <a:ln/>
        </p:spPr>
        <p:txBody>
          <a:bodyPr wrap="square" lIns="0" tIns="0" rIns="0" bIns="0" rtlCol="0" anchor="t"/>
          <a:lstStyle/>
          <a:p>
            <a:pPr indent="0" marL="0">
              <a:lnSpc>
                <a:spcPct val="120000"/>
              </a:lnSpc>
              <a:buNone/>
            </a:pPr>
            <a:r>
              <a:rPr lang="en-US" sz="1250" dirty="0">
                <a:solidFill>
                  <a:srgbClr val="3A3A3A"/>
                </a:solidFill>
                <a:latin typeface="Calibri" pitchFamily="34" charset="0"/>
                <a:ea typeface="Calibri" pitchFamily="34" charset="-122"/>
                <a:cs typeface="Calibri" pitchFamily="34" charset="-120"/>
              </a:rPr>
              <a:t>Confirm today that you have read and signed the Terms of Service. If anything in it is unclear, we would rather work through it in this meeting than after the first invoice.</a:t>
            </a:r>
            <a:endParaRPr lang="en-US" sz="1250" dirty="0"/>
          </a:p>
        </p:txBody>
      </p:sp>
      <p:sp>
        <p:nvSpPr>
          <p:cNvPr id="17" name="Shape 15"/>
          <p:cNvSpPr/>
          <p:nvPr/>
        </p:nvSpPr>
        <p:spPr>
          <a:xfrm>
            <a:off x="685800" y="4956048"/>
            <a:ext cx="10820095" cy="896112"/>
          </a:xfrm>
          <a:prstGeom prst="roundRect">
            <a:avLst>
              <a:gd name="adj" fmla="val 9184"/>
            </a:avLst>
          </a:prstGeom>
          <a:solidFill>
            <a:srgbClr val="F5EFE0"/>
          </a:solidFill>
          <a:ln w="9525">
            <a:solidFill>
              <a:srgbClr val="D9C79A"/>
            </a:solidFill>
            <a:prstDash val="solid"/>
          </a:ln>
        </p:spPr>
      </p:sp>
      <p:sp>
        <p:nvSpPr>
          <p:cNvPr id="18" name="Text 16"/>
          <p:cNvSpPr/>
          <p:nvPr/>
        </p:nvSpPr>
        <p:spPr>
          <a:xfrm>
            <a:off x="1069848" y="4956048"/>
            <a:ext cx="10051999" cy="896112"/>
          </a:xfrm>
          <a:prstGeom prst="rect">
            <a:avLst/>
          </a:prstGeom>
          <a:noFill/>
          <a:ln/>
        </p:spPr>
        <p:txBody>
          <a:bodyPr wrap="square" lIns="0" tIns="0" rIns="0" bIns="0" rtlCol="0" anchor="ctr"/>
          <a:lstStyle/>
          <a:p>
            <a:pPr indent="0" marL="0">
              <a:buNone/>
            </a:pPr>
            <a:r>
              <a:rPr lang="en-US" sz="1900" b="1" dirty="0">
                <a:solidFill>
                  <a:srgbClr val="5C4712"/>
                </a:solidFill>
                <a:latin typeface="Cambria" pitchFamily="34" charset="0"/>
                <a:ea typeface="Cambria" pitchFamily="34" charset="-122"/>
                <a:cs typeface="Cambria" pitchFamily="34" charset="-120"/>
              </a:rPr>
              <a:t>Until both are signed, no campaigns are built, no ads are run, and no leads are worked.</a:t>
            </a:r>
            <a:endParaRPr lang="en-US" sz="1900" dirty="0"/>
          </a:p>
        </p:txBody>
      </p:sp>
      <p:sp>
        <p:nvSpPr>
          <p:cNvPr id="19" name="Text 17"/>
          <p:cNvSpPr/>
          <p:nvPr/>
        </p:nvSpPr>
        <p:spPr>
          <a:xfrm>
            <a:off x="685800" y="6327648"/>
            <a:ext cx="5486400" cy="274320"/>
          </a:xfrm>
          <a:prstGeom prst="rect">
            <a:avLst/>
          </a:prstGeom>
          <a:noFill/>
          <a:ln/>
        </p:spPr>
        <p:txBody>
          <a:bodyPr wrap="square" lIns="0" tIns="0" rIns="0" bIns="0" rtlCol="0" anchor="ctr"/>
          <a:lstStyle/>
          <a:p>
            <a:pPr indent="0" marL="0">
              <a:buNone/>
            </a:pPr>
            <a:r>
              <a:rPr lang="en-US" sz="850" spc="160" kern="0" dirty="0">
                <a:solidFill>
                  <a:srgbClr val="9A9080"/>
                </a:solidFill>
                <a:latin typeface="Calibri" pitchFamily="34" charset="0"/>
                <a:ea typeface="Calibri" pitchFamily="34" charset="-122"/>
                <a:cs typeface="Calibri" pitchFamily="34" charset="-120"/>
              </a:rPr>
              <a:t>STAY BOOKED MARKETING  ·  CLIENT KICKOFF</a:t>
            </a:r>
            <a:endParaRPr lang="en-US" sz="850" dirty="0"/>
          </a:p>
        </p:txBody>
      </p:sp>
      <p:sp>
        <p:nvSpPr>
          <p:cNvPr id="20" name="Text 18"/>
          <p:cNvSpPr/>
          <p:nvPr/>
        </p:nvSpPr>
        <p:spPr>
          <a:xfrm>
            <a:off x="10591495" y="6327648"/>
            <a:ext cx="914400" cy="274320"/>
          </a:xfrm>
          <a:prstGeom prst="rect">
            <a:avLst/>
          </a:prstGeom>
          <a:noFill/>
          <a:ln/>
        </p:spPr>
        <p:txBody>
          <a:bodyPr wrap="square" lIns="0" tIns="0" rIns="0" bIns="0" rtlCol="0" anchor="ctr"/>
          <a:lstStyle/>
          <a:p>
            <a:pPr algn="r" indent="0" marL="0">
              <a:buNone/>
            </a:pPr>
            <a:r>
              <a:rPr lang="en-US" sz="850" spc="160" kern="0" dirty="0">
                <a:solidFill>
                  <a:srgbClr val="9A9080"/>
                </a:solidFill>
                <a:latin typeface="Calibri" pitchFamily="34" charset="0"/>
                <a:ea typeface="Calibri" pitchFamily="34" charset="-122"/>
                <a:cs typeface="Calibri" pitchFamily="34" charset="-120"/>
              </a:rPr>
              <a:t>19</a:t>
            </a:r>
            <a:endParaRPr lang="en-US" sz="850" dirty="0"/>
          </a:p>
        </p:txBody>
      </p:sp>
      <p:pic>
        <p:nvPicPr>
          <p:cNvPr id="21" name="Image 0" descr="assets/logo_black.png">    </p:cNvPr>
          <p:cNvPicPr>
            <a:picLocks noChangeAspect="1"/>
          </p:cNvPicPr>
          <p:nvPr/>
        </p:nvPicPr>
        <p:blipFill>
          <a:blip r:embed="rId1">
            <a:alphaModFix amt="22000"/>
          </a:blip>
          <a:stretch>
            <a:fillRect/>
          </a:stretch>
        </p:blipFill>
        <p:spPr>
          <a:xfrm>
            <a:off x="10847527" y="384048"/>
            <a:ext cx="658368" cy="20939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1414"/>
        </a:solidFill>
      </p:bgPr>
    </p:bg>
    <p:spTree>
      <p:nvGrpSpPr>
        <p:cNvPr id="1" name=""/>
        <p:cNvGrpSpPr/>
        <p:nvPr/>
      </p:nvGrpSpPr>
      <p:grpSpPr>
        <a:xfrm>
          <a:off x="0" y="0"/>
          <a:ext cx="0" cy="0"/>
          <a:chOff x="0" y="0"/>
          <a:chExt cx="0" cy="0"/>
        </a:xfrm>
      </p:grpSpPr>
      <p:sp>
        <p:nvSpPr>
          <p:cNvPr id="2" name="Shape 0"/>
          <p:cNvSpPr/>
          <p:nvPr/>
        </p:nvSpPr>
        <p:spPr>
          <a:xfrm>
            <a:off x="8778240" y="-1188720"/>
            <a:ext cx="4937760" cy="4937760"/>
          </a:xfrm>
          <a:prstGeom prst="ellipse">
            <a:avLst/>
          </a:prstGeom>
          <a:ln w="12700">
            <a:solidFill>
              <a:srgbClr val="302A23"/>
            </a:solidFill>
            <a:prstDash val="solid"/>
          </a:ln>
        </p:spPr>
      </p:sp>
      <p:sp>
        <p:nvSpPr>
          <p:cNvPr id="3" name="Text 1"/>
          <p:cNvSpPr/>
          <p:nvPr/>
        </p:nvSpPr>
        <p:spPr>
          <a:xfrm>
            <a:off x="685800" y="566928"/>
            <a:ext cx="7772400" cy="256032"/>
          </a:xfrm>
          <a:prstGeom prst="rect">
            <a:avLst/>
          </a:prstGeom>
          <a:noFill/>
          <a:ln/>
        </p:spPr>
        <p:txBody>
          <a:bodyPr wrap="square" lIns="0" tIns="0" rIns="0" bIns="0" rtlCol="0" anchor="ctr"/>
          <a:lstStyle/>
          <a:p>
            <a:pPr indent="0" marL="0">
              <a:buNone/>
            </a:pPr>
            <a:r>
              <a:rPr lang="en-US" sz="1050" b="1" spc="260" kern="0" dirty="0">
                <a:solidFill>
                  <a:srgbClr val="CFB48E"/>
                </a:solidFill>
                <a:latin typeface="Calibri" pitchFamily="34" charset="0"/>
                <a:ea typeface="Calibri" pitchFamily="34" charset="-122"/>
                <a:cs typeface="Calibri" pitchFamily="34" charset="-120"/>
              </a:rPr>
              <a:t>BEFORE WE GO</a:t>
            </a:r>
            <a:endParaRPr lang="en-US" sz="1050" dirty="0"/>
          </a:p>
        </p:txBody>
      </p:sp>
      <p:sp>
        <p:nvSpPr>
          <p:cNvPr id="4" name="Text 2"/>
          <p:cNvSpPr/>
          <p:nvPr/>
        </p:nvSpPr>
        <p:spPr>
          <a:xfrm>
            <a:off x="685800" y="868680"/>
            <a:ext cx="9326880" cy="658368"/>
          </a:xfrm>
          <a:prstGeom prst="rect">
            <a:avLst/>
          </a:prstGeom>
          <a:noFill/>
          <a:ln/>
        </p:spPr>
        <p:txBody>
          <a:bodyPr wrap="square" lIns="0" tIns="0" rIns="0" bIns="0" rtlCol="0" anchor="ctr"/>
          <a:lstStyle/>
          <a:p>
            <a:pPr indent="0" marL="0">
              <a:buNone/>
            </a:pPr>
            <a:r>
              <a:rPr lang="en-US" sz="3400" b="1" dirty="0">
                <a:solidFill>
                  <a:srgbClr val="F0EBE0"/>
                </a:solidFill>
                <a:latin typeface="Cambria" pitchFamily="34" charset="0"/>
                <a:ea typeface="Cambria" pitchFamily="34" charset="-122"/>
                <a:cs typeface="Cambria" pitchFamily="34" charset="-120"/>
              </a:rPr>
              <a:t>What happens next</a:t>
            </a:r>
            <a:endParaRPr lang="en-US" sz="3400" dirty="0"/>
          </a:p>
        </p:txBody>
      </p:sp>
      <p:sp>
        <p:nvSpPr>
          <p:cNvPr id="5" name="Shape 3"/>
          <p:cNvSpPr/>
          <p:nvPr/>
        </p:nvSpPr>
        <p:spPr>
          <a:xfrm>
            <a:off x="685800" y="1755648"/>
            <a:ext cx="5272888" cy="969264"/>
          </a:xfrm>
          <a:prstGeom prst="roundRect">
            <a:avLst>
              <a:gd name="adj" fmla="val 8491"/>
            </a:avLst>
          </a:prstGeom>
          <a:solidFill>
            <a:srgbClr val="201E1A"/>
          </a:solidFill>
          <a:ln w="9525">
            <a:solidFill>
              <a:srgbClr val="35302A"/>
            </a:solidFill>
            <a:prstDash val="solid"/>
          </a:ln>
        </p:spPr>
      </p:sp>
      <p:sp>
        <p:nvSpPr>
          <p:cNvPr id="6" name="Shape 4"/>
          <p:cNvSpPr/>
          <p:nvPr/>
        </p:nvSpPr>
        <p:spPr>
          <a:xfrm>
            <a:off x="960120" y="2066544"/>
            <a:ext cx="310896" cy="310896"/>
          </a:xfrm>
          <a:prstGeom prst="roundRect">
            <a:avLst>
              <a:gd name="adj" fmla="val 17647"/>
            </a:avLst>
          </a:prstGeom>
          <a:solidFill>
            <a:srgbClr val="141414"/>
          </a:solidFill>
          <a:ln w="15875">
            <a:solidFill>
              <a:srgbClr val="8A6D1E"/>
            </a:solidFill>
            <a:prstDash val="solid"/>
          </a:ln>
        </p:spPr>
      </p:sp>
      <p:sp>
        <p:nvSpPr>
          <p:cNvPr id="7" name="Text 5"/>
          <p:cNvSpPr/>
          <p:nvPr/>
        </p:nvSpPr>
        <p:spPr>
          <a:xfrm>
            <a:off x="1435608" y="1938528"/>
            <a:ext cx="4248760" cy="310896"/>
          </a:xfrm>
          <a:prstGeom prst="rect">
            <a:avLst/>
          </a:prstGeom>
          <a:noFill/>
          <a:ln/>
        </p:spPr>
        <p:txBody>
          <a:bodyPr wrap="square" lIns="0" tIns="0" rIns="0" bIns="0" rtlCol="0" anchor="ctr"/>
          <a:lstStyle/>
          <a:p>
            <a:pPr indent="0" marL="0">
              <a:buNone/>
            </a:pPr>
            <a:r>
              <a:rPr lang="en-US" sz="1350" b="1" dirty="0">
                <a:solidFill>
                  <a:srgbClr val="F0EBE0"/>
                </a:solidFill>
                <a:latin typeface="Calibri" pitchFamily="34" charset="0"/>
                <a:ea typeface="Calibri" pitchFamily="34" charset="-122"/>
                <a:cs typeface="Calibri" pitchFamily="34" charset="-120"/>
              </a:rPr>
              <a:t>Sign the BAA and the Terms of Service</a:t>
            </a:r>
            <a:endParaRPr lang="en-US" sz="1350" dirty="0"/>
          </a:p>
        </p:txBody>
      </p:sp>
      <p:sp>
        <p:nvSpPr>
          <p:cNvPr id="8" name="Text 6"/>
          <p:cNvSpPr/>
          <p:nvPr/>
        </p:nvSpPr>
        <p:spPr>
          <a:xfrm>
            <a:off x="1435608" y="2249424"/>
            <a:ext cx="4248760" cy="310896"/>
          </a:xfrm>
          <a:prstGeom prst="rect">
            <a:avLst/>
          </a:prstGeom>
          <a:noFill/>
          <a:ln/>
        </p:spPr>
        <p:txBody>
          <a:bodyPr wrap="square" lIns="0" tIns="0" rIns="0" bIns="0" rtlCol="0" anchor="ctr"/>
          <a:lstStyle/>
          <a:p>
            <a:pPr indent="0" marL="0">
              <a:buNone/>
            </a:pPr>
            <a:r>
              <a:rPr lang="en-US" sz="1150" dirty="0">
                <a:solidFill>
                  <a:srgbClr val="A8A093"/>
                </a:solidFill>
                <a:latin typeface="Calibri" pitchFamily="34" charset="0"/>
                <a:ea typeface="Calibri" pitchFamily="34" charset="-122"/>
                <a:cs typeface="Calibri" pitchFamily="34" charset="-120"/>
              </a:rPr>
              <a:t>Nothing starts before these two land.</a:t>
            </a:r>
            <a:endParaRPr lang="en-US" sz="1150" dirty="0"/>
          </a:p>
        </p:txBody>
      </p:sp>
      <p:sp>
        <p:nvSpPr>
          <p:cNvPr id="9" name="Shape 7"/>
          <p:cNvSpPr/>
          <p:nvPr/>
        </p:nvSpPr>
        <p:spPr>
          <a:xfrm>
            <a:off x="6233008" y="1755648"/>
            <a:ext cx="5272888" cy="969264"/>
          </a:xfrm>
          <a:prstGeom prst="roundRect">
            <a:avLst>
              <a:gd name="adj" fmla="val 8491"/>
            </a:avLst>
          </a:prstGeom>
          <a:solidFill>
            <a:srgbClr val="201E1A"/>
          </a:solidFill>
          <a:ln w="9525">
            <a:solidFill>
              <a:srgbClr val="35302A"/>
            </a:solidFill>
            <a:prstDash val="solid"/>
          </a:ln>
        </p:spPr>
      </p:sp>
      <p:sp>
        <p:nvSpPr>
          <p:cNvPr id="10" name="Shape 8"/>
          <p:cNvSpPr/>
          <p:nvPr/>
        </p:nvSpPr>
        <p:spPr>
          <a:xfrm>
            <a:off x="6507328" y="2066544"/>
            <a:ext cx="310896" cy="310896"/>
          </a:xfrm>
          <a:prstGeom prst="roundRect">
            <a:avLst>
              <a:gd name="adj" fmla="val 17647"/>
            </a:avLst>
          </a:prstGeom>
          <a:solidFill>
            <a:srgbClr val="141414"/>
          </a:solidFill>
          <a:ln w="15875">
            <a:solidFill>
              <a:srgbClr val="8A6D1E"/>
            </a:solidFill>
            <a:prstDash val="solid"/>
          </a:ln>
        </p:spPr>
      </p:sp>
      <p:sp>
        <p:nvSpPr>
          <p:cNvPr id="11" name="Text 9"/>
          <p:cNvSpPr/>
          <p:nvPr/>
        </p:nvSpPr>
        <p:spPr>
          <a:xfrm>
            <a:off x="6982816" y="1938528"/>
            <a:ext cx="4248760" cy="310896"/>
          </a:xfrm>
          <a:prstGeom prst="rect">
            <a:avLst/>
          </a:prstGeom>
          <a:noFill/>
          <a:ln/>
        </p:spPr>
        <p:txBody>
          <a:bodyPr wrap="square" lIns="0" tIns="0" rIns="0" bIns="0" rtlCol="0" anchor="ctr"/>
          <a:lstStyle/>
          <a:p>
            <a:pPr indent="0" marL="0">
              <a:buNone/>
            </a:pPr>
            <a:r>
              <a:rPr lang="en-US" sz="1350" b="1" dirty="0">
                <a:solidFill>
                  <a:srgbClr val="F0EBE0"/>
                </a:solidFill>
                <a:latin typeface="Calibri" pitchFamily="34" charset="0"/>
                <a:ea typeface="Calibri" pitchFamily="34" charset="-122"/>
                <a:cs typeface="Calibri" pitchFamily="34" charset="-120"/>
              </a:rPr>
              <a:t>Confirm insurance and service area</a:t>
            </a:r>
            <a:endParaRPr lang="en-US" sz="1350" dirty="0"/>
          </a:p>
        </p:txBody>
      </p:sp>
      <p:sp>
        <p:nvSpPr>
          <p:cNvPr id="12" name="Text 10"/>
          <p:cNvSpPr/>
          <p:nvPr/>
        </p:nvSpPr>
        <p:spPr>
          <a:xfrm>
            <a:off x="6982816" y="2249424"/>
            <a:ext cx="4248760" cy="310896"/>
          </a:xfrm>
          <a:prstGeom prst="rect">
            <a:avLst/>
          </a:prstGeom>
          <a:noFill/>
          <a:ln/>
        </p:spPr>
        <p:txBody>
          <a:bodyPr wrap="square" lIns="0" tIns="0" rIns="0" bIns="0" rtlCol="0" anchor="ctr"/>
          <a:lstStyle/>
          <a:p>
            <a:pPr indent="0" marL="0">
              <a:buNone/>
            </a:pPr>
            <a:r>
              <a:rPr lang="en-US" sz="1150" dirty="0">
                <a:solidFill>
                  <a:srgbClr val="A8A093"/>
                </a:solidFill>
                <a:latin typeface="Calibri" pitchFamily="34" charset="0"/>
                <a:ea typeface="Calibri" pitchFamily="34" charset="-122"/>
                <a:cs typeface="Calibri" pitchFamily="34" charset="-120"/>
              </a:rPr>
              <a:t>In writing, so targeting is built off the real boundary.</a:t>
            </a:r>
            <a:endParaRPr lang="en-US" sz="1150" dirty="0"/>
          </a:p>
        </p:txBody>
      </p:sp>
      <p:sp>
        <p:nvSpPr>
          <p:cNvPr id="13" name="Shape 11"/>
          <p:cNvSpPr/>
          <p:nvPr/>
        </p:nvSpPr>
        <p:spPr>
          <a:xfrm>
            <a:off x="685800" y="2889504"/>
            <a:ext cx="5272888" cy="969264"/>
          </a:xfrm>
          <a:prstGeom prst="roundRect">
            <a:avLst>
              <a:gd name="adj" fmla="val 8491"/>
            </a:avLst>
          </a:prstGeom>
          <a:solidFill>
            <a:srgbClr val="201E1A"/>
          </a:solidFill>
          <a:ln w="9525">
            <a:solidFill>
              <a:srgbClr val="35302A"/>
            </a:solidFill>
            <a:prstDash val="solid"/>
          </a:ln>
        </p:spPr>
      </p:sp>
      <p:sp>
        <p:nvSpPr>
          <p:cNvPr id="14" name="Shape 12"/>
          <p:cNvSpPr/>
          <p:nvPr/>
        </p:nvSpPr>
        <p:spPr>
          <a:xfrm>
            <a:off x="960120" y="3200400"/>
            <a:ext cx="310896" cy="310896"/>
          </a:xfrm>
          <a:prstGeom prst="roundRect">
            <a:avLst>
              <a:gd name="adj" fmla="val 17647"/>
            </a:avLst>
          </a:prstGeom>
          <a:solidFill>
            <a:srgbClr val="141414"/>
          </a:solidFill>
          <a:ln w="15875">
            <a:solidFill>
              <a:srgbClr val="C0532A"/>
            </a:solidFill>
            <a:prstDash val="solid"/>
          </a:ln>
        </p:spPr>
      </p:sp>
      <p:sp>
        <p:nvSpPr>
          <p:cNvPr id="15" name="Text 13"/>
          <p:cNvSpPr/>
          <p:nvPr/>
        </p:nvSpPr>
        <p:spPr>
          <a:xfrm>
            <a:off x="1435608" y="3072384"/>
            <a:ext cx="4248760" cy="310896"/>
          </a:xfrm>
          <a:prstGeom prst="rect">
            <a:avLst/>
          </a:prstGeom>
          <a:noFill/>
          <a:ln/>
        </p:spPr>
        <p:txBody>
          <a:bodyPr wrap="square" lIns="0" tIns="0" rIns="0" bIns="0" rtlCol="0" anchor="ctr"/>
          <a:lstStyle/>
          <a:p>
            <a:pPr indent="0" marL="0">
              <a:buNone/>
            </a:pPr>
            <a:r>
              <a:rPr lang="en-US" sz="1350" b="1" dirty="0">
                <a:solidFill>
                  <a:srgbClr val="F0EBE0"/>
                </a:solidFill>
                <a:latin typeface="Calibri" pitchFamily="34" charset="0"/>
                <a:ea typeface="Calibri" pitchFamily="34" charset="-122"/>
                <a:cs typeface="Calibri" pitchFamily="34" charset="-120"/>
              </a:rPr>
              <a:t>Connect your card to Facebook or Google</a:t>
            </a:r>
            <a:endParaRPr lang="en-US" sz="1350" dirty="0"/>
          </a:p>
        </p:txBody>
      </p:sp>
      <p:sp>
        <p:nvSpPr>
          <p:cNvPr id="16" name="Text 14"/>
          <p:cNvSpPr/>
          <p:nvPr/>
        </p:nvSpPr>
        <p:spPr>
          <a:xfrm>
            <a:off x="1435608" y="3383280"/>
            <a:ext cx="4248760" cy="310896"/>
          </a:xfrm>
          <a:prstGeom prst="rect">
            <a:avLst/>
          </a:prstGeom>
          <a:noFill/>
          <a:ln/>
        </p:spPr>
        <p:txBody>
          <a:bodyPr wrap="square" lIns="0" tIns="0" rIns="0" bIns="0" rtlCol="0" anchor="ctr"/>
          <a:lstStyle/>
          <a:p>
            <a:pPr indent="0" marL="0">
              <a:buNone/>
            </a:pPr>
            <a:r>
              <a:rPr lang="en-US" sz="1150" dirty="0">
                <a:solidFill>
                  <a:srgbClr val="A8A093"/>
                </a:solidFill>
                <a:latin typeface="Calibri" pitchFamily="34" charset="0"/>
                <a:ea typeface="Calibri" pitchFamily="34" charset="-122"/>
                <a:cs typeface="Calibri" pitchFamily="34" charset="-120"/>
              </a:rPr>
              <a:t>The platform bills you directly, separately from the retainer.</a:t>
            </a:r>
            <a:endParaRPr lang="en-US" sz="1150" dirty="0"/>
          </a:p>
        </p:txBody>
      </p:sp>
      <p:sp>
        <p:nvSpPr>
          <p:cNvPr id="17" name="Shape 15"/>
          <p:cNvSpPr/>
          <p:nvPr/>
        </p:nvSpPr>
        <p:spPr>
          <a:xfrm>
            <a:off x="6233008" y="2889504"/>
            <a:ext cx="5272888" cy="969264"/>
          </a:xfrm>
          <a:prstGeom prst="roundRect">
            <a:avLst>
              <a:gd name="adj" fmla="val 8491"/>
            </a:avLst>
          </a:prstGeom>
          <a:solidFill>
            <a:srgbClr val="201E1A"/>
          </a:solidFill>
          <a:ln w="9525">
            <a:solidFill>
              <a:srgbClr val="35302A"/>
            </a:solidFill>
            <a:prstDash val="solid"/>
          </a:ln>
        </p:spPr>
      </p:sp>
      <p:sp>
        <p:nvSpPr>
          <p:cNvPr id="18" name="Shape 16"/>
          <p:cNvSpPr/>
          <p:nvPr/>
        </p:nvSpPr>
        <p:spPr>
          <a:xfrm>
            <a:off x="6507328" y="3200400"/>
            <a:ext cx="310896" cy="310896"/>
          </a:xfrm>
          <a:prstGeom prst="roundRect">
            <a:avLst>
              <a:gd name="adj" fmla="val 17647"/>
            </a:avLst>
          </a:prstGeom>
          <a:solidFill>
            <a:srgbClr val="141414"/>
          </a:solidFill>
          <a:ln w="15875">
            <a:solidFill>
              <a:srgbClr val="C0532A"/>
            </a:solidFill>
            <a:prstDash val="solid"/>
          </a:ln>
        </p:spPr>
      </p:sp>
      <p:sp>
        <p:nvSpPr>
          <p:cNvPr id="19" name="Text 17"/>
          <p:cNvSpPr/>
          <p:nvPr/>
        </p:nvSpPr>
        <p:spPr>
          <a:xfrm>
            <a:off x="6982816" y="3072384"/>
            <a:ext cx="4248760" cy="310896"/>
          </a:xfrm>
          <a:prstGeom prst="rect">
            <a:avLst/>
          </a:prstGeom>
          <a:noFill/>
          <a:ln/>
        </p:spPr>
        <p:txBody>
          <a:bodyPr wrap="square" lIns="0" tIns="0" rIns="0" bIns="0" rtlCol="0" anchor="ctr"/>
          <a:lstStyle/>
          <a:p>
            <a:pPr indent="0" marL="0">
              <a:buNone/>
            </a:pPr>
            <a:r>
              <a:rPr lang="en-US" sz="1350" b="1" dirty="0">
                <a:solidFill>
                  <a:srgbClr val="F0EBE0"/>
                </a:solidFill>
                <a:latin typeface="Calibri" pitchFamily="34" charset="0"/>
                <a:ea typeface="Calibri" pitchFamily="34" charset="-122"/>
                <a:cs typeface="Calibri" pitchFamily="34" charset="-120"/>
              </a:rPr>
              <a:t>Confirm billing start date and invoicing</a:t>
            </a:r>
            <a:endParaRPr lang="en-US" sz="1350" dirty="0"/>
          </a:p>
        </p:txBody>
      </p:sp>
      <p:sp>
        <p:nvSpPr>
          <p:cNvPr id="20" name="Text 18"/>
          <p:cNvSpPr/>
          <p:nvPr/>
        </p:nvSpPr>
        <p:spPr>
          <a:xfrm>
            <a:off x="6982816" y="3383280"/>
            <a:ext cx="4248760" cy="310896"/>
          </a:xfrm>
          <a:prstGeom prst="rect">
            <a:avLst/>
          </a:prstGeom>
          <a:noFill/>
          <a:ln/>
        </p:spPr>
        <p:txBody>
          <a:bodyPr wrap="square" lIns="0" tIns="0" rIns="0" bIns="0" rtlCol="0" anchor="ctr"/>
          <a:lstStyle/>
          <a:p>
            <a:pPr indent="0" marL="0">
              <a:buNone/>
            </a:pPr>
            <a:r>
              <a:rPr lang="en-US" sz="1150" dirty="0">
                <a:solidFill>
                  <a:srgbClr val="A8A093"/>
                </a:solidFill>
                <a:latin typeface="Calibri" pitchFamily="34" charset="0"/>
                <a:ea typeface="Calibri" pitchFamily="34" charset="-122"/>
                <a:cs typeface="Calibri" pitchFamily="34" charset="-120"/>
              </a:rPr>
              <a:t>So the first invoice holds no surprises.</a:t>
            </a:r>
            <a:endParaRPr lang="en-US" sz="1150" dirty="0"/>
          </a:p>
        </p:txBody>
      </p:sp>
      <p:sp>
        <p:nvSpPr>
          <p:cNvPr id="21" name="Shape 19"/>
          <p:cNvSpPr/>
          <p:nvPr/>
        </p:nvSpPr>
        <p:spPr>
          <a:xfrm>
            <a:off x="685800" y="4023360"/>
            <a:ext cx="5272888" cy="969264"/>
          </a:xfrm>
          <a:prstGeom prst="roundRect">
            <a:avLst>
              <a:gd name="adj" fmla="val 8491"/>
            </a:avLst>
          </a:prstGeom>
          <a:solidFill>
            <a:srgbClr val="201E1A"/>
          </a:solidFill>
          <a:ln w="9525">
            <a:solidFill>
              <a:srgbClr val="35302A"/>
            </a:solidFill>
            <a:prstDash val="solid"/>
          </a:ln>
        </p:spPr>
      </p:sp>
      <p:sp>
        <p:nvSpPr>
          <p:cNvPr id="22" name="Shape 20"/>
          <p:cNvSpPr/>
          <p:nvPr/>
        </p:nvSpPr>
        <p:spPr>
          <a:xfrm>
            <a:off x="960120" y="4334256"/>
            <a:ext cx="310896" cy="310896"/>
          </a:xfrm>
          <a:prstGeom prst="roundRect">
            <a:avLst>
              <a:gd name="adj" fmla="val 17647"/>
            </a:avLst>
          </a:prstGeom>
          <a:solidFill>
            <a:srgbClr val="141414"/>
          </a:solidFill>
          <a:ln w="15875">
            <a:solidFill>
              <a:srgbClr val="0F5257"/>
            </a:solidFill>
            <a:prstDash val="solid"/>
          </a:ln>
        </p:spPr>
      </p:sp>
      <p:sp>
        <p:nvSpPr>
          <p:cNvPr id="23" name="Text 21"/>
          <p:cNvSpPr/>
          <p:nvPr/>
        </p:nvSpPr>
        <p:spPr>
          <a:xfrm>
            <a:off x="1435608" y="4206240"/>
            <a:ext cx="4248760" cy="310896"/>
          </a:xfrm>
          <a:prstGeom prst="rect">
            <a:avLst/>
          </a:prstGeom>
          <a:noFill/>
          <a:ln/>
        </p:spPr>
        <p:txBody>
          <a:bodyPr wrap="square" lIns="0" tIns="0" rIns="0" bIns="0" rtlCol="0" anchor="ctr"/>
          <a:lstStyle/>
          <a:p>
            <a:pPr indent="0" marL="0">
              <a:buNone/>
            </a:pPr>
            <a:r>
              <a:rPr lang="en-US" sz="1350" b="1" dirty="0">
                <a:solidFill>
                  <a:srgbClr val="F0EBE0"/>
                </a:solidFill>
                <a:latin typeface="Calibri" pitchFamily="34" charset="0"/>
                <a:ea typeface="Calibri" pitchFamily="34" charset="-122"/>
                <a:cs typeface="Calibri" pitchFamily="34" charset="-120"/>
              </a:rPr>
              <a:t>Name your single point of contact</a:t>
            </a:r>
            <a:endParaRPr lang="en-US" sz="1350" dirty="0"/>
          </a:p>
        </p:txBody>
      </p:sp>
      <p:sp>
        <p:nvSpPr>
          <p:cNvPr id="24" name="Text 22"/>
          <p:cNvSpPr/>
          <p:nvPr/>
        </p:nvSpPr>
        <p:spPr>
          <a:xfrm>
            <a:off x="1435608" y="4517136"/>
            <a:ext cx="4248760" cy="310896"/>
          </a:xfrm>
          <a:prstGeom prst="rect">
            <a:avLst/>
          </a:prstGeom>
          <a:noFill/>
          <a:ln/>
        </p:spPr>
        <p:txBody>
          <a:bodyPr wrap="square" lIns="0" tIns="0" rIns="0" bIns="0" rtlCol="0" anchor="ctr"/>
          <a:lstStyle/>
          <a:p>
            <a:pPr indent="0" marL="0">
              <a:buNone/>
            </a:pPr>
            <a:r>
              <a:rPr lang="en-US" sz="1150" dirty="0">
                <a:solidFill>
                  <a:srgbClr val="A8A093"/>
                </a:solidFill>
                <a:latin typeface="Calibri" pitchFamily="34" charset="0"/>
                <a:ea typeface="Calibri" pitchFamily="34" charset="-122"/>
                <a:cs typeface="Calibri" pitchFamily="34" charset="-120"/>
              </a:rPr>
              <a:t>One person your side; Jordan Vo and Jordan Niles on ours.</a:t>
            </a:r>
            <a:endParaRPr lang="en-US" sz="1150" dirty="0"/>
          </a:p>
        </p:txBody>
      </p:sp>
      <p:sp>
        <p:nvSpPr>
          <p:cNvPr id="25" name="Shape 23"/>
          <p:cNvSpPr/>
          <p:nvPr/>
        </p:nvSpPr>
        <p:spPr>
          <a:xfrm>
            <a:off x="6233008" y="4023360"/>
            <a:ext cx="5272888" cy="969264"/>
          </a:xfrm>
          <a:prstGeom prst="roundRect">
            <a:avLst>
              <a:gd name="adj" fmla="val 8491"/>
            </a:avLst>
          </a:prstGeom>
          <a:solidFill>
            <a:srgbClr val="201E1A"/>
          </a:solidFill>
          <a:ln w="9525">
            <a:solidFill>
              <a:srgbClr val="35302A"/>
            </a:solidFill>
            <a:prstDash val="solid"/>
          </a:ln>
        </p:spPr>
      </p:sp>
      <p:sp>
        <p:nvSpPr>
          <p:cNvPr id="26" name="Shape 24"/>
          <p:cNvSpPr/>
          <p:nvPr/>
        </p:nvSpPr>
        <p:spPr>
          <a:xfrm>
            <a:off x="6507328" y="4334256"/>
            <a:ext cx="310896" cy="310896"/>
          </a:xfrm>
          <a:prstGeom prst="roundRect">
            <a:avLst>
              <a:gd name="adj" fmla="val 17647"/>
            </a:avLst>
          </a:prstGeom>
          <a:solidFill>
            <a:srgbClr val="141414"/>
          </a:solidFill>
          <a:ln w="15875">
            <a:solidFill>
              <a:srgbClr val="0F5257"/>
            </a:solidFill>
            <a:prstDash val="solid"/>
          </a:ln>
        </p:spPr>
      </p:sp>
      <p:sp>
        <p:nvSpPr>
          <p:cNvPr id="27" name="Text 25"/>
          <p:cNvSpPr/>
          <p:nvPr/>
        </p:nvSpPr>
        <p:spPr>
          <a:xfrm>
            <a:off x="6982816" y="4206240"/>
            <a:ext cx="4248760" cy="310896"/>
          </a:xfrm>
          <a:prstGeom prst="rect">
            <a:avLst/>
          </a:prstGeom>
          <a:noFill/>
          <a:ln/>
        </p:spPr>
        <p:txBody>
          <a:bodyPr wrap="square" lIns="0" tIns="0" rIns="0" bIns="0" rtlCol="0" anchor="ctr"/>
          <a:lstStyle/>
          <a:p>
            <a:pPr indent="0" marL="0">
              <a:buNone/>
            </a:pPr>
            <a:r>
              <a:rPr lang="en-US" sz="1350" b="1" dirty="0">
                <a:solidFill>
                  <a:srgbClr val="F0EBE0"/>
                </a:solidFill>
                <a:latin typeface="Calibri" pitchFamily="34" charset="0"/>
                <a:ea typeface="Calibri" pitchFamily="34" charset="-122"/>
                <a:cs typeface="Calibri" pitchFamily="34" charset="-120"/>
              </a:rPr>
              <a:t>Book the standing weekly meeting</a:t>
            </a:r>
            <a:endParaRPr lang="en-US" sz="1350" dirty="0"/>
          </a:p>
        </p:txBody>
      </p:sp>
      <p:sp>
        <p:nvSpPr>
          <p:cNvPr id="28" name="Text 26"/>
          <p:cNvSpPr/>
          <p:nvPr/>
        </p:nvSpPr>
        <p:spPr>
          <a:xfrm>
            <a:off x="6982816" y="4517136"/>
            <a:ext cx="4248760" cy="310896"/>
          </a:xfrm>
          <a:prstGeom prst="rect">
            <a:avLst/>
          </a:prstGeom>
          <a:noFill/>
          <a:ln/>
        </p:spPr>
        <p:txBody>
          <a:bodyPr wrap="square" lIns="0" tIns="0" rIns="0" bIns="0" rtlCol="0" anchor="ctr"/>
          <a:lstStyle/>
          <a:p>
            <a:pPr indent="0" marL="0">
              <a:buNone/>
            </a:pPr>
            <a:r>
              <a:rPr lang="en-US" sz="1150" dirty="0">
                <a:solidFill>
                  <a:srgbClr val="A8A093"/>
                </a:solidFill>
                <a:latin typeface="Calibri" pitchFamily="34" charset="0"/>
                <a:ea typeface="Calibri" pitchFamily="34" charset="-122"/>
                <a:cs typeface="Calibri" pitchFamily="34" charset="-120"/>
              </a:rPr>
              <a:t>Same day, same time, live analytics every week.</a:t>
            </a:r>
            <a:endParaRPr lang="en-US" sz="1150" dirty="0"/>
          </a:p>
        </p:txBody>
      </p:sp>
      <p:sp>
        <p:nvSpPr>
          <p:cNvPr id="29" name="Shape 27"/>
          <p:cNvSpPr/>
          <p:nvPr/>
        </p:nvSpPr>
        <p:spPr>
          <a:xfrm>
            <a:off x="685800" y="5157216"/>
            <a:ext cx="10820095" cy="786384"/>
          </a:xfrm>
          <a:prstGeom prst="roundRect">
            <a:avLst>
              <a:gd name="adj" fmla="val 10465"/>
            </a:avLst>
          </a:prstGeom>
          <a:solidFill>
            <a:srgbClr val="1A1712"/>
          </a:solidFill>
          <a:ln w="9525">
            <a:solidFill>
              <a:srgbClr val="3E3527"/>
            </a:solidFill>
            <a:prstDash val="solid"/>
          </a:ln>
        </p:spPr>
      </p:sp>
      <p:pic>
        <p:nvPicPr>
          <p:cNvPr id="30" name="Image 0" descr="assets/logo_cream.png">    </p:cNvPr>
          <p:cNvPicPr>
            <a:picLocks noChangeAspect="1"/>
          </p:cNvPicPr>
          <p:nvPr/>
        </p:nvPicPr>
        <p:blipFill>
          <a:blip r:embed="rId1"/>
          <a:stretch>
            <a:fillRect/>
          </a:stretch>
        </p:blipFill>
        <p:spPr>
          <a:xfrm>
            <a:off x="1069848" y="5394960"/>
            <a:ext cx="914400" cy="290779"/>
          </a:xfrm>
          <a:prstGeom prst="rect">
            <a:avLst/>
          </a:prstGeom>
        </p:spPr>
      </p:pic>
      <p:sp>
        <p:nvSpPr>
          <p:cNvPr id="31" name="Text 28"/>
          <p:cNvSpPr/>
          <p:nvPr/>
        </p:nvSpPr>
        <p:spPr>
          <a:xfrm>
            <a:off x="2286000" y="5157216"/>
            <a:ext cx="8778240" cy="786384"/>
          </a:xfrm>
          <a:prstGeom prst="rect">
            <a:avLst/>
          </a:prstGeom>
          <a:noFill/>
          <a:ln/>
        </p:spPr>
        <p:txBody>
          <a:bodyPr wrap="square" lIns="0" tIns="0" rIns="0" bIns="0" rtlCol="0" anchor="ctr"/>
          <a:lstStyle/>
          <a:p>
            <a:pPr indent="0" marL="0">
              <a:buNone/>
            </a:pPr>
            <a:r>
              <a:rPr lang="en-US" sz="1300" dirty="0">
                <a:solidFill>
                  <a:srgbClr val="CFB48E"/>
                </a:solidFill>
                <a:latin typeface="Calibri" pitchFamily="34" charset="0"/>
                <a:ea typeface="Calibri" pitchFamily="34" charset="-122"/>
                <a:cs typeface="Calibri" pitchFamily="34" charset="-120"/>
              </a:rPr>
              <a:t>Jordan Vo  ·  Jordan Niles      Your points of contact at Stay Booked Marketing</a:t>
            </a:r>
            <a:endParaRPr lang="en-US" sz="1300" dirty="0"/>
          </a:p>
        </p:txBody>
      </p:sp>
      <p:sp>
        <p:nvSpPr>
          <p:cNvPr id="32" name="Text 29"/>
          <p:cNvSpPr/>
          <p:nvPr/>
        </p:nvSpPr>
        <p:spPr>
          <a:xfrm>
            <a:off x="685800" y="6327648"/>
            <a:ext cx="5486400" cy="274320"/>
          </a:xfrm>
          <a:prstGeom prst="rect">
            <a:avLst/>
          </a:prstGeom>
          <a:noFill/>
          <a:ln/>
        </p:spPr>
        <p:txBody>
          <a:bodyPr wrap="square" lIns="0" tIns="0" rIns="0" bIns="0" rtlCol="0" anchor="ctr"/>
          <a:lstStyle/>
          <a:p>
            <a:pPr indent="0" marL="0">
              <a:buNone/>
            </a:pPr>
            <a:r>
              <a:rPr lang="en-US" sz="850" spc="160" kern="0" dirty="0">
                <a:solidFill>
                  <a:srgbClr val="5C554A"/>
                </a:solidFill>
                <a:latin typeface="Calibri" pitchFamily="34" charset="0"/>
                <a:ea typeface="Calibri" pitchFamily="34" charset="-122"/>
                <a:cs typeface="Calibri" pitchFamily="34" charset="-120"/>
              </a:rPr>
              <a:t>STAY BOOKED MARKETING  ·  CLIENT KICKOFF</a:t>
            </a:r>
            <a:endParaRPr lang="en-US" sz="850" dirty="0"/>
          </a:p>
        </p:txBody>
      </p:sp>
      <p:sp>
        <p:nvSpPr>
          <p:cNvPr id="33" name="Text 30"/>
          <p:cNvSpPr/>
          <p:nvPr/>
        </p:nvSpPr>
        <p:spPr>
          <a:xfrm>
            <a:off x="10591495" y="6327648"/>
            <a:ext cx="914400" cy="274320"/>
          </a:xfrm>
          <a:prstGeom prst="rect">
            <a:avLst/>
          </a:prstGeom>
          <a:noFill/>
          <a:ln/>
        </p:spPr>
        <p:txBody>
          <a:bodyPr wrap="square" lIns="0" tIns="0" rIns="0" bIns="0" rtlCol="0" anchor="ctr"/>
          <a:lstStyle/>
          <a:p>
            <a:pPr algn="r" indent="0" marL="0">
              <a:buNone/>
            </a:pPr>
            <a:r>
              <a:rPr lang="en-US" sz="850" spc="160" kern="0" dirty="0">
                <a:solidFill>
                  <a:srgbClr val="5C554A"/>
                </a:solidFill>
                <a:latin typeface="Calibri" pitchFamily="34" charset="0"/>
                <a:ea typeface="Calibri" pitchFamily="34" charset="-122"/>
                <a:cs typeface="Calibri" pitchFamily="34" charset="-120"/>
              </a:rPr>
              <a:t>20</a:t>
            </a:r>
            <a:endParaRPr lang="en-US" sz="850" dirty="0"/>
          </a:p>
        </p:txBody>
      </p:sp>
      <p:pic>
        <p:nvPicPr>
          <p:cNvPr id="34" name="Image 1" descr="assets/logo_cream.png">    </p:cNvPr>
          <p:cNvPicPr>
            <a:picLocks noChangeAspect="1"/>
          </p:cNvPicPr>
          <p:nvPr/>
        </p:nvPicPr>
        <p:blipFill>
          <a:blip r:embed="rId2">
            <a:alphaModFix amt="45000"/>
          </a:blip>
          <a:stretch>
            <a:fillRect/>
          </a:stretch>
        </p:blipFill>
        <p:spPr>
          <a:xfrm>
            <a:off x="10847527" y="384048"/>
            <a:ext cx="658368" cy="20939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Stay Booked Marketing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Client Kickoff Meeting — Role Breakdown</dc:title>
  <dc:subject>PptxGenJS Presentation</dc:subject>
  <dc:creator>Stay Booked Marketing</dc:creator>
  <cp:lastModifiedBy>Stay Booked Marketing</cp:lastModifiedBy>
  <cp:revision>1</cp:revision>
  <dcterms:created xsi:type="dcterms:W3CDTF">2026-08-22T18:14:29Z</dcterms:created>
  <dcterms:modified xsi:type="dcterms:W3CDTF">2026-08-22T18:14:29Z</dcterms:modified>
</cp:coreProperties>
</file>